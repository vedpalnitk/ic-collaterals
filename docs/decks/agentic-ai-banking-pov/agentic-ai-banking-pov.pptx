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6400800" cy="502920"/>
          </a:xfrm>
          <a:prstGeom prst="rect">
            <a:avLst/>
          </a:prstGeom>
          <a:noFill/>
        </p:spPr>
        <p:txBody>
          <a:bodyPr wrap="square" lIns="0" rIns="0" tIns="0" bIns="0" anchor="ctr">
            <a:spAutoFit/>
          </a:bodyPr>
          <a:lstStyle/>
          <a:p>
            <a:pPr algn="l">
              <a:lnSpc>
                <a:spcPct val="135000"/>
              </a:lnSpc>
            </a:pPr>
            <a:r>
              <a:rPr sz="1000" b="1" i="0">
                <a:solidFill>
                  <a:srgbClr val="FFFFFF"/>
                </a:solidFill>
                <a:latin typeface="JetBrains Mono"/>
              </a:rPr>
              <a:t>INFOSYS  CONSULTING</a:t>
            </a:r>
          </a:p>
        </p:txBody>
      </p:sp>
      <p:sp>
        <p:nvSpPr>
          <p:cNvPr id="4" name="TextBox 3"/>
          <p:cNvSpPr txBox="1"/>
          <p:nvPr/>
        </p:nvSpPr>
        <p:spPr>
          <a:xfrm>
            <a:off x="5150815" y="0"/>
            <a:ext cx="6400800" cy="502920"/>
          </a:xfrm>
          <a:prstGeom prst="rect">
            <a:avLst/>
          </a:prstGeom>
          <a:noFill/>
        </p:spPr>
        <p:txBody>
          <a:bodyPr wrap="square" lIns="0" rIns="0" tIns="0" bIns="0" anchor="ctr">
            <a:spAutoFit/>
          </a:bodyPr>
          <a:lstStyle/>
          <a:p>
            <a:pPr algn="r">
              <a:lnSpc>
                <a:spcPct val="135000"/>
              </a:lnSpc>
            </a:pPr>
            <a:r>
              <a:rPr sz="900" b="0" i="0">
                <a:solidFill>
                  <a:srgbClr val="A7A9AC"/>
                </a:solidFill>
                <a:latin typeface="JetBrains Mono"/>
              </a:rPr>
              <a:t>POINT OF VIEW  ·  NO. 01  ·  BANKING  ·  MAY 2026</a:t>
            </a:r>
          </a:p>
        </p:txBody>
      </p:sp>
      <p:sp>
        <p:nvSpPr>
          <p:cNvPr id="5" name="TextBox 4"/>
          <p:cNvSpPr txBox="1"/>
          <p:nvPr/>
        </p:nvSpPr>
        <p:spPr>
          <a:xfrm>
            <a:off x="640080" y="1417320"/>
            <a:ext cx="10911535" cy="27432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A POINT OF VIEW  ·  AGENTIC AI IN BANKING</a:t>
            </a:r>
          </a:p>
        </p:txBody>
      </p:sp>
      <p:sp>
        <p:nvSpPr>
          <p:cNvPr id="6" name="Rectangle 5"/>
          <p:cNvSpPr/>
          <p:nvPr/>
        </p:nvSpPr>
        <p:spPr>
          <a:xfrm>
            <a:off x="640080" y="1783080"/>
            <a:ext cx="54864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94560"/>
            <a:ext cx="10911535" cy="2560320"/>
          </a:xfrm>
          <a:prstGeom prst="rect">
            <a:avLst/>
          </a:prstGeom>
          <a:noFill/>
        </p:spPr>
        <p:txBody>
          <a:bodyPr wrap="square" lIns="0" rIns="0" tIns="0" bIns="0" anchor="t">
            <a:spAutoFit/>
          </a:bodyPr>
          <a:lstStyle/>
          <a:p>
            <a:pPr algn="l">
              <a:lnSpc>
                <a:spcPct val="108000"/>
              </a:lnSpc>
            </a:pPr>
            <a:r>
              <a:rPr sz="5800" b="0" i="0">
                <a:solidFill>
                  <a:srgbClr val="182534"/>
                </a:solidFill>
                <a:latin typeface="Fraunces"/>
              </a:rPr>
              <a:t>Agents that change the </a:t>
            </a:r>
            <a:r>
              <a:rPr sz="5800" b="0" i="1">
                <a:solidFill>
                  <a:srgbClr val="007CC3"/>
                </a:solidFill>
                <a:latin typeface="Fraunces"/>
              </a:rPr>
              <a:t>work</a:t>
            </a:r>
            <a:r>
              <a:rPr sz="5800" b="0" i="0">
                <a:solidFill>
                  <a:srgbClr val="182534"/>
                </a:solidFill>
                <a:latin typeface="Fraunces"/>
              </a:rPr>
              <a:t>,</a:t>
            </a:r>
          </a:p>
          <a:p>
            <a:pPr algn="l">
              <a:lnSpc>
                <a:spcPct val="108000"/>
              </a:lnSpc>
            </a:pPr>
            <a:r>
              <a:rPr sz="5800" b="0" i="0">
                <a:solidFill>
                  <a:srgbClr val="182534"/>
                </a:solidFill>
                <a:latin typeface="Fraunces"/>
              </a:rPr>
              <a:t>not just the worker.</a:t>
            </a:r>
          </a:p>
        </p:txBody>
      </p:sp>
      <p:sp>
        <p:nvSpPr>
          <p:cNvPr id="8" name="TextBox 7"/>
          <p:cNvSpPr txBox="1"/>
          <p:nvPr/>
        </p:nvSpPr>
        <p:spPr>
          <a:xfrm>
            <a:off x="640080" y="4800600"/>
            <a:ext cx="9144000" cy="731520"/>
          </a:xfrm>
          <a:prstGeom prst="rect">
            <a:avLst/>
          </a:prstGeom>
          <a:noFill/>
        </p:spPr>
        <p:txBody>
          <a:bodyPr wrap="square" lIns="0" rIns="0" tIns="0" bIns="0" anchor="t">
            <a:spAutoFit/>
          </a:bodyPr>
          <a:lstStyle/>
          <a:p>
            <a:pPr algn="l">
              <a:lnSpc>
                <a:spcPct val="150000"/>
              </a:lnSpc>
            </a:pPr>
            <a:r>
              <a:rPr sz="1500" b="0" i="1">
                <a:solidFill>
                  <a:srgbClr val="6D6E71"/>
                </a:solidFill>
                <a:latin typeface="Newsreader"/>
              </a:rPr>
              <a:t>A primer on agentic AI in banking — and why the next decade of value comes from redesigning processes, not buying better assistants.</a:t>
            </a:r>
          </a:p>
        </p:txBody>
      </p:sp>
      <p:cxnSp>
        <p:nvCxnSpPr>
          <p:cNvPr id="9" name="Connector 8"/>
          <p:cNvCxnSpPr/>
          <p:nvPr/>
        </p:nvCxnSpPr>
        <p:spPr>
          <a:xfrm>
            <a:off x="640080" y="5760720"/>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0080" y="5925312"/>
            <a:ext cx="2545003" cy="182880"/>
          </a:xfrm>
          <a:prstGeom prst="rect">
            <a:avLst/>
          </a:prstGeom>
          <a:noFill/>
        </p:spPr>
        <p:txBody>
          <a:bodyPr wrap="square" lIns="0" rIns="0" tIns="0" bIns="0" anchor="t">
            <a:spAutoFit/>
          </a:bodyPr>
          <a:lstStyle/>
          <a:p>
            <a:pPr algn="l">
              <a:lnSpc>
                <a:spcPct val="135000"/>
              </a:lnSpc>
            </a:pPr>
            <a:r>
              <a:rPr sz="800" b="1" i="0">
                <a:solidFill>
                  <a:srgbClr val="A7A9AC"/>
                </a:solidFill>
                <a:latin typeface="JetBrains Mono"/>
              </a:rPr>
              <a:t>PRACTICE</a:t>
            </a:r>
          </a:p>
        </p:txBody>
      </p:sp>
      <p:sp>
        <p:nvSpPr>
          <p:cNvPr id="11" name="TextBox 10"/>
          <p:cNvSpPr txBox="1"/>
          <p:nvPr/>
        </p:nvSpPr>
        <p:spPr>
          <a:xfrm>
            <a:off x="640080" y="6144768"/>
            <a:ext cx="2545003" cy="365760"/>
          </a:xfrm>
          <a:prstGeom prst="rect">
            <a:avLst/>
          </a:prstGeom>
          <a:noFill/>
        </p:spPr>
        <p:txBody>
          <a:bodyPr wrap="square" lIns="0" rIns="0" tIns="0" bIns="0" anchor="t">
            <a:spAutoFit/>
          </a:bodyPr>
          <a:lstStyle/>
          <a:p>
            <a:pPr algn="l">
              <a:lnSpc>
                <a:spcPct val="130000"/>
              </a:lnSpc>
            </a:pPr>
            <a:r>
              <a:rPr sz="1200" b="0" i="1">
                <a:solidFill>
                  <a:srgbClr val="404040"/>
                </a:solidFill>
                <a:latin typeface="Newsreader"/>
              </a:rPr>
              <a:t>Banking</a:t>
            </a:r>
          </a:p>
        </p:txBody>
      </p:sp>
      <p:sp>
        <p:nvSpPr>
          <p:cNvPr id="12" name="TextBox 11"/>
          <p:cNvSpPr txBox="1"/>
          <p:nvPr/>
        </p:nvSpPr>
        <p:spPr>
          <a:xfrm>
            <a:off x="3367963" y="5925312"/>
            <a:ext cx="2545003" cy="182880"/>
          </a:xfrm>
          <a:prstGeom prst="rect">
            <a:avLst/>
          </a:prstGeom>
          <a:noFill/>
        </p:spPr>
        <p:txBody>
          <a:bodyPr wrap="square" lIns="0" rIns="0" tIns="0" bIns="0" anchor="t">
            <a:spAutoFit/>
          </a:bodyPr>
          <a:lstStyle/>
          <a:p>
            <a:pPr algn="l">
              <a:lnSpc>
                <a:spcPct val="135000"/>
              </a:lnSpc>
            </a:pPr>
            <a:r>
              <a:rPr sz="800" b="1" i="0">
                <a:solidFill>
                  <a:srgbClr val="A7A9AC"/>
                </a:solidFill>
                <a:latin typeface="JetBrains Mono"/>
              </a:rPr>
              <a:t>EDITION</a:t>
            </a:r>
          </a:p>
        </p:txBody>
      </p:sp>
      <p:sp>
        <p:nvSpPr>
          <p:cNvPr id="13" name="TextBox 12"/>
          <p:cNvSpPr txBox="1"/>
          <p:nvPr/>
        </p:nvSpPr>
        <p:spPr>
          <a:xfrm>
            <a:off x="3367963" y="6144768"/>
            <a:ext cx="2545003" cy="365760"/>
          </a:xfrm>
          <a:prstGeom prst="rect">
            <a:avLst/>
          </a:prstGeom>
          <a:noFill/>
        </p:spPr>
        <p:txBody>
          <a:bodyPr wrap="square" lIns="0" rIns="0" tIns="0" bIns="0" anchor="t">
            <a:spAutoFit/>
          </a:bodyPr>
          <a:lstStyle/>
          <a:p>
            <a:pPr algn="l">
              <a:lnSpc>
                <a:spcPct val="130000"/>
              </a:lnSpc>
            </a:pPr>
            <a:r>
              <a:rPr sz="1200" b="0" i="1">
                <a:solidFill>
                  <a:srgbClr val="404040"/>
                </a:solidFill>
                <a:latin typeface="Newsreader"/>
              </a:rPr>
              <a:t>No. 01  ·  May 2026</a:t>
            </a:r>
          </a:p>
        </p:txBody>
      </p:sp>
      <p:sp>
        <p:nvSpPr>
          <p:cNvPr id="14" name="TextBox 13"/>
          <p:cNvSpPr txBox="1"/>
          <p:nvPr/>
        </p:nvSpPr>
        <p:spPr>
          <a:xfrm>
            <a:off x="6095847" y="5925312"/>
            <a:ext cx="2545003" cy="182880"/>
          </a:xfrm>
          <a:prstGeom prst="rect">
            <a:avLst/>
          </a:prstGeom>
          <a:noFill/>
        </p:spPr>
        <p:txBody>
          <a:bodyPr wrap="square" lIns="0" rIns="0" tIns="0" bIns="0" anchor="t">
            <a:spAutoFit/>
          </a:bodyPr>
          <a:lstStyle/>
          <a:p>
            <a:pPr algn="l">
              <a:lnSpc>
                <a:spcPct val="135000"/>
              </a:lnSpc>
            </a:pPr>
            <a:r>
              <a:rPr sz="800" b="1" i="0">
                <a:solidFill>
                  <a:srgbClr val="A7A9AC"/>
                </a:solidFill>
                <a:latin typeface="JetBrains Mono"/>
              </a:rPr>
              <a:t>AUDIENCE</a:t>
            </a:r>
          </a:p>
        </p:txBody>
      </p:sp>
      <p:sp>
        <p:nvSpPr>
          <p:cNvPr id="15" name="TextBox 14"/>
          <p:cNvSpPr txBox="1"/>
          <p:nvPr/>
        </p:nvSpPr>
        <p:spPr>
          <a:xfrm>
            <a:off x="6095847" y="6144768"/>
            <a:ext cx="2545003" cy="365760"/>
          </a:xfrm>
          <a:prstGeom prst="rect">
            <a:avLst/>
          </a:prstGeom>
          <a:noFill/>
        </p:spPr>
        <p:txBody>
          <a:bodyPr wrap="square" lIns="0" rIns="0" tIns="0" bIns="0" anchor="t">
            <a:spAutoFit/>
          </a:bodyPr>
          <a:lstStyle/>
          <a:p>
            <a:pPr algn="l">
              <a:lnSpc>
                <a:spcPct val="130000"/>
              </a:lnSpc>
            </a:pPr>
            <a:r>
              <a:rPr sz="1200" b="0" i="1">
                <a:solidFill>
                  <a:srgbClr val="404040"/>
                </a:solidFill>
                <a:latin typeface="Newsreader"/>
              </a:rPr>
              <a:t>CXO buyers  ·  IC pursuit teams</a:t>
            </a:r>
          </a:p>
        </p:txBody>
      </p:sp>
      <p:sp>
        <p:nvSpPr>
          <p:cNvPr id="16" name="TextBox 15"/>
          <p:cNvSpPr txBox="1"/>
          <p:nvPr/>
        </p:nvSpPr>
        <p:spPr>
          <a:xfrm>
            <a:off x="8823731" y="5925312"/>
            <a:ext cx="2545003" cy="182880"/>
          </a:xfrm>
          <a:prstGeom prst="rect">
            <a:avLst/>
          </a:prstGeom>
          <a:noFill/>
        </p:spPr>
        <p:txBody>
          <a:bodyPr wrap="square" lIns="0" rIns="0" tIns="0" bIns="0" anchor="t">
            <a:spAutoFit/>
          </a:bodyPr>
          <a:lstStyle/>
          <a:p>
            <a:pPr algn="l">
              <a:lnSpc>
                <a:spcPct val="135000"/>
              </a:lnSpc>
            </a:pPr>
            <a:r>
              <a:rPr sz="800" b="1" i="0">
                <a:solidFill>
                  <a:srgbClr val="A7A9AC"/>
                </a:solidFill>
                <a:latin typeface="JetBrains Mono"/>
              </a:rPr>
              <a:t>DISTRIBUTION</a:t>
            </a:r>
          </a:p>
        </p:txBody>
      </p:sp>
      <p:sp>
        <p:nvSpPr>
          <p:cNvPr id="17" name="TextBox 16"/>
          <p:cNvSpPr txBox="1"/>
          <p:nvPr/>
        </p:nvSpPr>
        <p:spPr>
          <a:xfrm>
            <a:off x="8823731" y="6144768"/>
            <a:ext cx="2545003" cy="365760"/>
          </a:xfrm>
          <a:prstGeom prst="rect">
            <a:avLst/>
          </a:prstGeom>
          <a:noFill/>
        </p:spPr>
        <p:txBody>
          <a:bodyPr wrap="square" lIns="0" rIns="0" tIns="0" bIns="0" anchor="t">
            <a:spAutoFit/>
          </a:bodyPr>
          <a:lstStyle/>
          <a:p>
            <a:pPr algn="l">
              <a:lnSpc>
                <a:spcPct val="130000"/>
              </a:lnSpc>
            </a:pPr>
            <a:r>
              <a:rPr sz="1200" b="0" i="1">
                <a:solidFill>
                  <a:srgbClr val="404040"/>
                </a:solidFill>
                <a:latin typeface="Newsreader"/>
              </a:rPr>
              <a:t>Sales enablement — Internal</a:t>
            </a:r>
          </a:p>
        </p:txBody>
      </p:sp>
      <p:sp>
        <p:nvSpPr>
          <p:cNvPr id="18" name="Rectangle 17"/>
          <p:cNvSpPr/>
          <p:nvPr/>
        </p:nvSpPr>
        <p:spPr>
          <a:xfrm>
            <a:off x="0" y="6537960"/>
            <a:ext cx="12191695" cy="32004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537960"/>
            <a:ext cx="10911535" cy="320040"/>
          </a:xfrm>
          <a:prstGeom prst="rect">
            <a:avLst/>
          </a:prstGeom>
          <a:noFill/>
        </p:spPr>
        <p:txBody>
          <a:bodyPr wrap="square" lIns="0" rIns="0" tIns="0" bIns="0" anchor="ctr">
            <a:spAutoFit/>
          </a:bodyPr>
          <a:lstStyle/>
          <a:p>
            <a:pPr algn="l">
              <a:lnSpc>
                <a:spcPct val="135000"/>
              </a:lnSpc>
            </a:pPr>
            <a:r>
              <a:rPr sz="700" b="1" i="0">
                <a:solidFill>
                  <a:srgbClr val="A7A9AC"/>
                </a:solidFill>
                <a:latin typeface="JetBrains Mono"/>
              </a:rPr>
              <a:t>INFOSYS CONSULTING  ·  BANKING PRACTICE  ·  AGENTIC AI IN BANKING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Contents</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   ·   TABLE OF CONTENTS</a:t>
            </a:r>
          </a:p>
        </p:txBody>
      </p:sp>
      <p:sp>
        <p:nvSpPr>
          <p:cNvPr id="6" name="TextBox 5"/>
          <p:cNvSpPr txBox="1"/>
          <p:nvPr/>
        </p:nvSpPr>
        <p:spPr>
          <a:xfrm>
            <a:off x="640080" y="1005840"/>
            <a:ext cx="10911535" cy="457200"/>
          </a:xfrm>
          <a:prstGeom prst="rect">
            <a:avLst/>
          </a:prstGeom>
          <a:noFill/>
        </p:spPr>
        <p:txBody>
          <a:bodyPr wrap="square" lIns="0" rIns="0" tIns="0" bIns="0" anchor="t">
            <a:spAutoFit/>
          </a:bodyPr>
          <a:lstStyle/>
          <a:p>
            <a:pPr algn="l">
              <a:lnSpc>
                <a:spcPct val="110000"/>
              </a:lnSpc>
            </a:pPr>
            <a:r>
              <a:rPr sz="2000" b="0" i="1">
                <a:solidFill>
                  <a:srgbClr val="182534"/>
                </a:solidFill>
                <a:latin typeface="Fraunces"/>
              </a:rPr>
              <a:t>Six chapters and an appendix. About 25 minutes if read in sequence.</a:t>
            </a:r>
          </a:p>
        </p:txBody>
      </p:sp>
      <p:cxnSp>
        <p:nvCxnSpPr>
          <p:cNvPr id="7" name="Connector 6"/>
          <p:cNvCxnSpPr/>
          <p:nvPr/>
        </p:nvCxnSpPr>
        <p:spPr>
          <a:xfrm>
            <a:off x="640080" y="1920240"/>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2029968"/>
            <a:ext cx="822960" cy="411480"/>
          </a:xfrm>
          <a:prstGeom prst="rect">
            <a:avLst/>
          </a:prstGeom>
          <a:noFill/>
        </p:spPr>
        <p:txBody>
          <a:bodyPr wrap="square" lIns="0" rIns="0" tIns="0" bIns="0" anchor="t">
            <a:spAutoFit/>
          </a:bodyPr>
          <a:lstStyle/>
          <a:p>
            <a:pPr algn="l">
              <a:lnSpc>
                <a:spcPct val="100000"/>
              </a:lnSpc>
            </a:pPr>
            <a:r>
              <a:rPr sz="2200" b="0" i="1">
                <a:solidFill>
                  <a:srgbClr val="007CC3"/>
                </a:solidFill>
                <a:latin typeface="Fraunces"/>
              </a:rPr>
              <a:t>I</a:t>
            </a:r>
          </a:p>
        </p:txBody>
      </p:sp>
      <p:sp>
        <p:nvSpPr>
          <p:cNvPr id="9" name="TextBox 8"/>
          <p:cNvSpPr txBox="1"/>
          <p:nvPr/>
        </p:nvSpPr>
        <p:spPr>
          <a:xfrm>
            <a:off x="1645920" y="2039112"/>
            <a:ext cx="3657600" cy="365760"/>
          </a:xfrm>
          <a:prstGeom prst="rect">
            <a:avLst/>
          </a:prstGeom>
          <a:noFill/>
        </p:spPr>
        <p:txBody>
          <a:bodyPr wrap="square" lIns="0" rIns="0" tIns="0" bIns="0" anchor="t">
            <a:spAutoFit/>
          </a:bodyPr>
          <a:lstStyle/>
          <a:p>
            <a:pPr algn="l">
              <a:lnSpc>
                <a:spcPct val="110000"/>
              </a:lnSpc>
            </a:pPr>
            <a:r>
              <a:rPr sz="1900" b="0" i="0">
                <a:solidFill>
                  <a:srgbClr val="182534"/>
                </a:solidFill>
                <a:latin typeface="Fraunces"/>
              </a:rPr>
              <a:t>Setup</a:t>
            </a:r>
          </a:p>
        </p:txBody>
      </p:sp>
      <p:sp>
        <p:nvSpPr>
          <p:cNvPr id="10" name="TextBox 9"/>
          <p:cNvSpPr txBox="1"/>
          <p:nvPr/>
        </p:nvSpPr>
        <p:spPr>
          <a:xfrm>
            <a:off x="5394960" y="2084832"/>
            <a:ext cx="5425135" cy="365760"/>
          </a:xfrm>
          <a:prstGeom prst="rect">
            <a:avLst/>
          </a:prstGeom>
          <a:noFill/>
        </p:spPr>
        <p:txBody>
          <a:bodyPr wrap="square" lIns="0" rIns="0" tIns="0" bIns="0" anchor="t">
            <a:spAutoFit/>
          </a:bodyPr>
          <a:lstStyle/>
          <a:p>
            <a:pPr algn="l">
              <a:lnSpc>
                <a:spcPct val="130000"/>
              </a:lnSpc>
            </a:pPr>
            <a:r>
              <a:rPr sz="1300" b="0" i="1">
                <a:solidFill>
                  <a:srgbClr val="6D6E71"/>
                </a:solidFill>
                <a:latin typeface="Newsreader"/>
              </a:rPr>
              <a:t>Forty pilots, value in two</a:t>
            </a:r>
          </a:p>
        </p:txBody>
      </p:sp>
      <p:sp>
        <p:nvSpPr>
          <p:cNvPr id="11" name="TextBox 10"/>
          <p:cNvSpPr txBox="1"/>
          <p:nvPr/>
        </p:nvSpPr>
        <p:spPr>
          <a:xfrm>
            <a:off x="10820095" y="2066544"/>
            <a:ext cx="731520" cy="365760"/>
          </a:xfrm>
          <a:prstGeom prst="rect">
            <a:avLst/>
          </a:prstGeom>
          <a:noFill/>
        </p:spPr>
        <p:txBody>
          <a:bodyPr wrap="square" lIns="0" rIns="0" tIns="0" bIns="0" anchor="t">
            <a:spAutoFit/>
          </a:bodyPr>
          <a:lstStyle/>
          <a:p>
            <a:pPr algn="r">
              <a:lnSpc>
                <a:spcPct val="100000"/>
              </a:lnSpc>
            </a:pPr>
            <a:r>
              <a:rPr sz="1400" b="1" i="0">
                <a:solidFill>
                  <a:srgbClr val="007CC3"/>
                </a:solidFill>
                <a:latin typeface="JetBrains Mono"/>
              </a:rPr>
              <a:t>03</a:t>
            </a:r>
          </a:p>
        </p:txBody>
      </p:sp>
      <p:cxnSp>
        <p:nvCxnSpPr>
          <p:cNvPr id="12" name="Connector 11"/>
          <p:cNvCxnSpPr/>
          <p:nvPr/>
        </p:nvCxnSpPr>
        <p:spPr>
          <a:xfrm>
            <a:off x="640080" y="248716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2596896"/>
            <a:ext cx="822960" cy="411480"/>
          </a:xfrm>
          <a:prstGeom prst="rect">
            <a:avLst/>
          </a:prstGeom>
          <a:noFill/>
        </p:spPr>
        <p:txBody>
          <a:bodyPr wrap="square" lIns="0" rIns="0" tIns="0" bIns="0" anchor="t">
            <a:spAutoFit/>
          </a:bodyPr>
          <a:lstStyle/>
          <a:p>
            <a:pPr algn="l">
              <a:lnSpc>
                <a:spcPct val="100000"/>
              </a:lnSpc>
            </a:pPr>
            <a:r>
              <a:rPr sz="2200" b="0" i="1">
                <a:solidFill>
                  <a:srgbClr val="007CC3"/>
                </a:solidFill>
                <a:latin typeface="Fraunces"/>
              </a:rPr>
              <a:t>II</a:t>
            </a:r>
          </a:p>
        </p:txBody>
      </p:sp>
      <p:sp>
        <p:nvSpPr>
          <p:cNvPr id="14" name="TextBox 13"/>
          <p:cNvSpPr txBox="1"/>
          <p:nvPr/>
        </p:nvSpPr>
        <p:spPr>
          <a:xfrm>
            <a:off x="1645920" y="2606040"/>
            <a:ext cx="3657600" cy="365760"/>
          </a:xfrm>
          <a:prstGeom prst="rect">
            <a:avLst/>
          </a:prstGeom>
          <a:noFill/>
        </p:spPr>
        <p:txBody>
          <a:bodyPr wrap="square" lIns="0" rIns="0" tIns="0" bIns="0" anchor="t">
            <a:spAutoFit/>
          </a:bodyPr>
          <a:lstStyle/>
          <a:p>
            <a:pPr algn="l">
              <a:lnSpc>
                <a:spcPct val="110000"/>
              </a:lnSpc>
            </a:pPr>
            <a:r>
              <a:rPr sz="1900" b="0" i="0">
                <a:solidFill>
                  <a:srgbClr val="182534"/>
                </a:solidFill>
                <a:latin typeface="Fraunces"/>
              </a:rPr>
              <a:t>Reframe</a:t>
            </a:r>
          </a:p>
        </p:txBody>
      </p:sp>
      <p:sp>
        <p:nvSpPr>
          <p:cNvPr id="15" name="TextBox 14"/>
          <p:cNvSpPr txBox="1"/>
          <p:nvPr/>
        </p:nvSpPr>
        <p:spPr>
          <a:xfrm>
            <a:off x="5394960" y="2651760"/>
            <a:ext cx="5425135" cy="365760"/>
          </a:xfrm>
          <a:prstGeom prst="rect">
            <a:avLst/>
          </a:prstGeom>
          <a:noFill/>
        </p:spPr>
        <p:txBody>
          <a:bodyPr wrap="square" lIns="0" rIns="0" tIns="0" bIns="0" anchor="t">
            <a:spAutoFit/>
          </a:bodyPr>
          <a:lstStyle/>
          <a:p>
            <a:pPr algn="l">
              <a:lnSpc>
                <a:spcPct val="130000"/>
              </a:lnSpc>
            </a:pPr>
            <a:r>
              <a:rPr sz="1300" b="0" i="1">
                <a:solidFill>
                  <a:srgbClr val="6D6E71"/>
                </a:solidFill>
                <a:latin typeface="Newsreader"/>
              </a:rPr>
              <a:t>The unit of work has changed</a:t>
            </a:r>
          </a:p>
        </p:txBody>
      </p:sp>
      <p:sp>
        <p:nvSpPr>
          <p:cNvPr id="16" name="TextBox 15"/>
          <p:cNvSpPr txBox="1"/>
          <p:nvPr/>
        </p:nvSpPr>
        <p:spPr>
          <a:xfrm>
            <a:off x="10820095" y="2633472"/>
            <a:ext cx="731520" cy="365760"/>
          </a:xfrm>
          <a:prstGeom prst="rect">
            <a:avLst/>
          </a:prstGeom>
          <a:noFill/>
        </p:spPr>
        <p:txBody>
          <a:bodyPr wrap="square" lIns="0" rIns="0" tIns="0" bIns="0" anchor="t">
            <a:spAutoFit/>
          </a:bodyPr>
          <a:lstStyle/>
          <a:p>
            <a:pPr algn="r">
              <a:lnSpc>
                <a:spcPct val="100000"/>
              </a:lnSpc>
            </a:pPr>
            <a:r>
              <a:rPr sz="1400" b="1" i="0">
                <a:solidFill>
                  <a:srgbClr val="007CC3"/>
                </a:solidFill>
                <a:latin typeface="JetBrains Mono"/>
              </a:rPr>
              <a:t>06</a:t>
            </a:r>
          </a:p>
        </p:txBody>
      </p:sp>
      <p:cxnSp>
        <p:nvCxnSpPr>
          <p:cNvPr id="17" name="Connector 16"/>
          <p:cNvCxnSpPr/>
          <p:nvPr/>
        </p:nvCxnSpPr>
        <p:spPr>
          <a:xfrm>
            <a:off x="640080" y="3054096"/>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3163824"/>
            <a:ext cx="822960" cy="411480"/>
          </a:xfrm>
          <a:prstGeom prst="rect">
            <a:avLst/>
          </a:prstGeom>
          <a:noFill/>
        </p:spPr>
        <p:txBody>
          <a:bodyPr wrap="square" lIns="0" rIns="0" tIns="0" bIns="0" anchor="t">
            <a:spAutoFit/>
          </a:bodyPr>
          <a:lstStyle/>
          <a:p>
            <a:pPr algn="l">
              <a:lnSpc>
                <a:spcPct val="100000"/>
              </a:lnSpc>
            </a:pPr>
            <a:r>
              <a:rPr sz="2200" b="0" i="1">
                <a:solidFill>
                  <a:srgbClr val="007CC3"/>
                </a:solidFill>
                <a:latin typeface="Fraunces"/>
              </a:rPr>
              <a:t>III</a:t>
            </a:r>
          </a:p>
        </p:txBody>
      </p:sp>
      <p:sp>
        <p:nvSpPr>
          <p:cNvPr id="19" name="TextBox 18"/>
          <p:cNvSpPr txBox="1"/>
          <p:nvPr/>
        </p:nvSpPr>
        <p:spPr>
          <a:xfrm>
            <a:off x="1645920" y="3172968"/>
            <a:ext cx="3657600" cy="365760"/>
          </a:xfrm>
          <a:prstGeom prst="rect">
            <a:avLst/>
          </a:prstGeom>
          <a:noFill/>
        </p:spPr>
        <p:txBody>
          <a:bodyPr wrap="square" lIns="0" rIns="0" tIns="0" bIns="0" anchor="t">
            <a:spAutoFit/>
          </a:bodyPr>
          <a:lstStyle/>
          <a:p>
            <a:pPr algn="l">
              <a:lnSpc>
                <a:spcPct val="110000"/>
              </a:lnSpc>
            </a:pPr>
            <a:r>
              <a:rPr sz="1900" b="0" i="0">
                <a:solidFill>
                  <a:srgbClr val="182534"/>
                </a:solidFill>
                <a:latin typeface="Fraunces"/>
              </a:rPr>
              <a:t>Proof</a:t>
            </a:r>
          </a:p>
        </p:txBody>
      </p:sp>
      <p:sp>
        <p:nvSpPr>
          <p:cNvPr id="20" name="TextBox 19"/>
          <p:cNvSpPr txBox="1"/>
          <p:nvPr/>
        </p:nvSpPr>
        <p:spPr>
          <a:xfrm>
            <a:off x="5394960" y="3218688"/>
            <a:ext cx="5425135" cy="365760"/>
          </a:xfrm>
          <a:prstGeom prst="rect">
            <a:avLst/>
          </a:prstGeom>
          <a:noFill/>
        </p:spPr>
        <p:txBody>
          <a:bodyPr wrap="square" lIns="0" rIns="0" tIns="0" bIns="0" anchor="t">
            <a:spAutoFit/>
          </a:bodyPr>
          <a:lstStyle/>
          <a:p>
            <a:pPr algn="l">
              <a:lnSpc>
                <a:spcPct val="130000"/>
              </a:lnSpc>
            </a:pPr>
            <a:r>
              <a:rPr sz="1300" b="0" i="1">
                <a:solidFill>
                  <a:srgbClr val="6D6E71"/>
                </a:solidFill>
                <a:latin typeface="Newsreader"/>
              </a:rPr>
              <a:t>Three banking processes, redrawn</a:t>
            </a:r>
          </a:p>
        </p:txBody>
      </p:sp>
      <p:sp>
        <p:nvSpPr>
          <p:cNvPr id="21" name="TextBox 20"/>
          <p:cNvSpPr txBox="1"/>
          <p:nvPr/>
        </p:nvSpPr>
        <p:spPr>
          <a:xfrm>
            <a:off x="10820095" y="3200400"/>
            <a:ext cx="731520" cy="365760"/>
          </a:xfrm>
          <a:prstGeom prst="rect">
            <a:avLst/>
          </a:prstGeom>
          <a:noFill/>
        </p:spPr>
        <p:txBody>
          <a:bodyPr wrap="square" lIns="0" rIns="0" tIns="0" bIns="0" anchor="t">
            <a:spAutoFit/>
          </a:bodyPr>
          <a:lstStyle/>
          <a:p>
            <a:pPr algn="r">
              <a:lnSpc>
                <a:spcPct val="100000"/>
              </a:lnSpc>
            </a:pPr>
            <a:r>
              <a:rPr sz="1400" b="1" i="0">
                <a:solidFill>
                  <a:srgbClr val="007CC3"/>
                </a:solidFill>
                <a:latin typeface="JetBrains Mono"/>
              </a:rPr>
              <a:t>09</a:t>
            </a:r>
          </a:p>
        </p:txBody>
      </p:sp>
      <p:cxnSp>
        <p:nvCxnSpPr>
          <p:cNvPr id="22" name="Connector 21"/>
          <p:cNvCxnSpPr/>
          <p:nvPr/>
        </p:nvCxnSpPr>
        <p:spPr>
          <a:xfrm>
            <a:off x="640080" y="3621024"/>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 y="3730752"/>
            <a:ext cx="822960" cy="411480"/>
          </a:xfrm>
          <a:prstGeom prst="rect">
            <a:avLst/>
          </a:prstGeom>
          <a:noFill/>
        </p:spPr>
        <p:txBody>
          <a:bodyPr wrap="square" lIns="0" rIns="0" tIns="0" bIns="0" anchor="t">
            <a:spAutoFit/>
          </a:bodyPr>
          <a:lstStyle/>
          <a:p>
            <a:pPr algn="l">
              <a:lnSpc>
                <a:spcPct val="100000"/>
              </a:lnSpc>
            </a:pPr>
            <a:r>
              <a:rPr sz="2200" b="0" i="1">
                <a:solidFill>
                  <a:srgbClr val="007CC3"/>
                </a:solidFill>
                <a:latin typeface="Fraunces"/>
              </a:rPr>
              <a:t>IV</a:t>
            </a:r>
          </a:p>
        </p:txBody>
      </p:sp>
      <p:sp>
        <p:nvSpPr>
          <p:cNvPr id="24" name="TextBox 23"/>
          <p:cNvSpPr txBox="1"/>
          <p:nvPr/>
        </p:nvSpPr>
        <p:spPr>
          <a:xfrm>
            <a:off x="1645920" y="3739896"/>
            <a:ext cx="3657600" cy="365760"/>
          </a:xfrm>
          <a:prstGeom prst="rect">
            <a:avLst/>
          </a:prstGeom>
          <a:noFill/>
        </p:spPr>
        <p:txBody>
          <a:bodyPr wrap="square" lIns="0" rIns="0" tIns="0" bIns="0" anchor="t">
            <a:spAutoFit/>
          </a:bodyPr>
          <a:lstStyle/>
          <a:p>
            <a:pPr algn="l">
              <a:lnSpc>
                <a:spcPct val="110000"/>
              </a:lnSpc>
            </a:pPr>
            <a:r>
              <a:rPr sz="1900" b="0" i="0">
                <a:solidFill>
                  <a:srgbClr val="182534"/>
                </a:solidFill>
                <a:latin typeface="Fraunces"/>
              </a:rPr>
              <a:t>Maturity &amp; Path</a:t>
            </a:r>
          </a:p>
        </p:txBody>
      </p:sp>
      <p:sp>
        <p:nvSpPr>
          <p:cNvPr id="25" name="TextBox 24"/>
          <p:cNvSpPr txBox="1"/>
          <p:nvPr/>
        </p:nvSpPr>
        <p:spPr>
          <a:xfrm>
            <a:off x="5394960" y="3785616"/>
            <a:ext cx="5425135" cy="365760"/>
          </a:xfrm>
          <a:prstGeom prst="rect">
            <a:avLst/>
          </a:prstGeom>
          <a:noFill/>
        </p:spPr>
        <p:txBody>
          <a:bodyPr wrap="square" lIns="0" rIns="0" tIns="0" bIns="0" anchor="t">
            <a:spAutoFit/>
          </a:bodyPr>
          <a:lstStyle/>
          <a:p>
            <a:pPr algn="l">
              <a:lnSpc>
                <a:spcPct val="130000"/>
              </a:lnSpc>
            </a:pPr>
            <a:r>
              <a:rPr sz="1300" b="0" i="1">
                <a:solidFill>
                  <a:srgbClr val="6D6E71"/>
                </a:solidFill>
                <a:latin typeface="Newsreader"/>
              </a:rPr>
              <a:t>Where banks are, where they're going</a:t>
            </a:r>
          </a:p>
        </p:txBody>
      </p:sp>
      <p:sp>
        <p:nvSpPr>
          <p:cNvPr id="26" name="TextBox 25"/>
          <p:cNvSpPr txBox="1"/>
          <p:nvPr/>
        </p:nvSpPr>
        <p:spPr>
          <a:xfrm>
            <a:off x="10820095" y="3767328"/>
            <a:ext cx="731520" cy="365760"/>
          </a:xfrm>
          <a:prstGeom prst="rect">
            <a:avLst/>
          </a:prstGeom>
          <a:noFill/>
        </p:spPr>
        <p:txBody>
          <a:bodyPr wrap="square" lIns="0" rIns="0" tIns="0" bIns="0" anchor="t">
            <a:spAutoFit/>
          </a:bodyPr>
          <a:lstStyle/>
          <a:p>
            <a:pPr algn="r">
              <a:lnSpc>
                <a:spcPct val="100000"/>
              </a:lnSpc>
            </a:pPr>
            <a:r>
              <a:rPr sz="1400" b="1" i="0">
                <a:solidFill>
                  <a:srgbClr val="007CC3"/>
                </a:solidFill>
                <a:latin typeface="JetBrains Mono"/>
              </a:rPr>
              <a:t>13</a:t>
            </a:r>
          </a:p>
        </p:txBody>
      </p:sp>
      <p:cxnSp>
        <p:nvCxnSpPr>
          <p:cNvPr id="27" name="Connector 26"/>
          <p:cNvCxnSpPr/>
          <p:nvPr/>
        </p:nvCxnSpPr>
        <p:spPr>
          <a:xfrm>
            <a:off x="640080" y="4187952"/>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0080" y="4297680"/>
            <a:ext cx="822960" cy="411480"/>
          </a:xfrm>
          <a:prstGeom prst="rect">
            <a:avLst/>
          </a:prstGeom>
          <a:noFill/>
        </p:spPr>
        <p:txBody>
          <a:bodyPr wrap="square" lIns="0" rIns="0" tIns="0" bIns="0" anchor="t">
            <a:spAutoFit/>
          </a:bodyPr>
          <a:lstStyle/>
          <a:p>
            <a:pPr algn="l">
              <a:lnSpc>
                <a:spcPct val="100000"/>
              </a:lnSpc>
            </a:pPr>
            <a:r>
              <a:rPr sz="2200" b="0" i="1">
                <a:solidFill>
                  <a:srgbClr val="007CC3"/>
                </a:solidFill>
                <a:latin typeface="Fraunces"/>
              </a:rPr>
              <a:t>V</a:t>
            </a:r>
          </a:p>
        </p:txBody>
      </p:sp>
      <p:sp>
        <p:nvSpPr>
          <p:cNvPr id="29" name="TextBox 28"/>
          <p:cNvSpPr txBox="1"/>
          <p:nvPr/>
        </p:nvSpPr>
        <p:spPr>
          <a:xfrm>
            <a:off x="1645920" y="4306824"/>
            <a:ext cx="3657600" cy="365760"/>
          </a:xfrm>
          <a:prstGeom prst="rect">
            <a:avLst/>
          </a:prstGeom>
          <a:noFill/>
        </p:spPr>
        <p:txBody>
          <a:bodyPr wrap="square" lIns="0" rIns="0" tIns="0" bIns="0" anchor="t">
            <a:spAutoFit/>
          </a:bodyPr>
          <a:lstStyle/>
          <a:p>
            <a:pPr algn="l">
              <a:lnSpc>
                <a:spcPct val="110000"/>
              </a:lnSpc>
            </a:pPr>
            <a:r>
              <a:rPr sz="1900" b="0" i="0">
                <a:solidFill>
                  <a:srgbClr val="182534"/>
                </a:solidFill>
                <a:latin typeface="Fraunces"/>
              </a:rPr>
              <a:t>How IC Helps</a:t>
            </a:r>
          </a:p>
        </p:txBody>
      </p:sp>
      <p:sp>
        <p:nvSpPr>
          <p:cNvPr id="30" name="TextBox 29"/>
          <p:cNvSpPr txBox="1"/>
          <p:nvPr/>
        </p:nvSpPr>
        <p:spPr>
          <a:xfrm>
            <a:off x="5394960" y="4352544"/>
            <a:ext cx="5425135" cy="365760"/>
          </a:xfrm>
          <a:prstGeom prst="rect">
            <a:avLst/>
          </a:prstGeom>
          <a:noFill/>
        </p:spPr>
        <p:txBody>
          <a:bodyPr wrap="square" lIns="0" rIns="0" tIns="0" bIns="0" anchor="t">
            <a:spAutoFit/>
          </a:bodyPr>
          <a:lstStyle/>
          <a:p>
            <a:pPr algn="l">
              <a:lnSpc>
                <a:spcPct val="130000"/>
              </a:lnSpc>
            </a:pPr>
            <a:r>
              <a:rPr sz="1300" b="0" i="1">
                <a:solidFill>
                  <a:srgbClr val="6D6E71"/>
                </a:solidFill>
                <a:latin typeface="Newsreader"/>
              </a:rPr>
              <a:t>Capabilities, conversation tools, examples</a:t>
            </a:r>
          </a:p>
        </p:txBody>
      </p:sp>
      <p:sp>
        <p:nvSpPr>
          <p:cNvPr id="31" name="TextBox 30"/>
          <p:cNvSpPr txBox="1"/>
          <p:nvPr/>
        </p:nvSpPr>
        <p:spPr>
          <a:xfrm>
            <a:off x="10820095" y="4334256"/>
            <a:ext cx="731520" cy="365760"/>
          </a:xfrm>
          <a:prstGeom prst="rect">
            <a:avLst/>
          </a:prstGeom>
          <a:noFill/>
        </p:spPr>
        <p:txBody>
          <a:bodyPr wrap="square" lIns="0" rIns="0" tIns="0" bIns="0" anchor="t">
            <a:spAutoFit/>
          </a:bodyPr>
          <a:lstStyle/>
          <a:p>
            <a:pPr algn="r">
              <a:lnSpc>
                <a:spcPct val="100000"/>
              </a:lnSpc>
            </a:pPr>
            <a:r>
              <a:rPr sz="1400" b="1" i="0">
                <a:solidFill>
                  <a:srgbClr val="007CC3"/>
                </a:solidFill>
                <a:latin typeface="JetBrains Mono"/>
              </a:rPr>
              <a:t>17</a:t>
            </a:r>
          </a:p>
        </p:txBody>
      </p:sp>
      <p:cxnSp>
        <p:nvCxnSpPr>
          <p:cNvPr id="32" name="Connector 31"/>
          <p:cNvCxnSpPr/>
          <p:nvPr/>
        </p:nvCxnSpPr>
        <p:spPr>
          <a:xfrm>
            <a:off x="640080" y="4754880"/>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4864608"/>
            <a:ext cx="822960" cy="411480"/>
          </a:xfrm>
          <a:prstGeom prst="rect">
            <a:avLst/>
          </a:prstGeom>
          <a:noFill/>
        </p:spPr>
        <p:txBody>
          <a:bodyPr wrap="square" lIns="0" rIns="0" tIns="0" bIns="0" anchor="t">
            <a:spAutoFit/>
          </a:bodyPr>
          <a:lstStyle/>
          <a:p>
            <a:pPr algn="l">
              <a:lnSpc>
                <a:spcPct val="100000"/>
              </a:lnSpc>
            </a:pPr>
            <a:r>
              <a:rPr sz="2200" b="0" i="1">
                <a:solidFill>
                  <a:srgbClr val="007CC3"/>
                </a:solidFill>
                <a:latin typeface="Fraunces"/>
              </a:rPr>
              <a:t>VI</a:t>
            </a:r>
          </a:p>
        </p:txBody>
      </p:sp>
      <p:sp>
        <p:nvSpPr>
          <p:cNvPr id="34" name="TextBox 33"/>
          <p:cNvSpPr txBox="1"/>
          <p:nvPr/>
        </p:nvSpPr>
        <p:spPr>
          <a:xfrm>
            <a:off x="1645920" y="4873752"/>
            <a:ext cx="3657600" cy="365760"/>
          </a:xfrm>
          <a:prstGeom prst="rect">
            <a:avLst/>
          </a:prstGeom>
          <a:noFill/>
        </p:spPr>
        <p:txBody>
          <a:bodyPr wrap="square" lIns="0" rIns="0" tIns="0" bIns="0" anchor="t">
            <a:spAutoFit/>
          </a:bodyPr>
          <a:lstStyle/>
          <a:p>
            <a:pPr algn="l">
              <a:lnSpc>
                <a:spcPct val="110000"/>
              </a:lnSpc>
            </a:pPr>
            <a:r>
              <a:rPr sz="1900" b="0" i="0">
                <a:solidFill>
                  <a:srgbClr val="182534"/>
                </a:solidFill>
                <a:latin typeface="Fraunces"/>
              </a:rPr>
              <a:t>Close</a:t>
            </a:r>
          </a:p>
        </p:txBody>
      </p:sp>
      <p:sp>
        <p:nvSpPr>
          <p:cNvPr id="35" name="TextBox 34"/>
          <p:cNvSpPr txBox="1"/>
          <p:nvPr/>
        </p:nvSpPr>
        <p:spPr>
          <a:xfrm>
            <a:off x="5394960" y="4919472"/>
            <a:ext cx="5425135" cy="365760"/>
          </a:xfrm>
          <a:prstGeom prst="rect">
            <a:avLst/>
          </a:prstGeom>
          <a:noFill/>
        </p:spPr>
        <p:txBody>
          <a:bodyPr wrap="square" lIns="0" rIns="0" tIns="0" bIns="0" anchor="t">
            <a:spAutoFit/>
          </a:bodyPr>
          <a:lstStyle/>
          <a:p>
            <a:pPr algn="l">
              <a:lnSpc>
                <a:spcPct val="130000"/>
              </a:lnSpc>
            </a:pPr>
            <a:r>
              <a:rPr sz="1300" b="0" i="1">
                <a:solidFill>
                  <a:srgbClr val="6D6E71"/>
                </a:solidFill>
                <a:latin typeface="Newsreader"/>
              </a:rPr>
              <a:t>The bottom line, and what to do next</a:t>
            </a:r>
          </a:p>
        </p:txBody>
      </p:sp>
      <p:sp>
        <p:nvSpPr>
          <p:cNvPr id="36" name="TextBox 35"/>
          <p:cNvSpPr txBox="1"/>
          <p:nvPr/>
        </p:nvSpPr>
        <p:spPr>
          <a:xfrm>
            <a:off x="10820095" y="4901184"/>
            <a:ext cx="731520" cy="365760"/>
          </a:xfrm>
          <a:prstGeom prst="rect">
            <a:avLst/>
          </a:prstGeom>
          <a:noFill/>
        </p:spPr>
        <p:txBody>
          <a:bodyPr wrap="square" lIns="0" rIns="0" tIns="0" bIns="0" anchor="t">
            <a:spAutoFit/>
          </a:bodyPr>
          <a:lstStyle/>
          <a:p>
            <a:pPr algn="r">
              <a:lnSpc>
                <a:spcPct val="100000"/>
              </a:lnSpc>
            </a:pPr>
            <a:r>
              <a:rPr sz="1400" b="1" i="0">
                <a:solidFill>
                  <a:srgbClr val="007CC3"/>
                </a:solidFill>
                <a:latin typeface="JetBrains Mono"/>
              </a:rPr>
              <a:t>22</a:t>
            </a:r>
          </a:p>
        </p:txBody>
      </p:sp>
      <p:cxnSp>
        <p:nvCxnSpPr>
          <p:cNvPr id="37" name="Connector 36"/>
          <p:cNvCxnSpPr/>
          <p:nvPr/>
        </p:nvCxnSpPr>
        <p:spPr>
          <a:xfrm>
            <a:off x="640080" y="5321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40080" y="5431536"/>
            <a:ext cx="822960" cy="411480"/>
          </a:xfrm>
          <a:prstGeom prst="rect">
            <a:avLst/>
          </a:prstGeom>
          <a:noFill/>
        </p:spPr>
        <p:txBody>
          <a:bodyPr wrap="square" lIns="0" rIns="0" tIns="0" bIns="0" anchor="t">
            <a:spAutoFit/>
          </a:bodyPr>
          <a:lstStyle/>
          <a:p>
            <a:pPr algn="l">
              <a:lnSpc>
                <a:spcPct val="100000"/>
              </a:lnSpc>
            </a:pPr>
            <a:r>
              <a:rPr sz="2200" b="0" i="1">
                <a:solidFill>
                  <a:srgbClr val="007CC3"/>
                </a:solidFill>
                <a:latin typeface="Fraunces"/>
              </a:rPr>
              <a:t>—</a:t>
            </a:r>
          </a:p>
        </p:txBody>
      </p:sp>
      <p:sp>
        <p:nvSpPr>
          <p:cNvPr id="39" name="TextBox 38"/>
          <p:cNvSpPr txBox="1"/>
          <p:nvPr/>
        </p:nvSpPr>
        <p:spPr>
          <a:xfrm>
            <a:off x="1645920" y="5440680"/>
            <a:ext cx="3657600" cy="365760"/>
          </a:xfrm>
          <a:prstGeom prst="rect">
            <a:avLst/>
          </a:prstGeom>
          <a:noFill/>
        </p:spPr>
        <p:txBody>
          <a:bodyPr wrap="square" lIns="0" rIns="0" tIns="0" bIns="0" anchor="t">
            <a:spAutoFit/>
          </a:bodyPr>
          <a:lstStyle/>
          <a:p>
            <a:pPr algn="l">
              <a:lnSpc>
                <a:spcPct val="110000"/>
              </a:lnSpc>
            </a:pPr>
            <a:r>
              <a:rPr sz="1900" b="0" i="0">
                <a:solidFill>
                  <a:srgbClr val="182534"/>
                </a:solidFill>
                <a:latin typeface="Fraunces"/>
              </a:rPr>
              <a:t>Appendix</a:t>
            </a:r>
          </a:p>
        </p:txBody>
      </p:sp>
      <p:sp>
        <p:nvSpPr>
          <p:cNvPr id="40" name="TextBox 39"/>
          <p:cNvSpPr txBox="1"/>
          <p:nvPr/>
        </p:nvSpPr>
        <p:spPr>
          <a:xfrm>
            <a:off x="5394960" y="5486400"/>
            <a:ext cx="5425135" cy="365760"/>
          </a:xfrm>
          <a:prstGeom prst="rect">
            <a:avLst/>
          </a:prstGeom>
          <a:noFill/>
        </p:spPr>
        <p:txBody>
          <a:bodyPr wrap="square" lIns="0" rIns="0" tIns="0" bIns="0" anchor="t">
            <a:spAutoFit/>
          </a:bodyPr>
          <a:lstStyle/>
          <a:p>
            <a:pPr algn="l">
              <a:lnSpc>
                <a:spcPct val="130000"/>
              </a:lnSpc>
            </a:pPr>
            <a:r>
              <a:rPr sz="1300" b="0" i="1">
                <a:solidFill>
                  <a:srgbClr val="6D6E71"/>
                </a:solidFill>
                <a:latin typeface="Newsreader"/>
              </a:rPr>
              <a:t>Sources and references</a:t>
            </a:r>
          </a:p>
        </p:txBody>
      </p:sp>
      <p:sp>
        <p:nvSpPr>
          <p:cNvPr id="41" name="TextBox 40"/>
          <p:cNvSpPr txBox="1"/>
          <p:nvPr/>
        </p:nvSpPr>
        <p:spPr>
          <a:xfrm>
            <a:off x="10820095" y="5468112"/>
            <a:ext cx="731520" cy="365760"/>
          </a:xfrm>
          <a:prstGeom prst="rect">
            <a:avLst/>
          </a:prstGeom>
          <a:noFill/>
        </p:spPr>
        <p:txBody>
          <a:bodyPr wrap="square" lIns="0" rIns="0" tIns="0" bIns="0" anchor="t">
            <a:spAutoFit/>
          </a:bodyPr>
          <a:lstStyle/>
          <a:p>
            <a:pPr algn="r">
              <a:lnSpc>
                <a:spcPct val="100000"/>
              </a:lnSpc>
            </a:pPr>
            <a:r>
              <a:rPr sz="1400" b="1" i="0">
                <a:solidFill>
                  <a:srgbClr val="007CC3"/>
                </a:solidFill>
                <a:latin typeface="JetBrains Mono"/>
              </a:rPr>
              <a:t>24</a:t>
            </a:r>
          </a:p>
        </p:txBody>
      </p:sp>
      <p:cxnSp>
        <p:nvCxnSpPr>
          <p:cNvPr id="42" name="Connector 41"/>
          <p:cNvCxnSpPr/>
          <p:nvPr/>
        </p:nvCxnSpPr>
        <p:spPr>
          <a:xfrm>
            <a:off x="640080" y="5888736"/>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45" name="TextBox 44"/>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02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Three things to take from this deck</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EXECUTIVE SUMMARY</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I   ·   SETUP</a:t>
            </a:r>
          </a:p>
        </p:txBody>
      </p:sp>
      <p:sp>
        <p:nvSpPr>
          <p:cNvPr id="6" name="TextBox 5"/>
          <p:cNvSpPr txBox="1"/>
          <p:nvPr/>
        </p:nvSpPr>
        <p:spPr>
          <a:xfrm>
            <a:off x="640080" y="1005840"/>
            <a:ext cx="10911535" cy="457200"/>
          </a:xfrm>
          <a:prstGeom prst="rect">
            <a:avLst/>
          </a:prstGeom>
          <a:noFill/>
        </p:spPr>
        <p:txBody>
          <a:bodyPr wrap="square" lIns="0" rIns="0" tIns="0" bIns="0" anchor="t">
            <a:spAutoFit/>
          </a:bodyPr>
          <a:lstStyle/>
          <a:p>
            <a:pPr algn="l">
              <a:lnSpc>
                <a:spcPct val="110000"/>
              </a:lnSpc>
            </a:pPr>
            <a:r>
              <a:rPr sz="2200" b="0" i="1">
                <a:solidFill>
                  <a:srgbClr val="182534"/>
                </a:solidFill>
                <a:latin typeface="Fraunces"/>
              </a:rPr>
              <a:t>The argument, in three lines.</a:t>
            </a:r>
          </a:p>
        </p:txBody>
      </p:sp>
      <p:sp>
        <p:nvSpPr>
          <p:cNvPr id="7" name="Rectangle 6"/>
          <p:cNvSpPr/>
          <p:nvPr/>
        </p:nvSpPr>
        <p:spPr>
          <a:xfrm>
            <a:off x="640080" y="1874520"/>
            <a:ext cx="45720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03120"/>
            <a:ext cx="3393338" cy="1280160"/>
          </a:xfrm>
          <a:prstGeom prst="rect">
            <a:avLst/>
          </a:prstGeom>
          <a:noFill/>
        </p:spPr>
        <p:txBody>
          <a:bodyPr wrap="square" lIns="0" rIns="0" tIns="0" bIns="0" anchor="t">
            <a:spAutoFit/>
          </a:bodyPr>
          <a:lstStyle/>
          <a:p>
            <a:pPr algn="l">
              <a:lnSpc>
                <a:spcPct val="100000"/>
              </a:lnSpc>
            </a:pPr>
            <a:r>
              <a:rPr sz="8000" b="0" i="1">
                <a:solidFill>
                  <a:srgbClr val="007CC3"/>
                </a:solidFill>
                <a:latin typeface="Fraunces"/>
              </a:rPr>
              <a:t>01</a:t>
            </a:r>
          </a:p>
        </p:txBody>
      </p:sp>
      <p:sp>
        <p:nvSpPr>
          <p:cNvPr id="9" name="TextBox 8"/>
          <p:cNvSpPr txBox="1"/>
          <p:nvPr/>
        </p:nvSpPr>
        <p:spPr>
          <a:xfrm>
            <a:off x="640080" y="3429000"/>
            <a:ext cx="3393338" cy="274320"/>
          </a:xfrm>
          <a:prstGeom prst="rect">
            <a:avLst/>
          </a:prstGeom>
          <a:noFill/>
        </p:spPr>
        <p:txBody>
          <a:bodyPr wrap="square" lIns="0" rIns="0" tIns="0" bIns="0" anchor="t">
            <a:spAutoFit/>
          </a:bodyPr>
          <a:lstStyle/>
          <a:p>
            <a:pPr algn="l">
              <a:lnSpc>
                <a:spcPct val="135000"/>
              </a:lnSpc>
            </a:pPr>
            <a:r>
              <a:rPr sz="900" b="1" i="0">
                <a:solidFill>
                  <a:srgbClr val="182534"/>
                </a:solidFill>
                <a:latin typeface="JetBrains Mono"/>
              </a:rPr>
              <a:t>THE TRAP</a:t>
            </a:r>
          </a:p>
        </p:txBody>
      </p:sp>
      <p:sp>
        <p:nvSpPr>
          <p:cNvPr id="10" name="TextBox 9"/>
          <p:cNvSpPr txBox="1"/>
          <p:nvPr/>
        </p:nvSpPr>
        <p:spPr>
          <a:xfrm>
            <a:off x="640080" y="3794760"/>
            <a:ext cx="3393338" cy="2194560"/>
          </a:xfrm>
          <a:prstGeom prst="rect">
            <a:avLst/>
          </a:prstGeom>
          <a:noFill/>
        </p:spPr>
        <p:txBody>
          <a:bodyPr wrap="square" lIns="0" rIns="0" tIns="0" bIns="0" anchor="t">
            <a:spAutoFit/>
          </a:bodyPr>
          <a:lstStyle/>
          <a:p>
            <a:pPr algn="l">
              <a:lnSpc>
                <a:spcPct val="150000"/>
              </a:lnSpc>
            </a:pPr>
            <a:r>
              <a:rPr sz="1400" b="0" i="0">
                <a:solidFill>
                  <a:srgbClr val="404040"/>
                </a:solidFill>
                <a:latin typeface="Newsreader"/>
              </a:rPr>
              <a:t>The median bank runs 40+ generative AI pilots; realized value concentrates in only two or three. The pilot factory has stopped paying off.</a:t>
            </a:r>
          </a:p>
        </p:txBody>
      </p:sp>
      <p:sp>
        <p:nvSpPr>
          <p:cNvPr id="11" name="Rectangle 10"/>
          <p:cNvSpPr/>
          <p:nvPr/>
        </p:nvSpPr>
        <p:spPr>
          <a:xfrm>
            <a:off x="4399178" y="1874520"/>
            <a:ext cx="45720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99178" y="2103120"/>
            <a:ext cx="3393338" cy="1280160"/>
          </a:xfrm>
          <a:prstGeom prst="rect">
            <a:avLst/>
          </a:prstGeom>
          <a:noFill/>
        </p:spPr>
        <p:txBody>
          <a:bodyPr wrap="square" lIns="0" rIns="0" tIns="0" bIns="0" anchor="t">
            <a:spAutoFit/>
          </a:bodyPr>
          <a:lstStyle/>
          <a:p>
            <a:pPr algn="l">
              <a:lnSpc>
                <a:spcPct val="100000"/>
              </a:lnSpc>
            </a:pPr>
            <a:r>
              <a:rPr sz="8000" b="0" i="1">
                <a:solidFill>
                  <a:srgbClr val="007CC3"/>
                </a:solidFill>
                <a:latin typeface="Fraunces"/>
              </a:rPr>
              <a:t>02</a:t>
            </a:r>
          </a:p>
        </p:txBody>
      </p:sp>
      <p:sp>
        <p:nvSpPr>
          <p:cNvPr id="13" name="TextBox 12"/>
          <p:cNvSpPr txBox="1"/>
          <p:nvPr/>
        </p:nvSpPr>
        <p:spPr>
          <a:xfrm>
            <a:off x="4399178" y="3429000"/>
            <a:ext cx="3393338" cy="274320"/>
          </a:xfrm>
          <a:prstGeom prst="rect">
            <a:avLst/>
          </a:prstGeom>
          <a:noFill/>
        </p:spPr>
        <p:txBody>
          <a:bodyPr wrap="square" lIns="0" rIns="0" tIns="0" bIns="0" anchor="t">
            <a:spAutoFit/>
          </a:bodyPr>
          <a:lstStyle/>
          <a:p>
            <a:pPr algn="l">
              <a:lnSpc>
                <a:spcPct val="135000"/>
              </a:lnSpc>
            </a:pPr>
            <a:r>
              <a:rPr sz="900" b="1" i="0">
                <a:solidFill>
                  <a:srgbClr val="182534"/>
                </a:solidFill>
                <a:latin typeface="JetBrains Mono"/>
              </a:rPr>
              <a:t>THE REFRAME</a:t>
            </a:r>
          </a:p>
        </p:txBody>
      </p:sp>
      <p:sp>
        <p:nvSpPr>
          <p:cNvPr id="14" name="TextBox 13"/>
          <p:cNvSpPr txBox="1"/>
          <p:nvPr/>
        </p:nvSpPr>
        <p:spPr>
          <a:xfrm>
            <a:off x="4399178" y="3794760"/>
            <a:ext cx="3393338" cy="2194560"/>
          </a:xfrm>
          <a:prstGeom prst="rect">
            <a:avLst/>
          </a:prstGeom>
          <a:noFill/>
        </p:spPr>
        <p:txBody>
          <a:bodyPr wrap="square" lIns="0" rIns="0" tIns="0" bIns="0" anchor="t">
            <a:spAutoFit/>
          </a:bodyPr>
          <a:lstStyle/>
          <a:p>
            <a:pPr algn="l">
              <a:lnSpc>
                <a:spcPct val="150000"/>
              </a:lnSpc>
            </a:pPr>
            <a:r>
              <a:rPr sz="1400" b="0" i="0">
                <a:solidFill>
                  <a:srgbClr val="404040"/>
                </a:solidFill>
                <a:latin typeface="Newsreader"/>
              </a:rPr>
              <a:t>Pilots plateau because agents inherit the friction of the process they joined. The prize is redesigning the process around what an agent can actually do.</a:t>
            </a:r>
          </a:p>
        </p:txBody>
      </p:sp>
      <p:sp>
        <p:nvSpPr>
          <p:cNvPr id="15" name="Rectangle 14"/>
          <p:cNvSpPr/>
          <p:nvPr/>
        </p:nvSpPr>
        <p:spPr>
          <a:xfrm>
            <a:off x="8158276" y="1874520"/>
            <a:ext cx="45720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8276" y="2103120"/>
            <a:ext cx="3393338" cy="1280160"/>
          </a:xfrm>
          <a:prstGeom prst="rect">
            <a:avLst/>
          </a:prstGeom>
          <a:noFill/>
        </p:spPr>
        <p:txBody>
          <a:bodyPr wrap="square" lIns="0" rIns="0" tIns="0" bIns="0" anchor="t">
            <a:spAutoFit/>
          </a:bodyPr>
          <a:lstStyle/>
          <a:p>
            <a:pPr algn="l">
              <a:lnSpc>
                <a:spcPct val="100000"/>
              </a:lnSpc>
            </a:pPr>
            <a:r>
              <a:rPr sz="8000" b="0" i="1">
                <a:solidFill>
                  <a:srgbClr val="007CC3"/>
                </a:solidFill>
                <a:latin typeface="Fraunces"/>
              </a:rPr>
              <a:t>03</a:t>
            </a:r>
          </a:p>
        </p:txBody>
      </p:sp>
      <p:sp>
        <p:nvSpPr>
          <p:cNvPr id="17" name="TextBox 16"/>
          <p:cNvSpPr txBox="1"/>
          <p:nvPr/>
        </p:nvSpPr>
        <p:spPr>
          <a:xfrm>
            <a:off x="8158276" y="3429000"/>
            <a:ext cx="3393338" cy="274320"/>
          </a:xfrm>
          <a:prstGeom prst="rect">
            <a:avLst/>
          </a:prstGeom>
          <a:noFill/>
        </p:spPr>
        <p:txBody>
          <a:bodyPr wrap="square" lIns="0" rIns="0" tIns="0" bIns="0" anchor="t">
            <a:spAutoFit/>
          </a:bodyPr>
          <a:lstStyle/>
          <a:p>
            <a:pPr algn="l">
              <a:lnSpc>
                <a:spcPct val="135000"/>
              </a:lnSpc>
            </a:pPr>
            <a:r>
              <a:rPr sz="900" b="1" i="0">
                <a:solidFill>
                  <a:srgbClr val="182534"/>
                </a:solidFill>
                <a:latin typeface="JetBrains Mono"/>
              </a:rPr>
              <a:t>THE PATH</a:t>
            </a:r>
          </a:p>
        </p:txBody>
      </p:sp>
      <p:sp>
        <p:nvSpPr>
          <p:cNvPr id="18" name="TextBox 17"/>
          <p:cNvSpPr txBox="1"/>
          <p:nvPr/>
        </p:nvSpPr>
        <p:spPr>
          <a:xfrm>
            <a:off x="8158276" y="3794760"/>
            <a:ext cx="3393338" cy="2194560"/>
          </a:xfrm>
          <a:prstGeom prst="rect">
            <a:avLst/>
          </a:prstGeom>
          <a:noFill/>
        </p:spPr>
        <p:txBody>
          <a:bodyPr wrap="square" lIns="0" rIns="0" tIns="0" bIns="0" anchor="t">
            <a:spAutoFit/>
          </a:bodyPr>
          <a:lstStyle/>
          <a:p>
            <a:pPr algn="l">
              <a:lnSpc>
                <a:spcPct val="150000"/>
              </a:lnSpc>
            </a:pPr>
            <a:r>
              <a:rPr sz="1400" b="0" i="0">
                <a:solidFill>
                  <a:srgbClr val="404040"/>
                </a:solidFill>
                <a:latin typeface="Newsreader"/>
              </a:rPr>
              <a:t>Five no-regret moves now, one redesigned process within twelve months, and an operating-model shift across the next twenty-four.</a:t>
            </a:r>
          </a:p>
        </p:txBody>
      </p:sp>
      <p:cxnSp>
        <p:nvCxnSpPr>
          <p:cNvPr id="19" name="Connector 18"/>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21" name="TextBox 20"/>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03 /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Three things changed in the last 18 months</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SETUP  ·  WHY NOW</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I   ·   WHY NOW</a:t>
            </a:r>
          </a:p>
        </p:txBody>
      </p:sp>
      <p:sp>
        <p:nvSpPr>
          <p:cNvPr id="6" name="TextBox 5"/>
          <p:cNvSpPr txBox="1"/>
          <p:nvPr/>
        </p:nvSpPr>
        <p:spPr>
          <a:xfrm>
            <a:off x="640080" y="1005840"/>
            <a:ext cx="10911535" cy="457200"/>
          </a:xfrm>
          <a:prstGeom prst="rect">
            <a:avLst/>
          </a:prstGeom>
          <a:noFill/>
        </p:spPr>
        <p:txBody>
          <a:bodyPr wrap="square" lIns="0" rIns="0" tIns="0" bIns="0" anchor="t">
            <a:spAutoFit/>
          </a:bodyPr>
          <a:lstStyle/>
          <a:p>
            <a:pPr algn="l">
              <a:lnSpc>
                <a:spcPct val="110000"/>
              </a:lnSpc>
            </a:pPr>
            <a:r>
              <a:rPr sz="2200" b="0" i="1">
                <a:solidFill>
                  <a:srgbClr val="182534"/>
                </a:solidFill>
                <a:latin typeface="Fraunces"/>
              </a:rPr>
              <a:t>A phase change, not a headline.</a:t>
            </a:r>
          </a:p>
        </p:txBody>
      </p:sp>
      <p:sp>
        <p:nvSpPr>
          <p:cNvPr id="7" name="Rectangle 6"/>
          <p:cNvSpPr/>
          <p:nvPr/>
        </p:nvSpPr>
        <p:spPr>
          <a:xfrm>
            <a:off x="640080" y="1874520"/>
            <a:ext cx="36576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57400"/>
            <a:ext cx="3393338" cy="548640"/>
          </a:xfrm>
          <a:prstGeom prst="rect">
            <a:avLst/>
          </a:prstGeom>
          <a:noFill/>
        </p:spPr>
        <p:txBody>
          <a:bodyPr wrap="square" lIns="0" rIns="0" tIns="0" bIns="0" anchor="t">
            <a:spAutoFit/>
          </a:bodyPr>
          <a:lstStyle/>
          <a:p>
            <a:pPr algn="l">
              <a:lnSpc>
                <a:spcPct val="100000"/>
              </a:lnSpc>
            </a:pPr>
            <a:r>
              <a:rPr sz="3200" b="0" i="1">
                <a:solidFill>
                  <a:srgbClr val="007CC3"/>
                </a:solidFill>
                <a:latin typeface="Fraunces"/>
              </a:rPr>
              <a:t>i.</a:t>
            </a:r>
          </a:p>
        </p:txBody>
      </p:sp>
      <p:sp>
        <p:nvSpPr>
          <p:cNvPr id="9" name="TextBox 8"/>
          <p:cNvSpPr txBox="1"/>
          <p:nvPr/>
        </p:nvSpPr>
        <p:spPr>
          <a:xfrm>
            <a:off x="640080" y="2743200"/>
            <a:ext cx="3393338" cy="640080"/>
          </a:xfrm>
          <a:prstGeom prst="rect">
            <a:avLst/>
          </a:prstGeom>
          <a:noFill/>
        </p:spPr>
        <p:txBody>
          <a:bodyPr wrap="square" lIns="0" rIns="0" tIns="0" bIns="0" anchor="t">
            <a:spAutoFit/>
          </a:bodyPr>
          <a:lstStyle/>
          <a:p>
            <a:pPr algn="l">
              <a:lnSpc>
                <a:spcPct val="110000"/>
              </a:lnSpc>
            </a:pPr>
            <a:r>
              <a:rPr sz="2400" b="0" i="0">
                <a:solidFill>
                  <a:srgbClr val="182534"/>
                </a:solidFill>
                <a:latin typeface="Fraunces"/>
              </a:rPr>
              <a:t>Capability</a:t>
            </a:r>
          </a:p>
        </p:txBody>
      </p:sp>
      <p:sp>
        <p:nvSpPr>
          <p:cNvPr id="10" name="TextBox 9"/>
          <p:cNvSpPr txBox="1"/>
          <p:nvPr/>
        </p:nvSpPr>
        <p:spPr>
          <a:xfrm>
            <a:off x="640080" y="3566160"/>
            <a:ext cx="3210458" cy="2377440"/>
          </a:xfrm>
          <a:prstGeom prst="rect">
            <a:avLst/>
          </a:prstGeom>
          <a:noFill/>
        </p:spPr>
        <p:txBody>
          <a:bodyPr wrap="square" lIns="0" rIns="0" tIns="0" bIns="0" anchor="t">
            <a:spAutoFit/>
          </a:bodyPr>
          <a:lstStyle/>
          <a:p>
            <a:pPr algn="l">
              <a:lnSpc>
                <a:spcPct val="155000"/>
              </a:lnSpc>
            </a:pPr>
            <a:r>
              <a:rPr sz="1300" b="0" i="0">
                <a:solidFill>
                  <a:srgbClr val="404040"/>
                </a:solidFill>
                <a:latin typeface="Newsreader"/>
              </a:rPr>
              <a:t>Frontier models can plan, use tools, and verify their own work. Per-token cost has fallen ~85% since 2023, putting capable models in reach of bulk operational workloads.</a:t>
            </a:r>
          </a:p>
        </p:txBody>
      </p:sp>
      <p:sp>
        <p:nvSpPr>
          <p:cNvPr id="11" name="TextBox 10"/>
          <p:cNvSpPr txBox="1"/>
          <p:nvPr/>
        </p:nvSpPr>
        <p:spPr>
          <a:xfrm>
            <a:off x="640080" y="5806440"/>
            <a:ext cx="3210458" cy="36576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ANTHROPIC, OPENAI, GOOGLE · 2024-2026</a:t>
            </a:r>
          </a:p>
        </p:txBody>
      </p:sp>
      <p:sp>
        <p:nvSpPr>
          <p:cNvPr id="12" name="Rectangle 11"/>
          <p:cNvSpPr/>
          <p:nvPr/>
        </p:nvSpPr>
        <p:spPr>
          <a:xfrm>
            <a:off x="4399178" y="1874520"/>
            <a:ext cx="36576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99178" y="2057400"/>
            <a:ext cx="3393338" cy="548640"/>
          </a:xfrm>
          <a:prstGeom prst="rect">
            <a:avLst/>
          </a:prstGeom>
          <a:noFill/>
        </p:spPr>
        <p:txBody>
          <a:bodyPr wrap="square" lIns="0" rIns="0" tIns="0" bIns="0" anchor="t">
            <a:spAutoFit/>
          </a:bodyPr>
          <a:lstStyle/>
          <a:p>
            <a:pPr algn="l">
              <a:lnSpc>
                <a:spcPct val="100000"/>
              </a:lnSpc>
            </a:pPr>
            <a:r>
              <a:rPr sz="3200" b="0" i="1">
                <a:solidFill>
                  <a:srgbClr val="007CC3"/>
                </a:solidFill>
                <a:latin typeface="Fraunces"/>
              </a:rPr>
              <a:t>ii.</a:t>
            </a:r>
          </a:p>
        </p:txBody>
      </p:sp>
      <p:sp>
        <p:nvSpPr>
          <p:cNvPr id="14" name="TextBox 13"/>
          <p:cNvSpPr txBox="1"/>
          <p:nvPr/>
        </p:nvSpPr>
        <p:spPr>
          <a:xfrm>
            <a:off x="4399178" y="2743200"/>
            <a:ext cx="3393338" cy="640080"/>
          </a:xfrm>
          <a:prstGeom prst="rect">
            <a:avLst/>
          </a:prstGeom>
          <a:noFill/>
        </p:spPr>
        <p:txBody>
          <a:bodyPr wrap="square" lIns="0" rIns="0" tIns="0" bIns="0" anchor="t">
            <a:spAutoFit/>
          </a:bodyPr>
          <a:lstStyle/>
          <a:p>
            <a:pPr algn="l">
              <a:lnSpc>
                <a:spcPct val="110000"/>
              </a:lnSpc>
            </a:pPr>
            <a:r>
              <a:rPr sz="2400" b="0" i="0">
                <a:solidFill>
                  <a:srgbClr val="182534"/>
                </a:solidFill>
                <a:latin typeface="Fraunces"/>
              </a:rPr>
              <a:t>Tooling</a:t>
            </a:r>
          </a:p>
        </p:txBody>
      </p:sp>
      <p:sp>
        <p:nvSpPr>
          <p:cNvPr id="15" name="TextBox 14"/>
          <p:cNvSpPr txBox="1"/>
          <p:nvPr/>
        </p:nvSpPr>
        <p:spPr>
          <a:xfrm>
            <a:off x="4399178" y="3566160"/>
            <a:ext cx="3210458" cy="2377440"/>
          </a:xfrm>
          <a:prstGeom prst="rect">
            <a:avLst/>
          </a:prstGeom>
          <a:noFill/>
        </p:spPr>
        <p:txBody>
          <a:bodyPr wrap="square" lIns="0" rIns="0" tIns="0" bIns="0" anchor="t">
            <a:spAutoFit/>
          </a:bodyPr>
          <a:lstStyle/>
          <a:p>
            <a:pPr algn="l">
              <a:lnSpc>
                <a:spcPct val="155000"/>
              </a:lnSpc>
            </a:pPr>
            <a:r>
              <a:rPr sz="1300" b="0" i="0">
                <a:solidFill>
                  <a:srgbClr val="404040"/>
                </a:solidFill>
                <a:latin typeface="Newsreader"/>
              </a:rPr>
              <a:t>Orchestration, evaluation harnesses, observability, and guardrails have moved from research-interesting to production-engineering. Banks can buy or self-host an agent stack like they buy analytics.</a:t>
            </a:r>
          </a:p>
        </p:txBody>
      </p:sp>
      <p:sp>
        <p:nvSpPr>
          <p:cNvPr id="16" name="TextBox 15"/>
          <p:cNvSpPr txBox="1"/>
          <p:nvPr/>
        </p:nvSpPr>
        <p:spPr>
          <a:xfrm>
            <a:off x="4399178" y="5806440"/>
            <a:ext cx="3210458" cy="36576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LANGGRAPH · OPENAI ASSISTANTS · ANTHROPIC</a:t>
            </a:r>
          </a:p>
        </p:txBody>
      </p:sp>
      <p:sp>
        <p:nvSpPr>
          <p:cNvPr id="17" name="Rectangle 16"/>
          <p:cNvSpPr/>
          <p:nvPr/>
        </p:nvSpPr>
        <p:spPr>
          <a:xfrm>
            <a:off x="8158276" y="1874520"/>
            <a:ext cx="36576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58276" y="2057400"/>
            <a:ext cx="3393338" cy="548640"/>
          </a:xfrm>
          <a:prstGeom prst="rect">
            <a:avLst/>
          </a:prstGeom>
          <a:noFill/>
        </p:spPr>
        <p:txBody>
          <a:bodyPr wrap="square" lIns="0" rIns="0" tIns="0" bIns="0" anchor="t">
            <a:spAutoFit/>
          </a:bodyPr>
          <a:lstStyle/>
          <a:p>
            <a:pPr algn="l">
              <a:lnSpc>
                <a:spcPct val="100000"/>
              </a:lnSpc>
            </a:pPr>
            <a:r>
              <a:rPr sz="3200" b="0" i="1">
                <a:solidFill>
                  <a:srgbClr val="007CC3"/>
                </a:solidFill>
                <a:latin typeface="Fraunces"/>
              </a:rPr>
              <a:t>iii.</a:t>
            </a:r>
          </a:p>
        </p:txBody>
      </p:sp>
      <p:sp>
        <p:nvSpPr>
          <p:cNvPr id="19" name="TextBox 18"/>
          <p:cNvSpPr txBox="1"/>
          <p:nvPr/>
        </p:nvSpPr>
        <p:spPr>
          <a:xfrm>
            <a:off x="8158276" y="2743200"/>
            <a:ext cx="3393338" cy="640080"/>
          </a:xfrm>
          <a:prstGeom prst="rect">
            <a:avLst/>
          </a:prstGeom>
          <a:noFill/>
        </p:spPr>
        <p:txBody>
          <a:bodyPr wrap="square" lIns="0" rIns="0" tIns="0" bIns="0" anchor="t">
            <a:spAutoFit/>
          </a:bodyPr>
          <a:lstStyle/>
          <a:p>
            <a:pPr algn="l">
              <a:lnSpc>
                <a:spcPct val="110000"/>
              </a:lnSpc>
            </a:pPr>
            <a:r>
              <a:rPr sz="2400" b="0" i="0">
                <a:solidFill>
                  <a:srgbClr val="182534"/>
                </a:solidFill>
                <a:latin typeface="Fraunces"/>
              </a:rPr>
              <a:t>Maturity</a:t>
            </a:r>
          </a:p>
        </p:txBody>
      </p:sp>
      <p:sp>
        <p:nvSpPr>
          <p:cNvPr id="20" name="TextBox 19"/>
          <p:cNvSpPr txBox="1"/>
          <p:nvPr/>
        </p:nvSpPr>
        <p:spPr>
          <a:xfrm>
            <a:off x="8158276" y="3566160"/>
            <a:ext cx="3210458" cy="2377440"/>
          </a:xfrm>
          <a:prstGeom prst="rect">
            <a:avLst/>
          </a:prstGeom>
          <a:noFill/>
        </p:spPr>
        <p:txBody>
          <a:bodyPr wrap="square" lIns="0" rIns="0" tIns="0" bIns="0" anchor="t">
            <a:spAutoFit/>
          </a:bodyPr>
          <a:lstStyle/>
          <a:p>
            <a:pPr algn="l">
              <a:lnSpc>
                <a:spcPct val="155000"/>
              </a:lnSpc>
            </a:pPr>
            <a:r>
              <a:rPr sz="1300" b="0" i="0">
                <a:solidFill>
                  <a:srgbClr val="404040"/>
                </a:solidFill>
                <a:latin typeface="Newsreader"/>
              </a:rPr>
              <a:t>JPMorgan reports $17B+ in annual tech spend with AI as a named line item. BofA's Erica has logged 2B+ client interactions. The infrastructure is in place; the design discipline is not.</a:t>
            </a:r>
          </a:p>
        </p:txBody>
      </p:sp>
      <p:sp>
        <p:nvSpPr>
          <p:cNvPr id="21" name="TextBox 20"/>
          <p:cNvSpPr txBox="1"/>
          <p:nvPr/>
        </p:nvSpPr>
        <p:spPr>
          <a:xfrm>
            <a:off x="8158276" y="5806440"/>
            <a:ext cx="3210458" cy="36576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JPM 10-K 2024 · BCG BUILD FOR THE FUTURE 2024</a:t>
            </a:r>
          </a:p>
        </p:txBody>
      </p:sp>
      <p:cxnSp>
        <p:nvCxnSpPr>
          <p:cNvPr id="22" name="Connector 21"/>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24" name="TextBox 23"/>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04 / 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Forty pilots, value in two</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SETUP  ·  THE TRAP</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I   ·   THE TRAP</a:t>
            </a:r>
          </a:p>
        </p:txBody>
      </p:sp>
      <p:sp>
        <p:nvSpPr>
          <p:cNvPr id="6" name="TextBox 5"/>
          <p:cNvSpPr txBox="1"/>
          <p:nvPr/>
        </p:nvSpPr>
        <p:spPr>
          <a:xfrm>
            <a:off x="640080" y="1005840"/>
            <a:ext cx="8625535" cy="1097280"/>
          </a:xfrm>
          <a:prstGeom prst="rect">
            <a:avLst/>
          </a:prstGeom>
          <a:noFill/>
        </p:spPr>
        <p:txBody>
          <a:bodyPr wrap="square" lIns="0" rIns="0" tIns="0" bIns="0" anchor="t">
            <a:spAutoFit/>
          </a:bodyPr>
          <a:lstStyle/>
          <a:p>
            <a:pPr algn="l">
              <a:lnSpc>
                <a:spcPct val="110000"/>
              </a:lnSpc>
            </a:pPr>
            <a:r>
              <a:rPr sz="3000" b="0" i="0">
                <a:solidFill>
                  <a:srgbClr val="182534"/>
                </a:solidFill>
                <a:latin typeface="Fraunces"/>
              </a:rPr>
              <a:t>The pilot factory has </a:t>
            </a:r>
            <a:r>
              <a:rPr sz="3000" b="0" i="1">
                <a:solidFill>
                  <a:srgbClr val="007CC3"/>
                </a:solidFill>
                <a:latin typeface="Fraunces"/>
              </a:rPr>
              <a:t>stopped</a:t>
            </a:r>
            <a:r>
              <a:rPr sz="3000" b="0" i="0">
                <a:solidFill>
                  <a:srgbClr val="182534"/>
                </a:solidFill>
                <a:latin typeface="Fraunces"/>
              </a:rPr>
              <a:t> paying off.</a:t>
            </a:r>
          </a:p>
        </p:txBody>
      </p:sp>
      <p:sp>
        <p:nvSpPr>
          <p:cNvPr id="7" name="TextBox 6"/>
          <p:cNvSpPr txBox="1"/>
          <p:nvPr/>
        </p:nvSpPr>
        <p:spPr>
          <a:xfrm>
            <a:off x="8351215" y="1097280"/>
            <a:ext cx="3200400" cy="914400"/>
          </a:xfrm>
          <a:prstGeom prst="rect">
            <a:avLst/>
          </a:prstGeom>
          <a:noFill/>
        </p:spPr>
        <p:txBody>
          <a:bodyPr wrap="square" lIns="0" rIns="0" tIns="0" bIns="0" anchor="t">
            <a:spAutoFit/>
          </a:bodyPr>
          <a:lstStyle/>
          <a:p>
            <a:pPr algn="l">
              <a:lnSpc>
                <a:spcPct val="150000"/>
              </a:lnSpc>
            </a:pPr>
            <a:r>
              <a:rPr sz="1100" b="0" i="1">
                <a:solidFill>
                  <a:srgbClr val="6D6E71"/>
                </a:solidFill>
                <a:latin typeface="Newsreader"/>
              </a:rPr>
              <a:t>Across the largest banks, a long-tail distribution: a small number of use cases deliver concentrated value while most pilots remain stuck in proof-of-concept.</a:t>
            </a:r>
          </a:p>
        </p:txBody>
      </p:sp>
      <p:sp>
        <p:nvSpPr>
          <p:cNvPr id="8" name="Rectangle 7"/>
          <p:cNvSpPr/>
          <p:nvPr/>
        </p:nvSpPr>
        <p:spPr>
          <a:xfrm>
            <a:off x="640080" y="2514600"/>
            <a:ext cx="10911535" cy="3474720"/>
          </a:xfrm>
          <a:prstGeom prst="rect">
            <a:avLst/>
          </a:prstGeom>
          <a:solidFill>
            <a:srgbClr val="FFFFFF"/>
          </a:solidFill>
          <a:ln w="6350">
            <a:solidFill>
              <a:srgbClr val="E2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21992"/>
            <a:ext cx="1828800" cy="22860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FIG.  01</a:t>
            </a:r>
          </a:p>
        </p:txBody>
      </p:sp>
      <p:sp>
        <p:nvSpPr>
          <p:cNvPr id="10" name="TextBox 9"/>
          <p:cNvSpPr txBox="1"/>
          <p:nvPr/>
        </p:nvSpPr>
        <p:spPr>
          <a:xfrm>
            <a:off x="914400" y="2651760"/>
            <a:ext cx="10362895" cy="365760"/>
          </a:xfrm>
          <a:prstGeom prst="rect">
            <a:avLst/>
          </a:prstGeom>
          <a:noFill/>
        </p:spPr>
        <p:txBody>
          <a:bodyPr wrap="square" lIns="0" rIns="0" tIns="0" bIns="0" anchor="t">
            <a:spAutoFit/>
          </a:bodyPr>
          <a:lstStyle/>
          <a:p>
            <a:pPr algn="l">
              <a:lnSpc>
                <a:spcPct val="120000"/>
              </a:lnSpc>
            </a:pPr>
            <a:r>
              <a:rPr sz="1400" b="0" i="0">
                <a:solidFill>
                  <a:srgbClr val="182534"/>
                </a:solidFill>
                <a:latin typeface="Fraunces"/>
              </a:rPr>
              <a:t>Pilot value concentrates in a long tail.</a:t>
            </a:r>
          </a:p>
        </p:txBody>
      </p:sp>
      <p:sp>
        <p:nvSpPr>
          <p:cNvPr id="11" name="TextBox 10"/>
          <p:cNvSpPr txBox="1"/>
          <p:nvPr/>
        </p:nvSpPr>
        <p:spPr>
          <a:xfrm>
            <a:off x="914400" y="3017520"/>
            <a:ext cx="10362895" cy="320040"/>
          </a:xfrm>
          <a:prstGeom prst="rect">
            <a:avLst/>
          </a:prstGeom>
          <a:noFill/>
        </p:spPr>
        <p:txBody>
          <a:bodyPr wrap="square" lIns="0" rIns="0" tIns="0" bIns="0" anchor="t">
            <a:spAutoFit/>
          </a:bodyPr>
          <a:lstStyle/>
          <a:p>
            <a:pPr algn="l">
              <a:lnSpc>
                <a:spcPct val="140000"/>
              </a:lnSpc>
            </a:pPr>
            <a:r>
              <a:rPr sz="1000" b="0" i="1">
                <a:solidFill>
                  <a:srgbClr val="6D6E71"/>
                </a:solidFill>
                <a:latin typeface="Newsreader"/>
              </a:rPr>
              <a:t>Per-bank distribution of realized value across active generative-AI initiatives. The top two carry the majority.</a:t>
            </a:r>
          </a:p>
        </p:txBody>
      </p:sp>
      <p:cxnSp>
        <p:nvCxnSpPr>
          <p:cNvPr id="12" name="Connector 11"/>
          <p:cNvCxnSpPr/>
          <p:nvPr/>
        </p:nvCxnSpPr>
        <p:spPr>
          <a:xfrm>
            <a:off x="1097280" y="5669280"/>
            <a:ext cx="9997135" cy="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097280" y="3566160"/>
            <a:ext cx="378213" cy="210312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515493" y="3902660"/>
            <a:ext cx="378213" cy="176662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933706" y="4701845"/>
            <a:ext cx="378213" cy="967435"/>
          </a:xfrm>
          <a:prstGeom prst="rect">
            <a:avLst/>
          </a:prstGeom>
          <a:solidFill>
            <a:srgbClr val="369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51919" y="5101438"/>
            <a:ext cx="378213" cy="567842"/>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70132" y="5269688"/>
            <a:ext cx="378213" cy="399592"/>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88345" y="5353812"/>
            <a:ext cx="378213" cy="315468"/>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06558" y="5395875"/>
            <a:ext cx="378213" cy="273405"/>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024771" y="5427422"/>
            <a:ext cx="378213" cy="241858"/>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42984" y="5458968"/>
            <a:ext cx="378213" cy="210312"/>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61197" y="5480000"/>
            <a:ext cx="378213" cy="189280"/>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79410" y="5496825"/>
            <a:ext cx="378213" cy="172455"/>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97623" y="5511546"/>
            <a:ext cx="378213" cy="157734"/>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15836" y="5526268"/>
            <a:ext cx="378213" cy="143012"/>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34049" y="5538887"/>
            <a:ext cx="378213" cy="130393"/>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52262" y="5549403"/>
            <a:ext cx="378213" cy="119877"/>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0475" y="5559918"/>
            <a:ext cx="378213" cy="109362"/>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88688" y="5568331"/>
            <a:ext cx="378213" cy="100949"/>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06901" y="5576743"/>
            <a:ext cx="378213" cy="92537"/>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25114" y="5585156"/>
            <a:ext cx="378213" cy="84124"/>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43327" y="5591465"/>
            <a:ext cx="378213" cy="77815"/>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461540" y="5597774"/>
            <a:ext cx="378213" cy="71506"/>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879753" y="5604084"/>
            <a:ext cx="378213" cy="65196"/>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97966" y="5610393"/>
            <a:ext cx="378213" cy="58887"/>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16179" y="5616702"/>
            <a:ext cx="378213" cy="52578"/>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7280" y="3200400"/>
            <a:ext cx="4572000" cy="22860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  ~2 USE CASES CARRY THE VALUE</a:t>
            </a:r>
          </a:p>
        </p:txBody>
      </p:sp>
      <p:sp>
        <p:nvSpPr>
          <p:cNvPr id="38" name="TextBox 37"/>
          <p:cNvSpPr txBox="1"/>
          <p:nvPr/>
        </p:nvSpPr>
        <p:spPr>
          <a:xfrm>
            <a:off x="5212080" y="4114800"/>
            <a:ext cx="5882335" cy="457200"/>
          </a:xfrm>
          <a:prstGeom prst="rect">
            <a:avLst/>
          </a:prstGeom>
          <a:noFill/>
        </p:spPr>
        <p:txBody>
          <a:bodyPr wrap="square" lIns="0" rIns="0" tIns="0" bIns="0" anchor="t">
            <a:spAutoFit/>
          </a:bodyPr>
          <a:lstStyle/>
          <a:p>
            <a:pPr algn="l">
              <a:lnSpc>
                <a:spcPct val="135000"/>
              </a:lnSpc>
            </a:pPr>
            <a:r>
              <a:rPr sz="1100" b="0" i="1">
                <a:solidFill>
                  <a:srgbClr val="6D6E71"/>
                </a:solidFill>
                <a:latin typeface="Newsreader"/>
              </a:rPr>
              <a:t>the long tail — busy, expensive, ineffective</a:t>
            </a:r>
          </a:p>
        </p:txBody>
      </p:sp>
      <p:sp>
        <p:nvSpPr>
          <p:cNvPr id="39" name="TextBox 38"/>
          <p:cNvSpPr txBox="1"/>
          <p:nvPr/>
        </p:nvSpPr>
        <p:spPr>
          <a:xfrm>
            <a:off x="1097280" y="5806440"/>
            <a:ext cx="5486400" cy="182880"/>
          </a:xfrm>
          <a:prstGeom prst="rect">
            <a:avLst/>
          </a:prstGeom>
          <a:noFill/>
        </p:spPr>
        <p:txBody>
          <a:bodyPr wrap="square" lIns="0" rIns="0" tIns="0" bIns="0" anchor="t">
            <a:spAutoFit/>
          </a:bodyPr>
          <a:lstStyle/>
          <a:p>
            <a:pPr algn="l">
              <a:lnSpc>
                <a:spcPct val="135000"/>
              </a:lnSpc>
            </a:pPr>
            <a:r>
              <a:rPr sz="700" b="0" i="0">
                <a:solidFill>
                  <a:srgbClr val="6D6E71"/>
                </a:solidFill>
                <a:latin typeface="JetBrains Mono"/>
              </a:rPr>
              <a:t>PILOTS, RANKED BY REALIZED VALUE</a:t>
            </a:r>
          </a:p>
        </p:txBody>
      </p:sp>
      <p:sp>
        <p:nvSpPr>
          <p:cNvPr id="40" name="TextBox 39"/>
          <p:cNvSpPr txBox="1"/>
          <p:nvPr/>
        </p:nvSpPr>
        <p:spPr>
          <a:xfrm>
            <a:off x="8808415" y="5806440"/>
            <a:ext cx="2286000" cy="182880"/>
          </a:xfrm>
          <a:prstGeom prst="rect">
            <a:avLst/>
          </a:prstGeom>
          <a:noFill/>
        </p:spPr>
        <p:txBody>
          <a:bodyPr wrap="square" lIns="0" rIns="0" tIns="0" bIns="0" anchor="t">
            <a:spAutoFit/>
          </a:bodyPr>
          <a:lstStyle/>
          <a:p>
            <a:pPr algn="r">
              <a:lnSpc>
                <a:spcPct val="135000"/>
              </a:lnSpc>
            </a:pPr>
            <a:r>
              <a:rPr sz="700" b="0" i="0">
                <a:solidFill>
                  <a:srgbClr val="6D6E71"/>
                </a:solidFill>
                <a:latin typeface="JetBrains Mono"/>
              </a:rPr>
              <a:t>N ≈ 40 PER BANK</a:t>
            </a:r>
          </a:p>
        </p:txBody>
      </p:sp>
      <p:cxnSp>
        <p:nvCxnSpPr>
          <p:cNvPr id="41" name="Connector 40"/>
          <p:cNvCxnSpPr/>
          <p:nvPr/>
        </p:nvCxnSpPr>
        <p:spPr>
          <a:xfrm>
            <a:off x="914400" y="5623560"/>
            <a:ext cx="1036289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14400" y="5696712"/>
            <a:ext cx="10362895"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SOURCE  ·  BCG BUILD FOR THE FUTURE 2024  ·  ILLUSTRATIVE SHAPE, IC ANALYSIS</a:t>
            </a:r>
          </a:p>
        </p:txBody>
      </p:sp>
      <p:cxnSp>
        <p:nvCxnSpPr>
          <p:cNvPr id="43" name="Connector 42"/>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45" name="TextBox 44"/>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05 /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The thesis</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REFRAME</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II   ·   REFRAME · OUR POINT OF VIEW</a:t>
            </a:r>
          </a:p>
        </p:txBody>
      </p:sp>
      <p:sp>
        <p:nvSpPr>
          <p:cNvPr id="6" name="TextBox 5"/>
          <p:cNvSpPr txBox="1"/>
          <p:nvPr/>
        </p:nvSpPr>
        <p:spPr>
          <a:xfrm>
            <a:off x="640080" y="1783080"/>
            <a:ext cx="10911535" cy="2560320"/>
          </a:xfrm>
          <a:prstGeom prst="rect">
            <a:avLst/>
          </a:prstGeom>
          <a:noFill/>
        </p:spPr>
        <p:txBody>
          <a:bodyPr wrap="square" lIns="0" rIns="0" tIns="0" bIns="0" anchor="t">
            <a:spAutoFit/>
          </a:bodyPr>
          <a:lstStyle/>
          <a:p>
            <a:pPr algn="l">
              <a:lnSpc>
                <a:spcPct val="115000"/>
              </a:lnSpc>
            </a:pPr>
            <a:r>
              <a:rPr sz="4200" b="0" i="0">
                <a:solidFill>
                  <a:srgbClr val="182534"/>
                </a:solidFill>
                <a:latin typeface="Fraunces"/>
              </a:rPr>
              <a:t>Banks have been adding agents to processes.</a:t>
            </a:r>
          </a:p>
          <a:p>
            <a:pPr algn="l">
              <a:lnSpc>
                <a:spcPct val="115000"/>
              </a:lnSpc>
            </a:pPr>
            <a:r>
              <a:rPr sz="4200" b="0" i="0">
                <a:solidFill>
                  <a:srgbClr val="182534"/>
                </a:solidFill>
                <a:latin typeface="Fraunces"/>
              </a:rPr>
              <a:t>The next decade is about </a:t>
            </a:r>
            <a:r>
              <a:rPr sz="4200" b="0" i="1">
                <a:solidFill>
                  <a:srgbClr val="007CC3"/>
                </a:solidFill>
                <a:latin typeface="Fraunces"/>
              </a:rPr>
              <a:t>redesigning</a:t>
            </a:r>
            <a:r>
              <a:rPr sz="4200" b="0" i="0">
                <a:solidFill>
                  <a:srgbClr val="182534"/>
                </a:solidFill>
                <a:latin typeface="Fraunces"/>
              </a:rPr>
              <a:t/>
            </a:r>
          </a:p>
          <a:p>
            <a:pPr algn="l">
              <a:lnSpc>
                <a:spcPct val="115000"/>
              </a:lnSpc>
            </a:pPr>
            <a:r>
              <a:rPr sz="4200" b="0" i="1">
                <a:solidFill>
                  <a:srgbClr val="007CC3"/>
                </a:solidFill>
                <a:latin typeface="Fraunces"/>
              </a:rPr>
              <a:t>processes around agents.</a:t>
            </a:r>
          </a:p>
        </p:txBody>
      </p:sp>
      <p:sp>
        <p:nvSpPr>
          <p:cNvPr id="7" name="Rectangle 6"/>
          <p:cNvSpPr/>
          <p:nvPr/>
        </p:nvSpPr>
        <p:spPr>
          <a:xfrm>
            <a:off x="640080" y="4800600"/>
            <a:ext cx="1280160" cy="32004"/>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120640"/>
            <a:ext cx="9082735" cy="1645920"/>
          </a:xfrm>
          <a:prstGeom prst="rect">
            <a:avLst/>
          </a:prstGeom>
          <a:noFill/>
        </p:spPr>
        <p:txBody>
          <a:bodyPr wrap="square" lIns="0" rIns="0" tIns="0" bIns="0" anchor="t">
            <a:spAutoFit/>
          </a:bodyPr>
          <a:lstStyle/>
          <a:p>
            <a:pPr algn="l">
              <a:lnSpc>
                <a:spcPct val="160000"/>
              </a:lnSpc>
            </a:pPr>
            <a:r>
              <a:rPr sz="1400" b="0" i="0">
                <a:solidFill>
                  <a:srgbClr val="404040"/>
                </a:solidFill>
                <a:latin typeface="Newsreader"/>
              </a:rPr>
              <a:t>Pilots plateau because the agent inherits the friction of the workflow it joined — the handoffs, the data silos, the compliance choke-points, the human approvals built for a slower world. The teams who break out aren't the ones with better models. They are the ones who redrew the process around what an agent can actually do, and rebuilt the operating model — control, risk, talent — to match.</a:t>
            </a:r>
          </a:p>
        </p:txBody>
      </p:sp>
      <p:cxnSp>
        <p:nvCxnSpPr>
          <p:cNvPr id="9" name="Connector 8"/>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11" name="TextBox 10"/>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06 /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What "agent-native" means in operating-model terms</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REFRAME  ·  THE PILLARS</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II   ·   PILLARS</a:t>
            </a:r>
          </a:p>
        </p:txBody>
      </p:sp>
      <p:sp>
        <p:nvSpPr>
          <p:cNvPr id="6" name="TextBox 5"/>
          <p:cNvSpPr txBox="1"/>
          <p:nvPr/>
        </p:nvSpPr>
        <p:spPr>
          <a:xfrm>
            <a:off x="640080" y="1005840"/>
            <a:ext cx="10911535" cy="457200"/>
          </a:xfrm>
          <a:prstGeom prst="rect">
            <a:avLst/>
          </a:prstGeom>
          <a:noFill/>
        </p:spPr>
        <p:txBody>
          <a:bodyPr wrap="square" lIns="0" rIns="0" tIns="0" bIns="0" anchor="t">
            <a:spAutoFit/>
          </a:bodyPr>
          <a:lstStyle/>
          <a:p>
            <a:pPr algn="l">
              <a:lnSpc>
                <a:spcPct val="110000"/>
              </a:lnSpc>
            </a:pPr>
            <a:r>
              <a:rPr sz="2000" b="0" i="1">
                <a:solidFill>
                  <a:srgbClr val="182534"/>
                </a:solidFill>
                <a:latin typeface="Fraunces"/>
              </a:rPr>
              <a:t>Six pillars define the move from agent-augmented to agent-native.</a:t>
            </a:r>
          </a:p>
        </p:txBody>
      </p:sp>
      <p:sp>
        <p:nvSpPr>
          <p:cNvPr id="7" name="Rectangle 6"/>
          <p:cNvSpPr/>
          <p:nvPr/>
        </p:nvSpPr>
        <p:spPr>
          <a:xfrm>
            <a:off x="640080" y="1874520"/>
            <a:ext cx="32004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39112"/>
            <a:ext cx="1371600" cy="457200"/>
          </a:xfrm>
          <a:prstGeom prst="rect">
            <a:avLst/>
          </a:prstGeom>
          <a:noFill/>
        </p:spPr>
        <p:txBody>
          <a:bodyPr wrap="square" lIns="0" rIns="0" tIns="0" bIns="0" anchor="t">
            <a:spAutoFit/>
          </a:bodyPr>
          <a:lstStyle/>
          <a:p>
            <a:pPr algn="l">
              <a:lnSpc>
                <a:spcPct val="100000"/>
              </a:lnSpc>
            </a:pPr>
            <a:r>
              <a:rPr sz="2200" b="0" i="1">
                <a:solidFill>
                  <a:srgbClr val="007CC3"/>
                </a:solidFill>
                <a:latin typeface="Fraunces"/>
              </a:rPr>
              <a:t>i.</a:t>
            </a:r>
          </a:p>
        </p:txBody>
      </p:sp>
      <p:sp>
        <p:nvSpPr>
          <p:cNvPr id="9" name="TextBox 8"/>
          <p:cNvSpPr txBox="1"/>
          <p:nvPr/>
        </p:nvSpPr>
        <p:spPr>
          <a:xfrm>
            <a:off x="640080" y="2651760"/>
            <a:ext cx="3271418" cy="457200"/>
          </a:xfrm>
          <a:prstGeom prst="rect">
            <a:avLst/>
          </a:prstGeom>
          <a:noFill/>
        </p:spPr>
        <p:txBody>
          <a:bodyPr wrap="square" lIns="0" rIns="0" tIns="0" bIns="0" anchor="t">
            <a:spAutoFit/>
          </a:bodyPr>
          <a:lstStyle/>
          <a:p>
            <a:pPr algn="l">
              <a:lnSpc>
                <a:spcPct val="110000"/>
              </a:lnSpc>
            </a:pPr>
            <a:r>
              <a:rPr sz="2000" b="0" i="0">
                <a:solidFill>
                  <a:srgbClr val="182534"/>
                </a:solidFill>
                <a:latin typeface="Fraunces"/>
              </a:rPr>
              <a:t>Control plane</a:t>
            </a:r>
          </a:p>
        </p:txBody>
      </p:sp>
      <p:sp>
        <p:nvSpPr>
          <p:cNvPr id="10" name="TextBox 9"/>
          <p:cNvSpPr txBox="1"/>
          <p:nvPr/>
        </p:nvSpPr>
        <p:spPr>
          <a:xfrm>
            <a:off x="640080" y="3246120"/>
            <a:ext cx="3271418" cy="1280160"/>
          </a:xfrm>
          <a:prstGeom prst="rect">
            <a:avLst/>
          </a:prstGeom>
          <a:noFill/>
        </p:spPr>
        <p:txBody>
          <a:bodyPr wrap="square" lIns="0" rIns="0" tIns="0" bIns="0" anchor="t">
            <a:spAutoFit/>
          </a:bodyPr>
          <a:lstStyle/>
          <a:p>
            <a:pPr algn="l">
              <a:lnSpc>
                <a:spcPct val="155000"/>
              </a:lnSpc>
            </a:pPr>
            <a:r>
              <a:rPr sz="1200" b="0" i="0">
                <a:solidFill>
                  <a:srgbClr val="6D6E71"/>
                </a:solidFill>
                <a:latin typeface="Newsreader"/>
              </a:rPr>
              <a:t>Orchestration, routing, retries, escalation. The agent's wiring is a first-class system.</a:t>
            </a:r>
          </a:p>
        </p:txBody>
      </p:sp>
      <p:sp>
        <p:nvSpPr>
          <p:cNvPr id="11" name="Rectangle 10"/>
          <p:cNvSpPr/>
          <p:nvPr/>
        </p:nvSpPr>
        <p:spPr>
          <a:xfrm>
            <a:off x="4368698" y="1874520"/>
            <a:ext cx="32004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68698" y="2039112"/>
            <a:ext cx="1371600" cy="457200"/>
          </a:xfrm>
          <a:prstGeom prst="rect">
            <a:avLst/>
          </a:prstGeom>
          <a:noFill/>
        </p:spPr>
        <p:txBody>
          <a:bodyPr wrap="square" lIns="0" rIns="0" tIns="0" bIns="0" anchor="t">
            <a:spAutoFit/>
          </a:bodyPr>
          <a:lstStyle/>
          <a:p>
            <a:pPr algn="l">
              <a:lnSpc>
                <a:spcPct val="100000"/>
              </a:lnSpc>
            </a:pPr>
            <a:r>
              <a:rPr sz="2200" b="0" i="1">
                <a:solidFill>
                  <a:srgbClr val="007CC3"/>
                </a:solidFill>
                <a:latin typeface="Fraunces"/>
              </a:rPr>
              <a:t>ii.</a:t>
            </a:r>
          </a:p>
        </p:txBody>
      </p:sp>
      <p:sp>
        <p:nvSpPr>
          <p:cNvPr id="13" name="TextBox 12"/>
          <p:cNvSpPr txBox="1"/>
          <p:nvPr/>
        </p:nvSpPr>
        <p:spPr>
          <a:xfrm>
            <a:off x="4368698" y="2651760"/>
            <a:ext cx="3271418" cy="457200"/>
          </a:xfrm>
          <a:prstGeom prst="rect">
            <a:avLst/>
          </a:prstGeom>
          <a:noFill/>
        </p:spPr>
        <p:txBody>
          <a:bodyPr wrap="square" lIns="0" rIns="0" tIns="0" bIns="0" anchor="t">
            <a:spAutoFit/>
          </a:bodyPr>
          <a:lstStyle/>
          <a:p>
            <a:pPr algn="l">
              <a:lnSpc>
                <a:spcPct val="110000"/>
              </a:lnSpc>
            </a:pPr>
            <a:r>
              <a:rPr sz="2000" b="0" i="0">
                <a:solidFill>
                  <a:srgbClr val="182534"/>
                </a:solidFill>
                <a:latin typeface="Fraunces"/>
              </a:rPr>
              <a:t>Agent roles</a:t>
            </a:r>
          </a:p>
        </p:txBody>
      </p:sp>
      <p:sp>
        <p:nvSpPr>
          <p:cNvPr id="14" name="TextBox 13"/>
          <p:cNvSpPr txBox="1"/>
          <p:nvPr/>
        </p:nvSpPr>
        <p:spPr>
          <a:xfrm>
            <a:off x="4368698" y="3246120"/>
            <a:ext cx="3271418" cy="1280160"/>
          </a:xfrm>
          <a:prstGeom prst="rect">
            <a:avLst/>
          </a:prstGeom>
          <a:noFill/>
        </p:spPr>
        <p:txBody>
          <a:bodyPr wrap="square" lIns="0" rIns="0" tIns="0" bIns="0" anchor="t">
            <a:spAutoFit/>
          </a:bodyPr>
          <a:lstStyle/>
          <a:p>
            <a:pPr algn="l">
              <a:lnSpc>
                <a:spcPct val="155000"/>
              </a:lnSpc>
            </a:pPr>
            <a:r>
              <a:rPr sz="1200" b="0" i="0">
                <a:solidFill>
                  <a:srgbClr val="6D6E71"/>
                </a:solidFill>
                <a:latin typeface="Newsreader"/>
              </a:rPr>
              <a:t>Each agent has one clear job — research, decide, act, or review. Roles compose; sprawl is avoided.</a:t>
            </a:r>
          </a:p>
        </p:txBody>
      </p:sp>
      <p:sp>
        <p:nvSpPr>
          <p:cNvPr id="15" name="Rectangle 14"/>
          <p:cNvSpPr/>
          <p:nvPr/>
        </p:nvSpPr>
        <p:spPr>
          <a:xfrm>
            <a:off x="8097316" y="1874520"/>
            <a:ext cx="32004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7316" y="2039112"/>
            <a:ext cx="1371600" cy="457200"/>
          </a:xfrm>
          <a:prstGeom prst="rect">
            <a:avLst/>
          </a:prstGeom>
          <a:noFill/>
        </p:spPr>
        <p:txBody>
          <a:bodyPr wrap="square" lIns="0" rIns="0" tIns="0" bIns="0" anchor="t">
            <a:spAutoFit/>
          </a:bodyPr>
          <a:lstStyle/>
          <a:p>
            <a:pPr algn="l">
              <a:lnSpc>
                <a:spcPct val="100000"/>
              </a:lnSpc>
            </a:pPr>
            <a:r>
              <a:rPr sz="2200" b="0" i="1">
                <a:solidFill>
                  <a:srgbClr val="007CC3"/>
                </a:solidFill>
                <a:latin typeface="Fraunces"/>
              </a:rPr>
              <a:t>iii.</a:t>
            </a:r>
          </a:p>
        </p:txBody>
      </p:sp>
      <p:sp>
        <p:nvSpPr>
          <p:cNvPr id="17" name="TextBox 16"/>
          <p:cNvSpPr txBox="1"/>
          <p:nvPr/>
        </p:nvSpPr>
        <p:spPr>
          <a:xfrm>
            <a:off x="8097316" y="2651760"/>
            <a:ext cx="3271418" cy="457200"/>
          </a:xfrm>
          <a:prstGeom prst="rect">
            <a:avLst/>
          </a:prstGeom>
          <a:noFill/>
        </p:spPr>
        <p:txBody>
          <a:bodyPr wrap="square" lIns="0" rIns="0" tIns="0" bIns="0" anchor="t">
            <a:spAutoFit/>
          </a:bodyPr>
          <a:lstStyle/>
          <a:p>
            <a:pPr algn="l">
              <a:lnSpc>
                <a:spcPct val="110000"/>
              </a:lnSpc>
            </a:pPr>
            <a:r>
              <a:rPr sz="2000" b="0" i="0">
                <a:solidFill>
                  <a:srgbClr val="182534"/>
                </a:solidFill>
                <a:latin typeface="Fraunces"/>
              </a:rPr>
              <a:t>Human-in-the-loop</a:t>
            </a:r>
          </a:p>
        </p:txBody>
      </p:sp>
      <p:sp>
        <p:nvSpPr>
          <p:cNvPr id="18" name="TextBox 17"/>
          <p:cNvSpPr txBox="1"/>
          <p:nvPr/>
        </p:nvSpPr>
        <p:spPr>
          <a:xfrm>
            <a:off x="8097316" y="3246120"/>
            <a:ext cx="3271418" cy="1280160"/>
          </a:xfrm>
          <a:prstGeom prst="rect">
            <a:avLst/>
          </a:prstGeom>
          <a:noFill/>
        </p:spPr>
        <p:txBody>
          <a:bodyPr wrap="square" lIns="0" rIns="0" tIns="0" bIns="0" anchor="t">
            <a:spAutoFit/>
          </a:bodyPr>
          <a:lstStyle/>
          <a:p>
            <a:pPr algn="l">
              <a:lnSpc>
                <a:spcPct val="155000"/>
              </a:lnSpc>
            </a:pPr>
            <a:r>
              <a:rPr sz="1200" b="0" i="0">
                <a:solidFill>
                  <a:srgbClr val="6D6E71"/>
                </a:solidFill>
                <a:latin typeface="Newsreader"/>
              </a:rPr>
              <a:t>Humans handle exceptions and decisions of consequence. They sit at the seam, not at the start.</a:t>
            </a:r>
          </a:p>
        </p:txBody>
      </p:sp>
      <p:sp>
        <p:nvSpPr>
          <p:cNvPr id="19" name="Rectangle 18"/>
          <p:cNvSpPr/>
          <p:nvPr/>
        </p:nvSpPr>
        <p:spPr>
          <a:xfrm>
            <a:off x="640080" y="4343400"/>
            <a:ext cx="32004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507992"/>
            <a:ext cx="1371600" cy="457200"/>
          </a:xfrm>
          <a:prstGeom prst="rect">
            <a:avLst/>
          </a:prstGeom>
          <a:noFill/>
        </p:spPr>
        <p:txBody>
          <a:bodyPr wrap="square" lIns="0" rIns="0" tIns="0" bIns="0" anchor="t">
            <a:spAutoFit/>
          </a:bodyPr>
          <a:lstStyle/>
          <a:p>
            <a:pPr algn="l">
              <a:lnSpc>
                <a:spcPct val="100000"/>
              </a:lnSpc>
            </a:pPr>
            <a:r>
              <a:rPr sz="2200" b="0" i="1">
                <a:solidFill>
                  <a:srgbClr val="007CC3"/>
                </a:solidFill>
                <a:latin typeface="Fraunces"/>
              </a:rPr>
              <a:t>iv.</a:t>
            </a:r>
          </a:p>
        </p:txBody>
      </p:sp>
      <p:sp>
        <p:nvSpPr>
          <p:cNvPr id="21" name="TextBox 20"/>
          <p:cNvSpPr txBox="1"/>
          <p:nvPr/>
        </p:nvSpPr>
        <p:spPr>
          <a:xfrm>
            <a:off x="640080" y="5120640"/>
            <a:ext cx="3271418" cy="457200"/>
          </a:xfrm>
          <a:prstGeom prst="rect">
            <a:avLst/>
          </a:prstGeom>
          <a:noFill/>
        </p:spPr>
        <p:txBody>
          <a:bodyPr wrap="square" lIns="0" rIns="0" tIns="0" bIns="0" anchor="t">
            <a:spAutoFit/>
          </a:bodyPr>
          <a:lstStyle/>
          <a:p>
            <a:pPr algn="l">
              <a:lnSpc>
                <a:spcPct val="110000"/>
              </a:lnSpc>
            </a:pPr>
            <a:r>
              <a:rPr sz="2000" b="0" i="0">
                <a:solidFill>
                  <a:srgbClr val="182534"/>
                </a:solidFill>
                <a:latin typeface="Fraunces"/>
              </a:rPr>
              <a:t>Observability</a:t>
            </a:r>
          </a:p>
        </p:txBody>
      </p:sp>
      <p:sp>
        <p:nvSpPr>
          <p:cNvPr id="22" name="TextBox 21"/>
          <p:cNvSpPr txBox="1"/>
          <p:nvPr/>
        </p:nvSpPr>
        <p:spPr>
          <a:xfrm>
            <a:off x="640080" y="5715000"/>
            <a:ext cx="3271418" cy="1280160"/>
          </a:xfrm>
          <a:prstGeom prst="rect">
            <a:avLst/>
          </a:prstGeom>
          <a:noFill/>
        </p:spPr>
        <p:txBody>
          <a:bodyPr wrap="square" lIns="0" rIns="0" tIns="0" bIns="0" anchor="t">
            <a:spAutoFit/>
          </a:bodyPr>
          <a:lstStyle/>
          <a:p>
            <a:pPr algn="l">
              <a:lnSpc>
                <a:spcPct val="155000"/>
              </a:lnSpc>
            </a:pPr>
            <a:r>
              <a:rPr sz="1200" b="0" i="0">
                <a:solidFill>
                  <a:srgbClr val="6D6E71"/>
                </a:solidFill>
                <a:latin typeface="Newsreader"/>
              </a:rPr>
              <a:t>Every step is logged, replayable, and scored. What you cannot measure, you cannot improve.</a:t>
            </a:r>
          </a:p>
        </p:txBody>
      </p:sp>
      <p:sp>
        <p:nvSpPr>
          <p:cNvPr id="23" name="Rectangle 22"/>
          <p:cNvSpPr/>
          <p:nvPr/>
        </p:nvSpPr>
        <p:spPr>
          <a:xfrm>
            <a:off x="4368698" y="4343400"/>
            <a:ext cx="32004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68698" y="4507992"/>
            <a:ext cx="1371600" cy="457200"/>
          </a:xfrm>
          <a:prstGeom prst="rect">
            <a:avLst/>
          </a:prstGeom>
          <a:noFill/>
        </p:spPr>
        <p:txBody>
          <a:bodyPr wrap="square" lIns="0" rIns="0" tIns="0" bIns="0" anchor="t">
            <a:spAutoFit/>
          </a:bodyPr>
          <a:lstStyle/>
          <a:p>
            <a:pPr algn="l">
              <a:lnSpc>
                <a:spcPct val="100000"/>
              </a:lnSpc>
            </a:pPr>
            <a:r>
              <a:rPr sz="2200" b="0" i="1">
                <a:solidFill>
                  <a:srgbClr val="007CC3"/>
                </a:solidFill>
                <a:latin typeface="Fraunces"/>
              </a:rPr>
              <a:t>v.</a:t>
            </a:r>
          </a:p>
        </p:txBody>
      </p:sp>
      <p:sp>
        <p:nvSpPr>
          <p:cNvPr id="25" name="TextBox 24"/>
          <p:cNvSpPr txBox="1"/>
          <p:nvPr/>
        </p:nvSpPr>
        <p:spPr>
          <a:xfrm>
            <a:off x="4368698" y="5120640"/>
            <a:ext cx="3271418" cy="457200"/>
          </a:xfrm>
          <a:prstGeom prst="rect">
            <a:avLst/>
          </a:prstGeom>
          <a:noFill/>
        </p:spPr>
        <p:txBody>
          <a:bodyPr wrap="square" lIns="0" rIns="0" tIns="0" bIns="0" anchor="t">
            <a:spAutoFit/>
          </a:bodyPr>
          <a:lstStyle/>
          <a:p>
            <a:pPr algn="l">
              <a:lnSpc>
                <a:spcPct val="110000"/>
              </a:lnSpc>
            </a:pPr>
            <a:r>
              <a:rPr sz="2000" b="0" i="0">
                <a:solidFill>
                  <a:srgbClr val="182534"/>
                </a:solidFill>
                <a:latin typeface="Fraunces"/>
              </a:rPr>
              <a:t>Governance</a:t>
            </a:r>
          </a:p>
        </p:txBody>
      </p:sp>
      <p:sp>
        <p:nvSpPr>
          <p:cNvPr id="26" name="TextBox 25"/>
          <p:cNvSpPr txBox="1"/>
          <p:nvPr/>
        </p:nvSpPr>
        <p:spPr>
          <a:xfrm>
            <a:off x="4368698" y="5715000"/>
            <a:ext cx="3271418" cy="1280160"/>
          </a:xfrm>
          <a:prstGeom prst="rect">
            <a:avLst/>
          </a:prstGeom>
          <a:noFill/>
        </p:spPr>
        <p:txBody>
          <a:bodyPr wrap="square" lIns="0" rIns="0" tIns="0" bIns="0" anchor="t">
            <a:spAutoFit/>
          </a:bodyPr>
          <a:lstStyle/>
          <a:p>
            <a:pPr algn="l">
              <a:lnSpc>
                <a:spcPct val="155000"/>
              </a:lnSpc>
            </a:pPr>
            <a:r>
              <a:rPr sz="1200" b="0" i="0">
                <a:solidFill>
                  <a:srgbClr val="6D6E71"/>
                </a:solidFill>
                <a:latin typeface="Newsreader"/>
              </a:rPr>
              <a:t>Model risk, audit trail, regulator-readable explanations are designed in, not bolted on.</a:t>
            </a:r>
          </a:p>
        </p:txBody>
      </p:sp>
      <p:sp>
        <p:nvSpPr>
          <p:cNvPr id="27" name="Rectangle 26"/>
          <p:cNvSpPr/>
          <p:nvPr/>
        </p:nvSpPr>
        <p:spPr>
          <a:xfrm>
            <a:off x="8097316" y="4343400"/>
            <a:ext cx="32004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97316" y="4507992"/>
            <a:ext cx="1371600" cy="457200"/>
          </a:xfrm>
          <a:prstGeom prst="rect">
            <a:avLst/>
          </a:prstGeom>
          <a:noFill/>
        </p:spPr>
        <p:txBody>
          <a:bodyPr wrap="square" lIns="0" rIns="0" tIns="0" bIns="0" anchor="t">
            <a:spAutoFit/>
          </a:bodyPr>
          <a:lstStyle/>
          <a:p>
            <a:pPr algn="l">
              <a:lnSpc>
                <a:spcPct val="100000"/>
              </a:lnSpc>
            </a:pPr>
            <a:r>
              <a:rPr sz="2200" b="0" i="1">
                <a:solidFill>
                  <a:srgbClr val="007CC3"/>
                </a:solidFill>
                <a:latin typeface="Fraunces"/>
              </a:rPr>
              <a:t>vi.</a:t>
            </a:r>
          </a:p>
        </p:txBody>
      </p:sp>
      <p:sp>
        <p:nvSpPr>
          <p:cNvPr id="29" name="TextBox 28"/>
          <p:cNvSpPr txBox="1"/>
          <p:nvPr/>
        </p:nvSpPr>
        <p:spPr>
          <a:xfrm>
            <a:off x="8097316" y="5120640"/>
            <a:ext cx="3271418" cy="457200"/>
          </a:xfrm>
          <a:prstGeom prst="rect">
            <a:avLst/>
          </a:prstGeom>
          <a:noFill/>
        </p:spPr>
        <p:txBody>
          <a:bodyPr wrap="square" lIns="0" rIns="0" tIns="0" bIns="0" anchor="t">
            <a:spAutoFit/>
          </a:bodyPr>
          <a:lstStyle/>
          <a:p>
            <a:pPr algn="l">
              <a:lnSpc>
                <a:spcPct val="110000"/>
              </a:lnSpc>
            </a:pPr>
            <a:r>
              <a:rPr sz="2000" b="0" i="0">
                <a:solidFill>
                  <a:srgbClr val="182534"/>
                </a:solidFill>
                <a:latin typeface="Fraunces"/>
              </a:rPr>
              <a:t>Talent</a:t>
            </a:r>
          </a:p>
        </p:txBody>
      </p:sp>
      <p:sp>
        <p:nvSpPr>
          <p:cNvPr id="30" name="TextBox 29"/>
          <p:cNvSpPr txBox="1"/>
          <p:nvPr/>
        </p:nvSpPr>
        <p:spPr>
          <a:xfrm>
            <a:off x="8097316" y="5715000"/>
            <a:ext cx="3271418" cy="1280160"/>
          </a:xfrm>
          <a:prstGeom prst="rect">
            <a:avLst/>
          </a:prstGeom>
          <a:noFill/>
        </p:spPr>
        <p:txBody>
          <a:bodyPr wrap="square" lIns="0" rIns="0" tIns="0" bIns="0" anchor="t">
            <a:spAutoFit/>
          </a:bodyPr>
          <a:lstStyle/>
          <a:p>
            <a:pPr algn="l">
              <a:lnSpc>
                <a:spcPct val="155000"/>
              </a:lnSpc>
            </a:pPr>
            <a:r>
              <a:rPr sz="1200" b="0" i="0">
                <a:solidFill>
                  <a:srgbClr val="6D6E71"/>
                </a:solidFill>
                <a:latin typeface="Newsreader"/>
              </a:rPr>
              <a:t>New operating roles: agent designer, agent-ops, agent product manager. The org chart shifts.</a:t>
            </a:r>
          </a:p>
        </p:txBody>
      </p:sp>
      <p:cxnSp>
        <p:nvCxnSpPr>
          <p:cNvPr id="31" name="Connector 30"/>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33" name="TextBox 32"/>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07 /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The bank, redrawn: where the unit of work changes</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REFRAME  ·  HOT-SPOTS</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II   ·   HOT-SPOTS</a:t>
            </a:r>
          </a:p>
        </p:txBody>
      </p:sp>
      <p:sp>
        <p:nvSpPr>
          <p:cNvPr id="6" name="TextBox 5"/>
          <p:cNvSpPr txBox="1"/>
          <p:nvPr/>
        </p:nvSpPr>
        <p:spPr>
          <a:xfrm>
            <a:off x="640080" y="1005840"/>
            <a:ext cx="10911535" cy="548640"/>
          </a:xfrm>
          <a:prstGeom prst="rect">
            <a:avLst/>
          </a:prstGeom>
          <a:noFill/>
        </p:spPr>
        <p:txBody>
          <a:bodyPr wrap="square" lIns="0" rIns="0" tIns="0" bIns="0" anchor="t">
            <a:spAutoFit/>
          </a:bodyPr>
          <a:lstStyle/>
          <a:p>
            <a:pPr algn="l">
              <a:lnSpc>
                <a:spcPct val="150000"/>
              </a:lnSpc>
            </a:pPr>
            <a:r>
              <a:rPr sz="1300" b="0" i="1">
                <a:solidFill>
                  <a:srgbClr val="6D6E71"/>
                </a:solidFill>
                <a:latin typeface="Newsreader"/>
              </a:rPr>
              <a:t>A finite set of processes are candidates for agent-native redesign. The blue marks show where the work itself changes shape.</a:t>
            </a:r>
          </a:p>
        </p:txBody>
      </p:sp>
      <p:sp>
        <p:nvSpPr>
          <p:cNvPr id="7" name="TextBox 6"/>
          <p:cNvSpPr txBox="1"/>
          <p:nvPr/>
        </p:nvSpPr>
        <p:spPr>
          <a:xfrm>
            <a:off x="640080" y="1874520"/>
            <a:ext cx="3454298" cy="27432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FRONT OFFICE</a:t>
            </a:r>
          </a:p>
        </p:txBody>
      </p:sp>
      <p:sp>
        <p:nvSpPr>
          <p:cNvPr id="8" name="Rectangle 7"/>
          <p:cNvSpPr/>
          <p:nvPr/>
        </p:nvSpPr>
        <p:spPr>
          <a:xfrm>
            <a:off x="640080" y="2167128"/>
            <a:ext cx="3454298"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86000"/>
            <a:ext cx="3454298" cy="365760"/>
          </a:xfrm>
          <a:prstGeom prst="rect">
            <a:avLst/>
          </a:prstGeom>
          <a:noFill/>
        </p:spPr>
        <p:txBody>
          <a:bodyPr wrap="square" lIns="0" rIns="0" tIns="0" bIns="0" anchor="t">
            <a:spAutoFit/>
          </a:bodyPr>
          <a:lstStyle/>
          <a:p>
            <a:pPr algn="l">
              <a:lnSpc>
                <a:spcPct val="120000"/>
              </a:lnSpc>
            </a:pPr>
            <a:r>
              <a:rPr sz="1400" b="0" i="1">
                <a:solidFill>
                  <a:srgbClr val="182534"/>
                </a:solidFill>
                <a:latin typeface="Fraunces"/>
              </a:rPr>
              <a:t>Customer, advisor, channel-facing</a:t>
            </a:r>
          </a:p>
        </p:txBody>
      </p:sp>
      <p:sp>
        <p:nvSpPr>
          <p:cNvPr id="10" name="Oval 9"/>
          <p:cNvSpPr/>
          <p:nvPr/>
        </p:nvSpPr>
        <p:spPr>
          <a:xfrm>
            <a:off x="685800" y="2971800"/>
            <a:ext cx="109728" cy="109728"/>
          </a:xfrm>
          <a:prstGeom prst="ellipse">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880360"/>
            <a:ext cx="3088538" cy="457200"/>
          </a:xfrm>
          <a:prstGeom prst="rect">
            <a:avLst/>
          </a:prstGeom>
          <a:noFill/>
        </p:spPr>
        <p:txBody>
          <a:bodyPr wrap="square" lIns="0" rIns="0" tIns="0" bIns="0" anchor="ctr">
            <a:spAutoFit/>
          </a:bodyPr>
          <a:lstStyle/>
          <a:p>
            <a:pPr algn="l">
              <a:lnSpc>
                <a:spcPct val="140000"/>
              </a:lnSpc>
            </a:pPr>
            <a:r>
              <a:rPr sz="1300" b="0" i="0">
                <a:solidFill>
                  <a:srgbClr val="404040"/>
                </a:solidFill>
                <a:latin typeface="Newsreader"/>
              </a:rPr>
              <a:t>Relationship banker copilot</a:t>
            </a:r>
          </a:p>
        </p:txBody>
      </p:sp>
      <p:sp>
        <p:nvSpPr>
          <p:cNvPr id="12" name="Oval 11"/>
          <p:cNvSpPr/>
          <p:nvPr/>
        </p:nvSpPr>
        <p:spPr>
          <a:xfrm>
            <a:off x="685800" y="3566160"/>
            <a:ext cx="109728" cy="109728"/>
          </a:xfrm>
          <a:prstGeom prst="ellipse">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474720"/>
            <a:ext cx="3088538" cy="457200"/>
          </a:xfrm>
          <a:prstGeom prst="rect">
            <a:avLst/>
          </a:prstGeom>
          <a:noFill/>
        </p:spPr>
        <p:txBody>
          <a:bodyPr wrap="square" lIns="0" rIns="0" tIns="0" bIns="0" anchor="ctr">
            <a:spAutoFit/>
          </a:bodyPr>
          <a:lstStyle/>
          <a:p>
            <a:pPr algn="l">
              <a:lnSpc>
                <a:spcPct val="140000"/>
              </a:lnSpc>
            </a:pPr>
            <a:r>
              <a:rPr sz="1300" b="0" i="0">
                <a:solidFill>
                  <a:srgbClr val="404040"/>
                </a:solidFill>
                <a:latin typeface="Newsreader"/>
              </a:rPr>
              <a:t>Wealth advisor co-pilot</a:t>
            </a:r>
          </a:p>
        </p:txBody>
      </p:sp>
      <p:sp>
        <p:nvSpPr>
          <p:cNvPr id="14" name="Oval 13"/>
          <p:cNvSpPr/>
          <p:nvPr/>
        </p:nvSpPr>
        <p:spPr>
          <a:xfrm>
            <a:off x="685800" y="4160520"/>
            <a:ext cx="109728" cy="109728"/>
          </a:xfrm>
          <a:prstGeom prst="ellipse">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69080"/>
            <a:ext cx="3088538" cy="457200"/>
          </a:xfrm>
          <a:prstGeom prst="rect">
            <a:avLst/>
          </a:prstGeom>
          <a:noFill/>
        </p:spPr>
        <p:txBody>
          <a:bodyPr wrap="square" lIns="0" rIns="0" tIns="0" bIns="0" anchor="ctr">
            <a:spAutoFit/>
          </a:bodyPr>
          <a:lstStyle/>
          <a:p>
            <a:pPr algn="l">
              <a:lnSpc>
                <a:spcPct val="140000"/>
              </a:lnSpc>
            </a:pPr>
            <a:r>
              <a:rPr sz="1300" b="0" i="0">
                <a:solidFill>
                  <a:srgbClr val="404040"/>
                </a:solidFill>
                <a:latin typeface="Newsreader"/>
              </a:rPr>
              <a:t>Digital channel agentic flows</a:t>
            </a:r>
          </a:p>
        </p:txBody>
      </p:sp>
      <p:sp>
        <p:nvSpPr>
          <p:cNvPr id="16" name="Oval 15"/>
          <p:cNvSpPr/>
          <p:nvPr/>
        </p:nvSpPr>
        <p:spPr>
          <a:xfrm>
            <a:off x="685800" y="4754880"/>
            <a:ext cx="109728" cy="109728"/>
          </a:xfrm>
          <a:prstGeom prst="ellipse">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663440"/>
            <a:ext cx="3088538" cy="457200"/>
          </a:xfrm>
          <a:prstGeom prst="rect">
            <a:avLst/>
          </a:prstGeom>
          <a:noFill/>
        </p:spPr>
        <p:txBody>
          <a:bodyPr wrap="square" lIns="0" rIns="0" tIns="0" bIns="0" anchor="ctr">
            <a:spAutoFit/>
          </a:bodyPr>
          <a:lstStyle/>
          <a:p>
            <a:pPr algn="l">
              <a:lnSpc>
                <a:spcPct val="140000"/>
              </a:lnSpc>
            </a:pPr>
            <a:r>
              <a:rPr sz="1300" b="0" i="0">
                <a:solidFill>
                  <a:srgbClr val="404040"/>
                </a:solidFill>
                <a:latin typeface="Newsreader"/>
              </a:rPr>
              <a:t>Contact-centre resolution agent</a:t>
            </a:r>
          </a:p>
        </p:txBody>
      </p:sp>
      <p:sp>
        <p:nvSpPr>
          <p:cNvPr id="18" name="TextBox 17"/>
          <p:cNvSpPr txBox="1"/>
          <p:nvPr/>
        </p:nvSpPr>
        <p:spPr>
          <a:xfrm>
            <a:off x="4368698" y="1874520"/>
            <a:ext cx="3454298" cy="27432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MIDDLE OFFICE</a:t>
            </a:r>
          </a:p>
        </p:txBody>
      </p:sp>
      <p:sp>
        <p:nvSpPr>
          <p:cNvPr id="19" name="Rectangle 18"/>
          <p:cNvSpPr/>
          <p:nvPr/>
        </p:nvSpPr>
        <p:spPr>
          <a:xfrm>
            <a:off x="4368698" y="2167128"/>
            <a:ext cx="3454298"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68698" y="2286000"/>
            <a:ext cx="3454298" cy="365760"/>
          </a:xfrm>
          <a:prstGeom prst="rect">
            <a:avLst/>
          </a:prstGeom>
          <a:noFill/>
        </p:spPr>
        <p:txBody>
          <a:bodyPr wrap="square" lIns="0" rIns="0" tIns="0" bIns="0" anchor="t">
            <a:spAutoFit/>
          </a:bodyPr>
          <a:lstStyle/>
          <a:p>
            <a:pPr algn="l">
              <a:lnSpc>
                <a:spcPct val="120000"/>
              </a:lnSpc>
            </a:pPr>
            <a:r>
              <a:rPr sz="1400" b="0" i="1">
                <a:solidFill>
                  <a:srgbClr val="182534"/>
                </a:solidFill>
                <a:latin typeface="Fraunces"/>
              </a:rPr>
              <a:t>Risk, ops, control</a:t>
            </a:r>
          </a:p>
        </p:txBody>
      </p:sp>
      <p:sp>
        <p:nvSpPr>
          <p:cNvPr id="21" name="Oval 20"/>
          <p:cNvSpPr/>
          <p:nvPr/>
        </p:nvSpPr>
        <p:spPr>
          <a:xfrm>
            <a:off x="4414418" y="2971800"/>
            <a:ext cx="109728" cy="109728"/>
          </a:xfrm>
          <a:prstGeom prst="ellipse">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43018" y="2880360"/>
            <a:ext cx="3088538" cy="457200"/>
          </a:xfrm>
          <a:prstGeom prst="rect">
            <a:avLst/>
          </a:prstGeom>
          <a:noFill/>
        </p:spPr>
        <p:txBody>
          <a:bodyPr wrap="square" lIns="0" rIns="0" tIns="0" bIns="0" anchor="ctr">
            <a:spAutoFit/>
          </a:bodyPr>
          <a:lstStyle/>
          <a:p>
            <a:pPr algn="l">
              <a:lnSpc>
                <a:spcPct val="140000"/>
              </a:lnSpc>
            </a:pPr>
            <a:r>
              <a:rPr sz="1300" b="0" i="0">
                <a:solidFill>
                  <a:srgbClr val="404040"/>
                </a:solidFill>
                <a:latin typeface="Newsreader"/>
              </a:rPr>
              <a:t>KYC &amp; onboarding orchestration</a:t>
            </a:r>
          </a:p>
        </p:txBody>
      </p:sp>
      <p:sp>
        <p:nvSpPr>
          <p:cNvPr id="23" name="Oval 22"/>
          <p:cNvSpPr/>
          <p:nvPr/>
        </p:nvSpPr>
        <p:spPr>
          <a:xfrm>
            <a:off x="4414418" y="3566160"/>
            <a:ext cx="109728" cy="109728"/>
          </a:xfrm>
          <a:prstGeom prst="ellipse">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43018" y="3474720"/>
            <a:ext cx="3088538" cy="457200"/>
          </a:xfrm>
          <a:prstGeom prst="rect">
            <a:avLst/>
          </a:prstGeom>
          <a:noFill/>
        </p:spPr>
        <p:txBody>
          <a:bodyPr wrap="square" lIns="0" rIns="0" tIns="0" bIns="0" anchor="ctr">
            <a:spAutoFit/>
          </a:bodyPr>
          <a:lstStyle/>
          <a:p>
            <a:pPr algn="l">
              <a:lnSpc>
                <a:spcPct val="140000"/>
              </a:lnSpc>
            </a:pPr>
            <a:r>
              <a:rPr sz="1300" b="0" i="0">
                <a:solidFill>
                  <a:srgbClr val="404040"/>
                </a:solidFill>
                <a:latin typeface="Newsreader"/>
              </a:rPr>
              <a:t>Credit underwriting &amp; memo</a:t>
            </a:r>
          </a:p>
        </p:txBody>
      </p:sp>
      <p:sp>
        <p:nvSpPr>
          <p:cNvPr id="25" name="Oval 24"/>
          <p:cNvSpPr/>
          <p:nvPr/>
        </p:nvSpPr>
        <p:spPr>
          <a:xfrm>
            <a:off x="4414418" y="4160520"/>
            <a:ext cx="109728" cy="109728"/>
          </a:xfrm>
          <a:prstGeom prst="ellipse">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43018" y="4069080"/>
            <a:ext cx="3088538" cy="457200"/>
          </a:xfrm>
          <a:prstGeom prst="rect">
            <a:avLst/>
          </a:prstGeom>
          <a:noFill/>
        </p:spPr>
        <p:txBody>
          <a:bodyPr wrap="square" lIns="0" rIns="0" tIns="0" bIns="0" anchor="ctr">
            <a:spAutoFit/>
          </a:bodyPr>
          <a:lstStyle/>
          <a:p>
            <a:pPr algn="l">
              <a:lnSpc>
                <a:spcPct val="140000"/>
              </a:lnSpc>
            </a:pPr>
            <a:r>
              <a:rPr sz="1300" b="0" i="0">
                <a:solidFill>
                  <a:srgbClr val="404040"/>
                </a:solidFill>
                <a:latin typeface="Newsreader"/>
              </a:rPr>
              <a:t>Dispute handling &amp; servicing</a:t>
            </a:r>
          </a:p>
        </p:txBody>
      </p:sp>
      <p:sp>
        <p:nvSpPr>
          <p:cNvPr id="27" name="Oval 26"/>
          <p:cNvSpPr/>
          <p:nvPr/>
        </p:nvSpPr>
        <p:spPr>
          <a:xfrm>
            <a:off x="4414418" y="4754880"/>
            <a:ext cx="109728" cy="109728"/>
          </a:xfrm>
          <a:prstGeom prst="ellipse">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3018" y="4663440"/>
            <a:ext cx="3088538" cy="457200"/>
          </a:xfrm>
          <a:prstGeom prst="rect">
            <a:avLst/>
          </a:prstGeom>
          <a:noFill/>
        </p:spPr>
        <p:txBody>
          <a:bodyPr wrap="square" lIns="0" rIns="0" tIns="0" bIns="0" anchor="ctr">
            <a:spAutoFit/>
          </a:bodyPr>
          <a:lstStyle/>
          <a:p>
            <a:pPr algn="l">
              <a:lnSpc>
                <a:spcPct val="140000"/>
              </a:lnSpc>
            </a:pPr>
            <a:r>
              <a:rPr sz="1300" b="0" i="0">
                <a:solidFill>
                  <a:srgbClr val="404040"/>
                </a:solidFill>
                <a:latin typeface="Newsreader"/>
              </a:rPr>
              <a:t>Fraud investigation co-pilot</a:t>
            </a:r>
          </a:p>
        </p:txBody>
      </p:sp>
      <p:sp>
        <p:nvSpPr>
          <p:cNvPr id="29" name="TextBox 28"/>
          <p:cNvSpPr txBox="1"/>
          <p:nvPr/>
        </p:nvSpPr>
        <p:spPr>
          <a:xfrm>
            <a:off x="8097316" y="1874520"/>
            <a:ext cx="3454298" cy="27432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BACK OFFICE</a:t>
            </a:r>
          </a:p>
        </p:txBody>
      </p:sp>
      <p:sp>
        <p:nvSpPr>
          <p:cNvPr id="30" name="Rectangle 29"/>
          <p:cNvSpPr/>
          <p:nvPr/>
        </p:nvSpPr>
        <p:spPr>
          <a:xfrm>
            <a:off x="8097316" y="2167128"/>
            <a:ext cx="3454298"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97316" y="2286000"/>
            <a:ext cx="3454298" cy="365760"/>
          </a:xfrm>
          <a:prstGeom prst="rect">
            <a:avLst/>
          </a:prstGeom>
          <a:noFill/>
        </p:spPr>
        <p:txBody>
          <a:bodyPr wrap="square" lIns="0" rIns="0" tIns="0" bIns="0" anchor="t">
            <a:spAutoFit/>
          </a:bodyPr>
          <a:lstStyle/>
          <a:p>
            <a:pPr algn="l">
              <a:lnSpc>
                <a:spcPct val="120000"/>
              </a:lnSpc>
            </a:pPr>
            <a:r>
              <a:rPr sz="1400" b="0" i="1">
                <a:solidFill>
                  <a:srgbClr val="182534"/>
                </a:solidFill>
                <a:latin typeface="Fraunces"/>
              </a:rPr>
              <a:t>Finance, ops, regulatory</a:t>
            </a:r>
          </a:p>
        </p:txBody>
      </p:sp>
      <p:sp>
        <p:nvSpPr>
          <p:cNvPr id="32" name="Oval 31"/>
          <p:cNvSpPr/>
          <p:nvPr/>
        </p:nvSpPr>
        <p:spPr>
          <a:xfrm>
            <a:off x="8143036" y="2971800"/>
            <a:ext cx="109728" cy="109728"/>
          </a:xfrm>
          <a:prstGeom prst="ellipse">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71636" y="2880360"/>
            <a:ext cx="3088538" cy="457200"/>
          </a:xfrm>
          <a:prstGeom prst="rect">
            <a:avLst/>
          </a:prstGeom>
          <a:noFill/>
        </p:spPr>
        <p:txBody>
          <a:bodyPr wrap="square" lIns="0" rIns="0" tIns="0" bIns="0" anchor="ctr">
            <a:spAutoFit/>
          </a:bodyPr>
          <a:lstStyle/>
          <a:p>
            <a:pPr algn="l">
              <a:lnSpc>
                <a:spcPct val="140000"/>
              </a:lnSpc>
            </a:pPr>
            <a:r>
              <a:rPr sz="1300" b="0" i="0">
                <a:solidFill>
                  <a:srgbClr val="404040"/>
                </a:solidFill>
                <a:latin typeface="Newsreader"/>
              </a:rPr>
              <a:t>Reconciliation &amp; break-resolution</a:t>
            </a:r>
          </a:p>
        </p:txBody>
      </p:sp>
      <p:sp>
        <p:nvSpPr>
          <p:cNvPr id="34" name="Oval 33"/>
          <p:cNvSpPr/>
          <p:nvPr/>
        </p:nvSpPr>
        <p:spPr>
          <a:xfrm>
            <a:off x="8143036" y="3566160"/>
            <a:ext cx="109728" cy="109728"/>
          </a:xfrm>
          <a:prstGeom prst="ellipse">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71636" y="3474720"/>
            <a:ext cx="3088538" cy="457200"/>
          </a:xfrm>
          <a:prstGeom prst="rect">
            <a:avLst/>
          </a:prstGeom>
          <a:noFill/>
        </p:spPr>
        <p:txBody>
          <a:bodyPr wrap="square" lIns="0" rIns="0" tIns="0" bIns="0" anchor="ctr">
            <a:spAutoFit/>
          </a:bodyPr>
          <a:lstStyle/>
          <a:p>
            <a:pPr algn="l">
              <a:lnSpc>
                <a:spcPct val="140000"/>
              </a:lnSpc>
            </a:pPr>
            <a:r>
              <a:rPr sz="1300" b="0" i="0">
                <a:solidFill>
                  <a:srgbClr val="404040"/>
                </a:solidFill>
                <a:latin typeface="Newsreader"/>
              </a:rPr>
              <a:t>Regulatory reporting drafting</a:t>
            </a:r>
          </a:p>
        </p:txBody>
      </p:sp>
      <p:sp>
        <p:nvSpPr>
          <p:cNvPr id="36" name="Oval 35"/>
          <p:cNvSpPr/>
          <p:nvPr/>
        </p:nvSpPr>
        <p:spPr>
          <a:xfrm>
            <a:off x="8143036" y="4160520"/>
            <a:ext cx="109728" cy="109728"/>
          </a:xfrm>
          <a:prstGeom prst="ellipse">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71636" y="4069080"/>
            <a:ext cx="3088538" cy="457200"/>
          </a:xfrm>
          <a:prstGeom prst="rect">
            <a:avLst/>
          </a:prstGeom>
          <a:noFill/>
        </p:spPr>
        <p:txBody>
          <a:bodyPr wrap="square" lIns="0" rIns="0" tIns="0" bIns="0" anchor="ctr">
            <a:spAutoFit/>
          </a:bodyPr>
          <a:lstStyle/>
          <a:p>
            <a:pPr algn="l">
              <a:lnSpc>
                <a:spcPct val="140000"/>
              </a:lnSpc>
            </a:pPr>
            <a:r>
              <a:rPr sz="1300" b="0" i="0">
                <a:solidFill>
                  <a:srgbClr val="404040"/>
                </a:solidFill>
                <a:latin typeface="Newsreader"/>
              </a:rPr>
              <a:t>Treasury &amp; liquidity ops</a:t>
            </a:r>
          </a:p>
        </p:txBody>
      </p:sp>
      <p:sp>
        <p:nvSpPr>
          <p:cNvPr id="38" name="Oval 37"/>
          <p:cNvSpPr/>
          <p:nvPr/>
        </p:nvSpPr>
        <p:spPr>
          <a:xfrm>
            <a:off x="8143036" y="4754880"/>
            <a:ext cx="109728" cy="109728"/>
          </a:xfrm>
          <a:prstGeom prst="ellipse">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71636" y="4663440"/>
            <a:ext cx="3088538" cy="457200"/>
          </a:xfrm>
          <a:prstGeom prst="rect">
            <a:avLst/>
          </a:prstGeom>
          <a:noFill/>
        </p:spPr>
        <p:txBody>
          <a:bodyPr wrap="square" lIns="0" rIns="0" tIns="0" bIns="0" anchor="ctr">
            <a:spAutoFit/>
          </a:bodyPr>
          <a:lstStyle/>
          <a:p>
            <a:pPr algn="l">
              <a:lnSpc>
                <a:spcPct val="140000"/>
              </a:lnSpc>
            </a:pPr>
            <a:r>
              <a:rPr sz="1300" b="0" i="0">
                <a:solidFill>
                  <a:srgbClr val="404040"/>
                </a:solidFill>
                <a:latin typeface="Newsreader"/>
              </a:rPr>
              <a:t>Audit &amp; compliance evidence</a:t>
            </a:r>
          </a:p>
        </p:txBody>
      </p:sp>
      <p:cxnSp>
        <p:nvCxnSpPr>
          <p:cNvPr id="40" name="Connector 39"/>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42" name="TextBox 41"/>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08 /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Onboarding &amp; KYC</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PROOF  ·  PATTERN 01</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III   ·   THREE PATTERNS</a:t>
            </a:r>
          </a:p>
        </p:txBody>
      </p:sp>
      <p:sp>
        <p:nvSpPr>
          <p:cNvPr id="6" name="TextBox 5"/>
          <p:cNvSpPr txBox="1"/>
          <p:nvPr/>
        </p:nvSpPr>
        <p:spPr>
          <a:xfrm>
            <a:off x="640080" y="1005840"/>
            <a:ext cx="10911535" cy="548640"/>
          </a:xfrm>
          <a:prstGeom prst="rect">
            <a:avLst/>
          </a:prstGeom>
          <a:noFill/>
        </p:spPr>
        <p:txBody>
          <a:bodyPr wrap="square" lIns="0" rIns="0" tIns="0" bIns="0" anchor="t">
            <a:spAutoFit/>
          </a:bodyPr>
          <a:lstStyle/>
          <a:p>
            <a:pPr algn="l">
              <a:lnSpc>
                <a:spcPct val="110000"/>
              </a:lnSpc>
            </a:pPr>
            <a:r>
              <a:rPr sz="2200" b="0" i="0">
                <a:solidFill>
                  <a:srgbClr val="182534"/>
                </a:solidFill>
                <a:latin typeface="Fraunces"/>
              </a:rPr>
              <a:t>14 systems, 11 handoffs, 9 days — and the analyst spent most of it moving documents.</a:t>
            </a:r>
          </a:p>
        </p:txBody>
      </p:sp>
      <p:sp>
        <p:nvSpPr>
          <p:cNvPr id="7" name="Rectangle 6"/>
          <p:cNvSpPr/>
          <p:nvPr/>
        </p:nvSpPr>
        <p:spPr>
          <a:xfrm>
            <a:off x="640080" y="1874520"/>
            <a:ext cx="5227167" cy="3291840"/>
          </a:xfrm>
          <a:prstGeom prst="rect">
            <a:avLst/>
          </a:prstGeom>
          <a:solidFill>
            <a:srgbClr val="F2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20"/>
            <a:ext cx="5227167" cy="274320"/>
          </a:xfrm>
          <a:prstGeom prst="rect">
            <a:avLst/>
          </a:prstGeom>
          <a:noFill/>
        </p:spPr>
        <p:txBody>
          <a:bodyPr wrap="square" lIns="0" rIns="0" tIns="0" bIns="0" anchor="t">
            <a:spAutoFit/>
          </a:bodyPr>
          <a:lstStyle/>
          <a:p>
            <a:pPr algn="l">
              <a:lnSpc>
                <a:spcPct val="135000"/>
              </a:lnSpc>
            </a:pPr>
            <a:r>
              <a:rPr sz="900" b="1" i="0">
                <a:solidFill>
                  <a:srgbClr val="6D6E71"/>
                </a:solidFill>
                <a:latin typeface="JetBrains Mono"/>
              </a:rPr>
              <a:t>TODAY</a:t>
            </a:r>
          </a:p>
        </p:txBody>
      </p:sp>
      <p:sp>
        <p:nvSpPr>
          <p:cNvPr id="9" name="Rectangle 8"/>
          <p:cNvSpPr/>
          <p:nvPr/>
        </p:nvSpPr>
        <p:spPr>
          <a:xfrm>
            <a:off x="914400" y="2377440"/>
            <a:ext cx="365760" cy="18288"/>
          </a:xfrm>
          <a:prstGeom prst="rect">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514600"/>
            <a:ext cx="4678527" cy="457200"/>
          </a:xfrm>
          <a:prstGeom prst="rect">
            <a:avLst/>
          </a:prstGeom>
          <a:noFill/>
        </p:spPr>
        <p:txBody>
          <a:bodyPr wrap="square" lIns="0" rIns="0" tIns="0" bIns="0" anchor="t">
            <a:spAutoFit/>
          </a:bodyPr>
          <a:lstStyle/>
          <a:p>
            <a:pPr algn="l">
              <a:lnSpc>
                <a:spcPct val="135000"/>
              </a:lnSpc>
            </a:pPr>
            <a:r>
              <a:rPr sz="2000" b="0" i="1">
                <a:solidFill>
                  <a:srgbClr val="182534"/>
                </a:solidFill>
                <a:latin typeface="Fraunces"/>
              </a:rPr>
              <a:t>The legacy process</a:t>
            </a:r>
          </a:p>
        </p:txBody>
      </p:sp>
      <p:sp>
        <p:nvSpPr>
          <p:cNvPr id="11" name="TextBox 10"/>
          <p:cNvSpPr txBox="1"/>
          <p:nvPr/>
        </p:nvSpPr>
        <p:spPr>
          <a:xfrm>
            <a:off x="914400" y="3154680"/>
            <a:ext cx="137160" cy="274320"/>
          </a:xfrm>
          <a:prstGeom prst="rect">
            <a:avLst/>
          </a:prstGeom>
          <a:noFill/>
        </p:spPr>
        <p:txBody>
          <a:bodyPr wrap="square" lIns="0" rIns="0" tIns="0" bIns="0" anchor="t">
            <a:spAutoFit/>
          </a:bodyPr>
          <a:lstStyle/>
          <a:p>
            <a:pPr algn="l">
              <a:lnSpc>
                <a:spcPct val="135000"/>
              </a:lnSpc>
            </a:pPr>
            <a:r>
              <a:rPr sz="1200" b="0" i="0">
                <a:solidFill>
                  <a:srgbClr val="A7A9AC"/>
                </a:solidFill>
                <a:latin typeface="Newsreader"/>
              </a:rPr>
              <a:t>—</a:t>
            </a:r>
          </a:p>
        </p:txBody>
      </p:sp>
      <p:sp>
        <p:nvSpPr>
          <p:cNvPr id="12" name="TextBox 11"/>
          <p:cNvSpPr txBox="1"/>
          <p:nvPr/>
        </p:nvSpPr>
        <p:spPr>
          <a:xfrm>
            <a:off x="1097280" y="3154680"/>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~14 systems, 11 handoffs</a:t>
            </a:r>
          </a:p>
        </p:txBody>
      </p:sp>
      <p:sp>
        <p:nvSpPr>
          <p:cNvPr id="13" name="TextBox 12"/>
          <p:cNvSpPr txBox="1"/>
          <p:nvPr/>
        </p:nvSpPr>
        <p:spPr>
          <a:xfrm>
            <a:off x="914400" y="3538728"/>
            <a:ext cx="137160" cy="274320"/>
          </a:xfrm>
          <a:prstGeom prst="rect">
            <a:avLst/>
          </a:prstGeom>
          <a:noFill/>
        </p:spPr>
        <p:txBody>
          <a:bodyPr wrap="square" lIns="0" rIns="0" tIns="0" bIns="0" anchor="t">
            <a:spAutoFit/>
          </a:bodyPr>
          <a:lstStyle/>
          <a:p>
            <a:pPr algn="l">
              <a:lnSpc>
                <a:spcPct val="135000"/>
              </a:lnSpc>
            </a:pPr>
            <a:r>
              <a:rPr sz="1200" b="0" i="0">
                <a:solidFill>
                  <a:srgbClr val="A7A9AC"/>
                </a:solidFill>
                <a:latin typeface="Newsreader"/>
              </a:rPr>
              <a:t>—</a:t>
            </a:r>
          </a:p>
        </p:txBody>
      </p:sp>
      <p:sp>
        <p:nvSpPr>
          <p:cNvPr id="14" name="TextBox 13"/>
          <p:cNvSpPr txBox="1"/>
          <p:nvPr/>
        </p:nvSpPr>
        <p:spPr>
          <a:xfrm>
            <a:off x="1097280" y="3538728"/>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9-day median TAT for commercial</a:t>
            </a:r>
          </a:p>
        </p:txBody>
      </p:sp>
      <p:sp>
        <p:nvSpPr>
          <p:cNvPr id="15" name="TextBox 14"/>
          <p:cNvSpPr txBox="1"/>
          <p:nvPr/>
        </p:nvSpPr>
        <p:spPr>
          <a:xfrm>
            <a:off x="914400" y="3922776"/>
            <a:ext cx="137160" cy="274320"/>
          </a:xfrm>
          <a:prstGeom prst="rect">
            <a:avLst/>
          </a:prstGeom>
          <a:noFill/>
        </p:spPr>
        <p:txBody>
          <a:bodyPr wrap="square" lIns="0" rIns="0" tIns="0" bIns="0" anchor="t">
            <a:spAutoFit/>
          </a:bodyPr>
          <a:lstStyle/>
          <a:p>
            <a:pPr algn="l">
              <a:lnSpc>
                <a:spcPct val="135000"/>
              </a:lnSpc>
            </a:pPr>
            <a:r>
              <a:rPr sz="1200" b="0" i="0">
                <a:solidFill>
                  <a:srgbClr val="A7A9AC"/>
                </a:solidFill>
                <a:latin typeface="Newsreader"/>
              </a:rPr>
              <a:t>—</a:t>
            </a:r>
          </a:p>
        </p:txBody>
      </p:sp>
      <p:sp>
        <p:nvSpPr>
          <p:cNvPr id="16" name="TextBox 15"/>
          <p:cNvSpPr txBox="1"/>
          <p:nvPr/>
        </p:nvSpPr>
        <p:spPr>
          <a:xfrm>
            <a:off x="1097280" y="3922776"/>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8–12% drop-off in customer journey</a:t>
            </a:r>
          </a:p>
        </p:txBody>
      </p:sp>
      <p:sp>
        <p:nvSpPr>
          <p:cNvPr id="17" name="TextBox 16"/>
          <p:cNvSpPr txBox="1"/>
          <p:nvPr/>
        </p:nvSpPr>
        <p:spPr>
          <a:xfrm>
            <a:off x="914400" y="4306824"/>
            <a:ext cx="137160" cy="274320"/>
          </a:xfrm>
          <a:prstGeom prst="rect">
            <a:avLst/>
          </a:prstGeom>
          <a:noFill/>
        </p:spPr>
        <p:txBody>
          <a:bodyPr wrap="square" lIns="0" rIns="0" tIns="0" bIns="0" anchor="t">
            <a:spAutoFit/>
          </a:bodyPr>
          <a:lstStyle/>
          <a:p>
            <a:pPr algn="l">
              <a:lnSpc>
                <a:spcPct val="135000"/>
              </a:lnSpc>
            </a:pPr>
            <a:r>
              <a:rPr sz="1200" b="0" i="0">
                <a:solidFill>
                  <a:srgbClr val="A7A9AC"/>
                </a:solidFill>
                <a:latin typeface="Newsreader"/>
              </a:rPr>
              <a:t>—</a:t>
            </a:r>
          </a:p>
        </p:txBody>
      </p:sp>
      <p:sp>
        <p:nvSpPr>
          <p:cNvPr id="18" name="TextBox 17"/>
          <p:cNvSpPr txBox="1"/>
          <p:nvPr/>
        </p:nvSpPr>
        <p:spPr>
          <a:xfrm>
            <a:off x="1097280" y="4306824"/>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Analyst-led, document-by-document review</a:t>
            </a:r>
          </a:p>
        </p:txBody>
      </p:sp>
      <p:sp>
        <p:nvSpPr>
          <p:cNvPr id="19" name="Rectangle 18"/>
          <p:cNvSpPr/>
          <p:nvPr/>
        </p:nvSpPr>
        <p:spPr>
          <a:xfrm>
            <a:off x="6086703" y="1874520"/>
            <a:ext cx="22860" cy="329184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30087" y="3383280"/>
            <a:ext cx="731520" cy="274320"/>
          </a:xfrm>
          <a:prstGeom prst="rect">
            <a:avLst/>
          </a:prstGeom>
          <a:noFill/>
        </p:spPr>
        <p:txBody>
          <a:bodyPr wrap="square" lIns="0" rIns="0" tIns="0" bIns="0" anchor="ctr">
            <a:spAutoFit/>
          </a:bodyPr>
          <a:lstStyle/>
          <a:p>
            <a:pPr algn="ctr">
              <a:lnSpc>
                <a:spcPct val="135000"/>
              </a:lnSpc>
            </a:pPr>
            <a:r>
              <a:rPr sz="700" b="1" i="0">
                <a:solidFill>
                  <a:srgbClr val="007CC3"/>
                </a:solidFill>
                <a:latin typeface="JetBrains Mono"/>
              </a:rPr>
              <a:t>SEAM</a:t>
            </a:r>
          </a:p>
        </p:txBody>
      </p:sp>
      <p:sp>
        <p:nvSpPr>
          <p:cNvPr id="21" name="Rectangle 20"/>
          <p:cNvSpPr/>
          <p:nvPr/>
        </p:nvSpPr>
        <p:spPr>
          <a:xfrm>
            <a:off x="6324447" y="1874520"/>
            <a:ext cx="5227167" cy="3291840"/>
          </a:xfrm>
          <a:prstGeom prst="rect">
            <a:avLst/>
          </a:prstGeom>
          <a:solidFill>
            <a:srgbClr val="E6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8767" y="2103120"/>
            <a:ext cx="5227167"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REDESIGNED</a:t>
            </a:r>
          </a:p>
        </p:txBody>
      </p:sp>
      <p:sp>
        <p:nvSpPr>
          <p:cNvPr id="23" name="Rectangle 22"/>
          <p:cNvSpPr/>
          <p:nvPr/>
        </p:nvSpPr>
        <p:spPr>
          <a:xfrm>
            <a:off x="6598767" y="2377440"/>
            <a:ext cx="365760" cy="18288"/>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8767" y="2514600"/>
            <a:ext cx="4678527" cy="457200"/>
          </a:xfrm>
          <a:prstGeom prst="rect">
            <a:avLst/>
          </a:prstGeom>
          <a:noFill/>
        </p:spPr>
        <p:txBody>
          <a:bodyPr wrap="square" lIns="0" rIns="0" tIns="0" bIns="0" anchor="t">
            <a:spAutoFit/>
          </a:bodyPr>
          <a:lstStyle/>
          <a:p>
            <a:pPr algn="l">
              <a:lnSpc>
                <a:spcPct val="135000"/>
              </a:lnSpc>
            </a:pPr>
            <a:r>
              <a:rPr sz="2000" b="0" i="1">
                <a:solidFill>
                  <a:srgbClr val="182534"/>
                </a:solidFill>
                <a:latin typeface="Fraunces"/>
              </a:rPr>
              <a:t>The agent-native version</a:t>
            </a:r>
          </a:p>
        </p:txBody>
      </p:sp>
      <p:sp>
        <p:nvSpPr>
          <p:cNvPr id="25" name="TextBox 24"/>
          <p:cNvSpPr txBox="1"/>
          <p:nvPr/>
        </p:nvSpPr>
        <p:spPr>
          <a:xfrm>
            <a:off x="6598767" y="3154680"/>
            <a:ext cx="137160" cy="274320"/>
          </a:xfrm>
          <a:prstGeom prst="rect">
            <a:avLst/>
          </a:prstGeom>
          <a:noFill/>
        </p:spPr>
        <p:txBody>
          <a:bodyPr wrap="square" lIns="0" rIns="0" tIns="0" bIns="0" anchor="t">
            <a:spAutoFit/>
          </a:bodyPr>
          <a:lstStyle/>
          <a:p>
            <a:pPr algn="l">
              <a:lnSpc>
                <a:spcPct val="135000"/>
              </a:lnSpc>
            </a:pPr>
            <a:r>
              <a:rPr sz="1200" b="1" i="0">
                <a:solidFill>
                  <a:srgbClr val="007CC3"/>
                </a:solidFill>
                <a:latin typeface="JetBrains Mono"/>
              </a:rPr>
              <a:t>+</a:t>
            </a:r>
          </a:p>
        </p:txBody>
      </p:sp>
      <p:sp>
        <p:nvSpPr>
          <p:cNvPr id="26" name="TextBox 25"/>
          <p:cNvSpPr txBox="1"/>
          <p:nvPr/>
        </p:nvSpPr>
        <p:spPr>
          <a:xfrm>
            <a:off x="6781647" y="3154680"/>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Single orchestrated agent flow</a:t>
            </a:r>
          </a:p>
        </p:txBody>
      </p:sp>
      <p:sp>
        <p:nvSpPr>
          <p:cNvPr id="27" name="TextBox 26"/>
          <p:cNvSpPr txBox="1"/>
          <p:nvPr/>
        </p:nvSpPr>
        <p:spPr>
          <a:xfrm>
            <a:off x="6598767" y="3538728"/>
            <a:ext cx="137160" cy="274320"/>
          </a:xfrm>
          <a:prstGeom prst="rect">
            <a:avLst/>
          </a:prstGeom>
          <a:noFill/>
        </p:spPr>
        <p:txBody>
          <a:bodyPr wrap="square" lIns="0" rIns="0" tIns="0" bIns="0" anchor="t">
            <a:spAutoFit/>
          </a:bodyPr>
          <a:lstStyle/>
          <a:p>
            <a:pPr algn="l">
              <a:lnSpc>
                <a:spcPct val="135000"/>
              </a:lnSpc>
            </a:pPr>
            <a:r>
              <a:rPr sz="1200" b="1" i="0">
                <a:solidFill>
                  <a:srgbClr val="007CC3"/>
                </a:solidFill>
                <a:latin typeface="JetBrains Mono"/>
              </a:rPr>
              <a:t>+</a:t>
            </a:r>
          </a:p>
        </p:txBody>
      </p:sp>
      <p:sp>
        <p:nvSpPr>
          <p:cNvPr id="28" name="TextBox 27"/>
          <p:cNvSpPr txBox="1"/>
          <p:nvPr/>
        </p:nvSpPr>
        <p:spPr>
          <a:xfrm>
            <a:off x="6781647" y="3538728"/>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Documents read, profiles drafted, risk tiered</a:t>
            </a:r>
          </a:p>
        </p:txBody>
      </p:sp>
      <p:sp>
        <p:nvSpPr>
          <p:cNvPr id="29" name="TextBox 28"/>
          <p:cNvSpPr txBox="1"/>
          <p:nvPr/>
        </p:nvSpPr>
        <p:spPr>
          <a:xfrm>
            <a:off x="6598767" y="3922776"/>
            <a:ext cx="137160" cy="274320"/>
          </a:xfrm>
          <a:prstGeom prst="rect">
            <a:avLst/>
          </a:prstGeom>
          <a:noFill/>
        </p:spPr>
        <p:txBody>
          <a:bodyPr wrap="square" lIns="0" rIns="0" tIns="0" bIns="0" anchor="t">
            <a:spAutoFit/>
          </a:bodyPr>
          <a:lstStyle/>
          <a:p>
            <a:pPr algn="l">
              <a:lnSpc>
                <a:spcPct val="135000"/>
              </a:lnSpc>
            </a:pPr>
            <a:r>
              <a:rPr sz="1200" b="1" i="0">
                <a:solidFill>
                  <a:srgbClr val="007CC3"/>
                </a:solidFill>
                <a:latin typeface="JetBrains Mono"/>
              </a:rPr>
              <a:t>+</a:t>
            </a:r>
          </a:p>
        </p:txBody>
      </p:sp>
      <p:sp>
        <p:nvSpPr>
          <p:cNvPr id="30" name="TextBox 29"/>
          <p:cNvSpPr txBox="1"/>
          <p:nvPr/>
        </p:nvSpPr>
        <p:spPr>
          <a:xfrm>
            <a:off x="6781647" y="3922776"/>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Humans approve only mid/high-risk cases</a:t>
            </a:r>
          </a:p>
        </p:txBody>
      </p:sp>
      <p:sp>
        <p:nvSpPr>
          <p:cNvPr id="31" name="TextBox 30"/>
          <p:cNvSpPr txBox="1"/>
          <p:nvPr/>
        </p:nvSpPr>
        <p:spPr>
          <a:xfrm>
            <a:off x="6598767" y="4306824"/>
            <a:ext cx="137160" cy="274320"/>
          </a:xfrm>
          <a:prstGeom prst="rect">
            <a:avLst/>
          </a:prstGeom>
          <a:noFill/>
        </p:spPr>
        <p:txBody>
          <a:bodyPr wrap="square" lIns="0" rIns="0" tIns="0" bIns="0" anchor="t">
            <a:spAutoFit/>
          </a:bodyPr>
          <a:lstStyle/>
          <a:p>
            <a:pPr algn="l">
              <a:lnSpc>
                <a:spcPct val="135000"/>
              </a:lnSpc>
            </a:pPr>
            <a:r>
              <a:rPr sz="1200" b="1" i="0">
                <a:solidFill>
                  <a:srgbClr val="007CC3"/>
                </a:solidFill>
                <a:latin typeface="JetBrains Mono"/>
              </a:rPr>
              <a:t>+</a:t>
            </a:r>
          </a:p>
        </p:txBody>
      </p:sp>
      <p:sp>
        <p:nvSpPr>
          <p:cNvPr id="32" name="TextBox 31"/>
          <p:cNvSpPr txBox="1"/>
          <p:nvPr/>
        </p:nvSpPr>
        <p:spPr>
          <a:xfrm>
            <a:off x="6781647" y="4306824"/>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Audit trail generated continuously</a:t>
            </a:r>
          </a:p>
        </p:txBody>
      </p:sp>
      <p:sp>
        <p:nvSpPr>
          <p:cNvPr id="33" name="TextBox 32"/>
          <p:cNvSpPr txBox="1"/>
          <p:nvPr/>
        </p:nvSpPr>
        <p:spPr>
          <a:xfrm>
            <a:off x="640080" y="5486400"/>
            <a:ext cx="10911535"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REDESIGN PRINCIPLES</a:t>
            </a:r>
          </a:p>
        </p:txBody>
      </p:sp>
      <p:sp>
        <p:nvSpPr>
          <p:cNvPr id="34" name="Rectangle 33"/>
          <p:cNvSpPr/>
          <p:nvPr/>
        </p:nvSpPr>
        <p:spPr>
          <a:xfrm>
            <a:off x="640080" y="5806440"/>
            <a:ext cx="27432" cy="64008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806440"/>
            <a:ext cx="3271418" cy="777240"/>
          </a:xfrm>
          <a:prstGeom prst="rect">
            <a:avLst/>
          </a:prstGeom>
          <a:noFill/>
        </p:spPr>
        <p:txBody>
          <a:bodyPr wrap="square" lIns="0" rIns="0" tIns="0" bIns="0" anchor="t">
            <a:spAutoFit/>
          </a:bodyPr>
          <a:lstStyle/>
          <a:p>
            <a:pPr algn="l">
              <a:lnSpc>
                <a:spcPct val="145000"/>
              </a:lnSpc>
            </a:pPr>
            <a:r>
              <a:rPr sz="1100" b="0" i="1">
                <a:solidFill>
                  <a:srgbClr val="182534"/>
                </a:solidFill>
                <a:latin typeface="Newsreader"/>
              </a:rPr>
              <a:t>The customer enters the system once. The system does the joining.</a:t>
            </a:r>
          </a:p>
        </p:txBody>
      </p:sp>
      <p:sp>
        <p:nvSpPr>
          <p:cNvPr id="36" name="Rectangle 35"/>
          <p:cNvSpPr/>
          <p:nvPr/>
        </p:nvSpPr>
        <p:spPr>
          <a:xfrm>
            <a:off x="4368698" y="5806440"/>
            <a:ext cx="27432" cy="64008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33290" y="5806440"/>
            <a:ext cx="3271418" cy="777240"/>
          </a:xfrm>
          <a:prstGeom prst="rect">
            <a:avLst/>
          </a:prstGeom>
          <a:noFill/>
        </p:spPr>
        <p:txBody>
          <a:bodyPr wrap="square" lIns="0" rIns="0" tIns="0" bIns="0" anchor="t">
            <a:spAutoFit/>
          </a:bodyPr>
          <a:lstStyle/>
          <a:p>
            <a:pPr algn="l">
              <a:lnSpc>
                <a:spcPct val="145000"/>
              </a:lnSpc>
            </a:pPr>
            <a:r>
              <a:rPr sz="1100" b="0" i="1">
                <a:solidFill>
                  <a:srgbClr val="182534"/>
                </a:solidFill>
                <a:latin typeface="Newsreader"/>
              </a:rPr>
              <a:t>Documents go to an agent first, an analyst second.</a:t>
            </a:r>
          </a:p>
        </p:txBody>
      </p:sp>
      <p:sp>
        <p:nvSpPr>
          <p:cNvPr id="38" name="Rectangle 37"/>
          <p:cNvSpPr/>
          <p:nvPr/>
        </p:nvSpPr>
        <p:spPr>
          <a:xfrm>
            <a:off x="8097316" y="5806440"/>
            <a:ext cx="27432" cy="64008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61908" y="5806440"/>
            <a:ext cx="3271418" cy="777240"/>
          </a:xfrm>
          <a:prstGeom prst="rect">
            <a:avLst/>
          </a:prstGeom>
          <a:noFill/>
        </p:spPr>
        <p:txBody>
          <a:bodyPr wrap="square" lIns="0" rIns="0" tIns="0" bIns="0" anchor="t">
            <a:spAutoFit/>
          </a:bodyPr>
          <a:lstStyle/>
          <a:p>
            <a:pPr algn="l">
              <a:lnSpc>
                <a:spcPct val="145000"/>
              </a:lnSpc>
            </a:pPr>
            <a:r>
              <a:rPr sz="1100" b="0" i="1">
                <a:solidFill>
                  <a:srgbClr val="182534"/>
                </a:solidFill>
                <a:latin typeface="Newsreader"/>
              </a:rPr>
              <a:t>Control sits in the orchestration layer, not the screens.</a:t>
            </a:r>
          </a:p>
        </p:txBody>
      </p:sp>
      <p:cxnSp>
        <p:nvCxnSpPr>
          <p:cNvPr id="40" name="Connector 39"/>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42" name="TextBox 41"/>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09 /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Credit underwriting &amp; decisioning</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PROOF  ·  PATTERN 02</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III   ·   THREE PATTERNS</a:t>
            </a:r>
          </a:p>
        </p:txBody>
      </p:sp>
      <p:sp>
        <p:nvSpPr>
          <p:cNvPr id="6" name="TextBox 5"/>
          <p:cNvSpPr txBox="1"/>
          <p:nvPr/>
        </p:nvSpPr>
        <p:spPr>
          <a:xfrm>
            <a:off x="640080" y="1005840"/>
            <a:ext cx="10911535" cy="548640"/>
          </a:xfrm>
          <a:prstGeom prst="rect">
            <a:avLst/>
          </a:prstGeom>
          <a:noFill/>
        </p:spPr>
        <p:txBody>
          <a:bodyPr wrap="square" lIns="0" rIns="0" tIns="0" bIns="0" anchor="t">
            <a:spAutoFit/>
          </a:bodyPr>
          <a:lstStyle/>
          <a:p>
            <a:pPr algn="l">
              <a:lnSpc>
                <a:spcPct val="110000"/>
              </a:lnSpc>
            </a:pPr>
            <a:r>
              <a:rPr sz="2200" b="0" i="1">
                <a:solidFill>
                  <a:srgbClr val="007CC3"/>
                </a:solidFill>
                <a:latin typeface="Fraunces"/>
              </a:rPr>
              <a:t>The memo is generated, not authored.</a:t>
            </a:r>
          </a:p>
          <a:p>
            <a:pPr algn="l">
              <a:lnSpc>
                <a:spcPct val="110000"/>
              </a:lnSpc>
            </a:pPr>
            <a:r>
              <a:rPr sz="2200" b="0" i="0">
                <a:solidFill>
                  <a:srgbClr val="182534"/>
                </a:solidFill>
                <a:latin typeface="Fraunces"/>
              </a:rPr>
              <a:t> The reviewer sees the working.</a:t>
            </a:r>
          </a:p>
        </p:txBody>
      </p:sp>
      <p:sp>
        <p:nvSpPr>
          <p:cNvPr id="7" name="Rectangle 6"/>
          <p:cNvSpPr/>
          <p:nvPr/>
        </p:nvSpPr>
        <p:spPr>
          <a:xfrm>
            <a:off x="640080" y="1874520"/>
            <a:ext cx="5227167" cy="3291840"/>
          </a:xfrm>
          <a:prstGeom prst="rect">
            <a:avLst/>
          </a:prstGeom>
          <a:solidFill>
            <a:srgbClr val="F2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20"/>
            <a:ext cx="5227167" cy="274320"/>
          </a:xfrm>
          <a:prstGeom prst="rect">
            <a:avLst/>
          </a:prstGeom>
          <a:noFill/>
        </p:spPr>
        <p:txBody>
          <a:bodyPr wrap="square" lIns="0" rIns="0" tIns="0" bIns="0" anchor="t">
            <a:spAutoFit/>
          </a:bodyPr>
          <a:lstStyle/>
          <a:p>
            <a:pPr algn="l">
              <a:lnSpc>
                <a:spcPct val="135000"/>
              </a:lnSpc>
            </a:pPr>
            <a:r>
              <a:rPr sz="900" b="1" i="0">
                <a:solidFill>
                  <a:srgbClr val="6D6E71"/>
                </a:solidFill>
                <a:latin typeface="JetBrains Mono"/>
              </a:rPr>
              <a:t>TODAY</a:t>
            </a:r>
          </a:p>
        </p:txBody>
      </p:sp>
      <p:sp>
        <p:nvSpPr>
          <p:cNvPr id="9" name="Rectangle 8"/>
          <p:cNvSpPr/>
          <p:nvPr/>
        </p:nvSpPr>
        <p:spPr>
          <a:xfrm>
            <a:off x="914400" y="2377440"/>
            <a:ext cx="365760" cy="18288"/>
          </a:xfrm>
          <a:prstGeom prst="rect">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514600"/>
            <a:ext cx="4678527" cy="457200"/>
          </a:xfrm>
          <a:prstGeom prst="rect">
            <a:avLst/>
          </a:prstGeom>
          <a:noFill/>
        </p:spPr>
        <p:txBody>
          <a:bodyPr wrap="square" lIns="0" rIns="0" tIns="0" bIns="0" anchor="t">
            <a:spAutoFit/>
          </a:bodyPr>
          <a:lstStyle/>
          <a:p>
            <a:pPr algn="l">
              <a:lnSpc>
                <a:spcPct val="135000"/>
              </a:lnSpc>
            </a:pPr>
            <a:r>
              <a:rPr sz="2000" b="0" i="1">
                <a:solidFill>
                  <a:srgbClr val="182534"/>
                </a:solidFill>
                <a:latin typeface="Fraunces"/>
              </a:rPr>
              <a:t>The legacy process</a:t>
            </a:r>
          </a:p>
        </p:txBody>
      </p:sp>
      <p:sp>
        <p:nvSpPr>
          <p:cNvPr id="11" name="TextBox 10"/>
          <p:cNvSpPr txBox="1"/>
          <p:nvPr/>
        </p:nvSpPr>
        <p:spPr>
          <a:xfrm>
            <a:off x="914400" y="3154680"/>
            <a:ext cx="137160" cy="274320"/>
          </a:xfrm>
          <a:prstGeom prst="rect">
            <a:avLst/>
          </a:prstGeom>
          <a:noFill/>
        </p:spPr>
        <p:txBody>
          <a:bodyPr wrap="square" lIns="0" rIns="0" tIns="0" bIns="0" anchor="t">
            <a:spAutoFit/>
          </a:bodyPr>
          <a:lstStyle/>
          <a:p>
            <a:pPr algn="l">
              <a:lnSpc>
                <a:spcPct val="135000"/>
              </a:lnSpc>
            </a:pPr>
            <a:r>
              <a:rPr sz="1200" b="0" i="0">
                <a:solidFill>
                  <a:srgbClr val="A7A9AC"/>
                </a:solidFill>
                <a:latin typeface="Newsreader"/>
              </a:rPr>
              <a:t>—</a:t>
            </a:r>
          </a:p>
        </p:txBody>
      </p:sp>
      <p:sp>
        <p:nvSpPr>
          <p:cNvPr id="12" name="TextBox 11"/>
          <p:cNvSpPr txBox="1"/>
          <p:nvPr/>
        </p:nvSpPr>
        <p:spPr>
          <a:xfrm>
            <a:off x="1097280" y="3154680"/>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Analyst pulls statements, spreads, market data</a:t>
            </a:r>
          </a:p>
        </p:txBody>
      </p:sp>
      <p:sp>
        <p:nvSpPr>
          <p:cNvPr id="13" name="TextBox 12"/>
          <p:cNvSpPr txBox="1"/>
          <p:nvPr/>
        </p:nvSpPr>
        <p:spPr>
          <a:xfrm>
            <a:off x="914400" y="3538728"/>
            <a:ext cx="137160" cy="274320"/>
          </a:xfrm>
          <a:prstGeom prst="rect">
            <a:avLst/>
          </a:prstGeom>
          <a:noFill/>
        </p:spPr>
        <p:txBody>
          <a:bodyPr wrap="square" lIns="0" rIns="0" tIns="0" bIns="0" anchor="t">
            <a:spAutoFit/>
          </a:bodyPr>
          <a:lstStyle/>
          <a:p>
            <a:pPr algn="l">
              <a:lnSpc>
                <a:spcPct val="135000"/>
              </a:lnSpc>
            </a:pPr>
            <a:r>
              <a:rPr sz="1200" b="0" i="0">
                <a:solidFill>
                  <a:srgbClr val="A7A9AC"/>
                </a:solidFill>
                <a:latin typeface="Newsreader"/>
              </a:rPr>
              <a:t>—</a:t>
            </a:r>
          </a:p>
        </p:txBody>
      </p:sp>
      <p:sp>
        <p:nvSpPr>
          <p:cNvPr id="14" name="TextBox 13"/>
          <p:cNvSpPr txBox="1"/>
          <p:nvPr/>
        </p:nvSpPr>
        <p:spPr>
          <a:xfrm>
            <a:off x="1097280" y="3538728"/>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Manual memo drafting over weeks</a:t>
            </a:r>
          </a:p>
        </p:txBody>
      </p:sp>
      <p:sp>
        <p:nvSpPr>
          <p:cNvPr id="15" name="TextBox 14"/>
          <p:cNvSpPr txBox="1"/>
          <p:nvPr/>
        </p:nvSpPr>
        <p:spPr>
          <a:xfrm>
            <a:off x="914400" y="3922776"/>
            <a:ext cx="137160" cy="274320"/>
          </a:xfrm>
          <a:prstGeom prst="rect">
            <a:avLst/>
          </a:prstGeom>
          <a:noFill/>
        </p:spPr>
        <p:txBody>
          <a:bodyPr wrap="square" lIns="0" rIns="0" tIns="0" bIns="0" anchor="t">
            <a:spAutoFit/>
          </a:bodyPr>
          <a:lstStyle/>
          <a:p>
            <a:pPr algn="l">
              <a:lnSpc>
                <a:spcPct val="135000"/>
              </a:lnSpc>
            </a:pPr>
            <a:r>
              <a:rPr sz="1200" b="0" i="0">
                <a:solidFill>
                  <a:srgbClr val="A7A9AC"/>
                </a:solidFill>
                <a:latin typeface="Newsreader"/>
              </a:rPr>
              <a:t>—</a:t>
            </a:r>
          </a:p>
        </p:txBody>
      </p:sp>
      <p:sp>
        <p:nvSpPr>
          <p:cNvPr id="16" name="TextBox 15"/>
          <p:cNvSpPr txBox="1"/>
          <p:nvPr/>
        </p:nvSpPr>
        <p:spPr>
          <a:xfrm>
            <a:off x="1097280" y="3922776"/>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Limited scenario coverage (2–3 cases)</a:t>
            </a:r>
          </a:p>
        </p:txBody>
      </p:sp>
      <p:sp>
        <p:nvSpPr>
          <p:cNvPr id="17" name="TextBox 16"/>
          <p:cNvSpPr txBox="1"/>
          <p:nvPr/>
        </p:nvSpPr>
        <p:spPr>
          <a:xfrm>
            <a:off x="914400" y="4306824"/>
            <a:ext cx="137160" cy="274320"/>
          </a:xfrm>
          <a:prstGeom prst="rect">
            <a:avLst/>
          </a:prstGeom>
          <a:noFill/>
        </p:spPr>
        <p:txBody>
          <a:bodyPr wrap="square" lIns="0" rIns="0" tIns="0" bIns="0" anchor="t">
            <a:spAutoFit/>
          </a:bodyPr>
          <a:lstStyle/>
          <a:p>
            <a:pPr algn="l">
              <a:lnSpc>
                <a:spcPct val="135000"/>
              </a:lnSpc>
            </a:pPr>
            <a:r>
              <a:rPr sz="1200" b="0" i="0">
                <a:solidFill>
                  <a:srgbClr val="A7A9AC"/>
                </a:solidFill>
                <a:latin typeface="Newsreader"/>
              </a:rPr>
              <a:t>—</a:t>
            </a:r>
          </a:p>
        </p:txBody>
      </p:sp>
      <p:sp>
        <p:nvSpPr>
          <p:cNvPr id="18" name="TextBox 17"/>
          <p:cNvSpPr txBox="1"/>
          <p:nvPr/>
        </p:nvSpPr>
        <p:spPr>
          <a:xfrm>
            <a:off x="1097280" y="4306824"/>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Reviewer sees the answer, rarely the working</a:t>
            </a:r>
          </a:p>
        </p:txBody>
      </p:sp>
      <p:sp>
        <p:nvSpPr>
          <p:cNvPr id="19" name="Rectangle 18"/>
          <p:cNvSpPr/>
          <p:nvPr/>
        </p:nvSpPr>
        <p:spPr>
          <a:xfrm>
            <a:off x="6086703" y="1874520"/>
            <a:ext cx="22860" cy="329184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30087" y="3383280"/>
            <a:ext cx="731520" cy="274320"/>
          </a:xfrm>
          <a:prstGeom prst="rect">
            <a:avLst/>
          </a:prstGeom>
          <a:noFill/>
        </p:spPr>
        <p:txBody>
          <a:bodyPr wrap="square" lIns="0" rIns="0" tIns="0" bIns="0" anchor="ctr">
            <a:spAutoFit/>
          </a:bodyPr>
          <a:lstStyle/>
          <a:p>
            <a:pPr algn="ctr">
              <a:lnSpc>
                <a:spcPct val="135000"/>
              </a:lnSpc>
            </a:pPr>
            <a:r>
              <a:rPr sz="700" b="1" i="0">
                <a:solidFill>
                  <a:srgbClr val="007CC3"/>
                </a:solidFill>
                <a:latin typeface="JetBrains Mono"/>
              </a:rPr>
              <a:t>SEAM</a:t>
            </a:r>
          </a:p>
        </p:txBody>
      </p:sp>
      <p:sp>
        <p:nvSpPr>
          <p:cNvPr id="21" name="Rectangle 20"/>
          <p:cNvSpPr/>
          <p:nvPr/>
        </p:nvSpPr>
        <p:spPr>
          <a:xfrm>
            <a:off x="6324447" y="1874520"/>
            <a:ext cx="5227167" cy="3291840"/>
          </a:xfrm>
          <a:prstGeom prst="rect">
            <a:avLst/>
          </a:prstGeom>
          <a:solidFill>
            <a:srgbClr val="E6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8767" y="2103120"/>
            <a:ext cx="5227167"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REDESIGNED</a:t>
            </a:r>
          </a:p>
        </p:txBody>
      </p:sp>
      <p:sp>
        <p:nvSpPr>
          <p:cNvPr id="23" name="Rectangle 22"/>
          <p:cNvSpPr/>
          <p:nvPr/>
        </p:nvSpPr>
        <p:spPr>
          <a:xfrm>
            <a:off x="6598767" y="2377440"/>
            <a:ext cx="365760" cy="18288"/>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8767" y="2514600"/>
            <a:ext cx="4678527" cy="457200"/>
          </a:xfrm>
          <a:prstGeom prst="rect">
            <a:avLst/>
          </a:prstGeom>
          <a:noFill/>
        </p:spPr>
        <p:txBody>
          <a:bodyPr wrap="square" lIns="0" rIns="0" tIns="0" bIns="0" anchor="t">
            <a:spAutoFit/>
          </a:bodyPr>
          <a:lstStyle/>
          <a:p>
            <a:pPr algn="l">
              <a:lnSpc>
                <a:spcPct val="135000"/>
              </a:lnSpc>
            </a:pPr>
            <a:r>
              <a:rPr sz="2000" b="0" i="1">
                <a:solidFill>
                  <a:srgbClr val="182534"/>
                </a:solidFill>
                <a:latin typeface="Fraunces"/>
              </a:rPr>
              <a:t>The agent-native version</a:t>
            </a:r>
          </a:p>
        </p:txBody>
      </p:sp>
      <p:sp>
        <p:nvSpPr>
          <p:cNvPr id="25" name="TextBox 24"/>
          <p:cNvSpPr txBox="1"/>
          <p:nvPr/>
        </p:nvSpPr>
        <p:spPr>
          <a:xfrm>
            <a:off x="6598767" y="3154680"/>
            <a:ext cx="137160" cy="274320"/>
          </a:xfrm>
          <a:prstGeom prst="rect">
            <a:avLst/>
          </a:prstGeom>
          <a:noFill/>
        </p:spPr>
        <p:txBody>
          <a:bodyPr wrap="square" lIns="0" rIns="0" tIns="0" bIns="0" anchor="t">
            <a:spAutoFit/>
          </a:bodyPr>
          <a:lstStyle/>
          <a:p>
            <a:pPr algn="l">
              <a:lnSpc>
                <a:spcPct val="135000"/>
              </a:lnSpc>
            </a:pPr>
            <a:r>
              <a:rPr sz="1200" b="1" i="0">
                <a:solidFill>
                  <a:srgbClr val="007CC3"/>
                </a:solidFill>
                <a:latin typeface="JetBrains Mono"/>
              </a:rPr>
              <a:t>+</a:t>
            </a:r>
          </a:p>
        </p:txBody>
      </p:sp>
      <p:sp>
        <p:nvSpPr>
          <p:cNvPr id="26" name="TextBox 25"/>
          <p:cNvSpPr txBox="1"/>
          <p:nvPr/>
        </p:nvSpPr>
        <p:spPr>
          <a:xfrm>
            <a:off x="6781647" y="3154680"/>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Research agent ingests filings + market data</a:t>
            </a:r>
          </a:p>
        </p:txBody>
      </p:sp>
      <p:sp>
        <p:nvSpPr>
          <p:cNvPr id="27" name="TextBox 26"/>
          <p:cNvSpPr txBox="1"/>
          <p:nvPr/>
        </p:nvSpPr>
        <p:spPr>
          <a:xfrm>
            <a:off x="6598767" y="3538728"/>
            <a:ext cx="137160" cy="274320"/>
          </a:xfrm>
          <a:prstGeom prst="rect">
            <a:avLst/>
          </a:prstGeom>
          <a:noFill/>
        </p:spPr>
        <p:txBody>
          <a:bodyPr wrap="square" lIns="0" rIns="0" tIns="0" bIns="0" anchor="t">
            <a:spAutoFit/>
          </a:bodyPr>
          <a:lstStyle/>
          <a:p>
            <a:pPr algn="l">
              <a:lnSpc>
                <a:spcPct val="135000"/>
              </a:lnSpc>
            </a:pPr>
            <a:r>
              <a:rPr sz="1200" b="1" i="0">
                <a:solidFill>
                  <a:srgbClr val="007CC3"/>
                </a:solidFill>
                <a:latin typeface="JetBrains Mono"/>
              </a:rPr>
              <a:t>+</a:t>
            </a:r>
          </a:p>
        </p:txBody>
      </p:sp>
      <p:sp>
        <p:nvSpPr>
          <p:cNvPr id="28" name="TextBox 27"/>
          <p:cNvSpPr txBox="1"/>
          <p:nvPr/>
        </p:nvSpPr>
        <p:spPr>
          <a:xfrm>
            <a:off x="6781647" y="3538728"/>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Decision-support agent runs spread and scenarios</a:t>
            </a:r>
          </a:p>
        </p:txBody>
      </p:sp>
      <p:sp>
        <p:nvSpPr>
          <p:cNvPr id="29" name="TextBox 28"/>
          <p:cNvSpPr txBox="1"/>
          <p:nvPr/>
        </p:nvSpPr>
        <p:spPr>
          <a:xfrm>
            <a:off x="6598767" y="3922776"/>
            <a:ext cx="137160" cy="274320"/>
          </a:xfrm>
          <a:prstGeom prst="rect">
            <a:avLst/>
          </a:prstGeom>
          <a:noFill/>
        </p:spPr>
        <p:txBody>
          <a:bodyPr wrap="square" lIns="0" rIns="0" tIns="0" bIns="0" anchor="t">
            <a:spAutoFit/>
          </a:bodyPr>
          <a:lstStyle/>
          <a:p>
            <a:pPr algn="l">
              <a:lnSpc>
                <a:spcPct val="135000"/>
              </a:lnSpc>
            </a:pPr>
            <a:r>
              <a:rPr sz="1200" b="1" i="0">
                <a:solidFill>
                  <a:srgbClr val="007CC3"/>
                </a:solidFill>
                <a:latin typeface="JetBrains Mono"/>
              </a:rPr>
              <a:t>+</a:t>
            </a:r>
          </a:p>
        </p:txBody>
      </p:sp>
      <p:sp>
        <p:nvSpPr>
          <p:cNvPr id="30" name="TextBox 29"/>
          <p:cNvSpPr txBox="1"/>
          <p:nvPr/>
        </p:nvSpPr>
        <p:spPr>
          <a:xfrm>
            <a:off x="6781647" y="3922776"/>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Human reviewer at the seam, not the start</a:t>
            </a:r>
          </a:p>
        </p:txBody>
      </p:sp>
      <p:sp>
        <p:nvSpPr>
          <p:cNvPr id="31" name="TextBox 30"/>
          <p:cNvSpPr txBox="1"/>
          <p:nvPr/>
        </p:nvSpPr>
        <p:spPr>
          <a:xfrm>
            <a:off x="6598767" y="4306824"/>
            <a:ext cx="137160" cy="274320"/>
          </a:xfrm>
          <a:prstGeom prst="rect">
            <a:avLst/>
          </a:prstGeom>
          <a:noFill/>
        </p:spPr>
        <p:txBody>
          <a:bodyPr wrap="square" lIns="0" rIns="0" tIns="0" bIns="0" anchor="t">
            <a:spAutoFit/>
          </a:bodyPr>
          <a:lstStyle/>
          <a:p>
            <a:pPr algn="l">
              <a:lnSpc>
                <a:spcPct val="135000"/>
              </a:lnSpc>
            </a:pPr>
            <a:r>
              <a:rPr sz="1200" b="1" i="0">
                <a:solidFill>
                  <a:srgbClr val="007CC3"/>
                </a:solidFill>
                <a:latin typeface="JetBrains Mono"/>
              </a:rPr>
              <a:t>+</a:t>
            </a:r>
          </a:p>
        </p:txBody>
      </p:sp>
      <p:sp>
        <p:nvSpPr>
          <p:cNvPr id="32" name="TextBox 31"/>
          <p:cNvSpPr txBox="1"/>
          <p:nvPr/>
        </p:nvSpPr>
        <p:spPr>
          <a:xfrm>
            <a:off x="6781647" y="4306824"/>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Memo generated from the agent's working</a:t>
            </a:r>
          </a:p>
        </p:txBody>
      </p:sp>
      <p:sp>
        <p:nvSpPr>
          <p:cNvPr id="33" name="TextBox 32"/>
          <p:cNvSpPr txBox="1"/>
          <p:nvPr/>
        </p:nvSpPr>
        <p:spPr>
          <a:xfrm>
            <a:off x="640080" y="5486400"/>
            <a:ext cx="10911535"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REDESIGN PRINCIPLES</a:t>
            </a:r>
          </a:p>
        </p:txBody>
      </p:sp>
      <p:sp>
        <p:nvSpPr>
          <p:cNvPr id="34" name="Rectangle 33"/>
          <p:cNvSpPr/>
          <p:nvPr/>
        </p:nvSpPr>
        <p:spPr>
          <a:xfrm>
            <a:off x="640080" y="5806440"/>
            <a:ext cx="27432" cy="64008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806440"/>
            <a:ext cx="3271418" cy="777240"/>
          </a:xfrm>
          <a:prstGeom prst="rect">
            <a:avLst/>
          </a:prstGeom>
          <a:noFill/>
        </p:spPr>
        <p:txBody>
          <a:bodyPr wrap="square" lIns="0" rIns="0" tIns="0" bIns="0" anchor="t">
            <a:spAutoFit/>
          </a:bodyPr>
          <a:lstStyle/>
          <a:p>
            <a:pPr algn="l">
              <a:lnSpc>
                <a:spcPct val="145000"/>
              </a:lnSpc>
            </a:pPr>
            <a:r>
              <a:rPr sz="1100" b="0" i="1">
                <a:solidFill>
                  <a:srgbClr val="182534"/>
                </a:solidFill>
                <a:latin typeface="Newsreader"/>
              </a:rPr>
              <a:t>The memo is generated, not authored.</a:t>
            </a:r>
          </a:p>
        </p:txBody>
      </p:sp>
      <p:sp>
        <p:nvSpPr>
          <p:cNvPr id="36" name="Rectangle 35"/>
          <p:cNvSpPr/>
          <p:nvPr/>
        </p:nvSpPr>
        <p:spPr>
          <a:xfrm>
            <a:off x="4368698" y="5806440"/>
            <a:ext cx="27432" cy="64008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33290" y="5806440"/>
            <a:ext cx="3271418" cy="777240"/>
          </a:xfrm>
          <a:prstGeom prst="rect">
            <a:avLst/>
          </a:prstGeom>
          <a:noFill/>
        </p:spPr>
        <p:txBody>
          <a:bodyPr wrap="square" lIns="0" rIns="0" tIns="0" bIns="0" anchor="t">
            <a:spAutoFit/>
          </a:bodyPr>
          <a:lstStyle/>
          <a:p>
            <a:pPr algn="l">
              <a:lnSpc>
                <a:spcPct val="145000"/>
              </a:lnSpc>
            </a:pPr>
            <a:r>
              <a:rPr sz="1100" b="0" i="1">
                <a:solidFill>
                  <a:srgbClr val="182534"/>
                </a:solidFill>
                <a:latin typeface="Newsreader"/>
              </a:rPr>
              <a:t>Scenarios are cheap; run more of them.</a:t>
            </a:r>
          </a:p>
        </p:txBody>
      </p:sp>
      <p:sp>
        <p:nvSpPr>
          <p:cNvPr id="38" name="Rectangle 37"/>
          <p:cNvSpPr/>
          <p:nvPr/>
        </p:nvSpPr>
        <p:spPr>
          <a:xfrm>
            <a:off x="8097316" y="5806440"/>
            <a:ext cx="27432" cy="64008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61908" y="5806440"/>
            <a:ext cx="3271418" cy="777240"/>
          </a:xfrm>
          <a:prstGeom prst="rect">
            <a:avLst/>
          </a:prstGeom>
          <a:noFill/>
        </p:spPr>
        <p:txBody>
          <a:bodyPr wrap="square" lIns="0" rIns="0" tIns="0" bIns="0" anchor="t">
            <a:spAutoFit/>
          </a:bodyPr>
          <a:lstStyle/>
          <a:p>
            <a:pPr algn="l">
              <a:lnSpc>
                <a:spcPct val="145000"/>
              </a:lnSpc>
            </a:pPr>
            <a:r>
              <a:rPr sz="1100" b="0" i="1">
                <a:solidFill>
                  <a:srgbClr val="182534"/>
                </a:solidFill>
                <a:latin typeface="Newsreader"/>
              </a:rPr>
              <a:t>Reviewers see the working, not just the answer.</a:t>
            </a:r>
          </a:p>
        </p:txBody>
      </p:sp>
      <p:cxnSp>
        <p:nvCxnSpPr>
          <p:cNvPr id="40" name="Connector 39"/>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42" name="TextBox 41"/>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10 /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Dispute handling &amp; servicing</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PROOF  ·  PATTERN 03</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III   ·   THREE PATTERNS</a:t>
            </a:r>
          </a:p>
        </p:txBody>
      </p:sp>
      <p:sp>
        <p:nvSpPr>
          <p:cNvPr id="6" name="TextBox 5"/>
          <p:cNvSpPr txBox="1"/>
          <p:nvPr/>
        </p:nvSpPr>
        <p:spPr>
          <a:xfrm>
            <a:off x="640080" y="1005840"/>
            <a:ext cx="10911535" cy="548640"/>
          </a:xfrm>
          <a:prstGeom prst="rect">
            <a:avLst/>
          </a:prstGeom>
          <a:noFill/>
        </p:spPr>
        <p:txBody>
          <a:bodyPr wrap="square" lIns="0" rIns="0" tIns="0" bIns="0" anchor="t">
            <a:spAutoFit/>
          </a:bodyPr>
          <a:lstStyle/>
          <a:p>
            <a:pPr algn="l">
              <a:lnSpc>
                <a:spcPct val="110000"/>
              </a:lnSpc>
            </a:pPr>
            <a:r>
              <a:rPr sz="2200" b="0" i="1">
                <a:solidFill>
                  <a:srgbClr val="007CC3"/>
                </a:solidFill>
                <a:latin typeface="Fraunces"/>
              </a:rPr>
              <a:t>The agent owns the case.</a:t>
            </a:r>
          </a:p>
          <a:p>
            <a:pPr algn="l">
              <a:lnSpc>
                <a:spcPct val="110000"/>
              </a:lnSpc>
            </a:pPr>
            <a:r>
              <a:rPr sz="2200" b="0" i="0">
                <a:solidFill>
                  <a:srgbClr val="182534"/>
                </a:solidFill>
                <a:latin typeface="Fraunces"/>
              </a:rPr>
              <a:t> The human owns the exception.</a:t>
            </a:r>
          </a:p>
        </p:txBody>
      </p:sp>
      <p:sp>
        <p:nvSpPr>
          <p:cNvPr id="7" name="Rectangle 6"/>
          <p:cNvSpPr/>
          <p:nvPr/>
        </p:nvSpPr>
        <p:spPr>
          <a:xfrm>
            <a:off x="640080" y="1874520"/>
            <a:ext cx="5227167" cy="3291840"/>
          </a:xfrm>
          <a:prstGeom prst="rect">
            <a:avLst/>
          </a:prstGeom>
          <a:solidFill>
            <a:srgbClr val="F2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03120"/>
            <a:ext cx="5227167" cy="274320"/>
          </a:xfrm>
          <a:prstGeom prst="rect">
            <a:avLst/>
          </a:prstGeom>
          <a:noFill/>
        </p:spPr>
        <p:txBody>
          <a:bodyPr wrap="square" lIns="0" rIns="0" tIns="0" bIns="0" anchor="t">
            <a:spAutoFit/>
          </a:bodyPr>
          <a:lstStyle/>
          <a:p>
            <a:pPr algn="l">
              <a:lnSpc>
                <a:spcPct val="135000"/>
              </a:lnSpc>
            </a:pPr>
            <a:r>
              <a:rPr sz="900" b="1" i="0">
                <a:solidFill>
                  <a:srgbClr val="6D6E71"/>
                </a:solidFill>
                <a:latin typeface="JetBrains Mono"/>
              </a:rPr>
              <a:t>TODAY</a:t>
            </a:r>
          </a:p>
        </p:txBody>
      </p:sp>
      <p:sp>
        <p:nvSpPr>
          <p:cNvPr id="9" name="Rectangle 8"/>
          <p:cNvSpPr/>
          <p:nvPr/>
        </p:nvSpPr>
        <p:spPr>
          <a:xfrm>
            <a:off x="914400" y="2377440"/>
            <a:ext cx="365760" cy="18288"/>
          </a:xfrm>
          <a:prstGeom prst="rect">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514600"/>
            <a:ext cx="4678527" cy="457200"/>
          </a:xfrm>
          <a:prstGeom prst="rect">
            <a:avLst/>
          </a:prstGeom>
          <a:noFill/>
        </p:spPr>
        <p:txBody>
          <a:bodyPr wrap="square" lIns="0" rIns="0" tIns="0" bIns="0" anchor="t">
            <a:spAutoFit/>
          </a:bodyPr>
          <a:lstStyle/>
          <a:p>
            <a:pPr algn="l">
              <a:lnSpc>
                <a:spcPct val="135000"/>
              </a:lnSpc>
            </a:pPr>
            <a:r>
              <a:rPr sz="2000" b="0" i="1">
                <a:solidFill>
                  <a:srgbClr val="182534"/>
                </a:solidFill>
                <a:latin typeface="Fraunces"/>
              </a:rPr>
              <a:t>The legacy process</a:t>
            </a:r>
          </a:p>
        </p:txBody>
      </p:sp>
      <p:sp>
        <p:nvSpPr>
          <p:cNvPr id="11" name="TextBox 10"/>
          <p:cNvSpPr txBox="1"/>
          <p:nvPr/>
        </p:nvSpPr>
        <p:spPr>
          <a:xfrm>
            <a:off x="914400" y="3154680"/>
            <a:ext cx="137160" cy="274320"/>
          </a:xfrm>
          <a:prstGeom prst="rect">
            <a:avLst/>
          </a:prstGeom>
          <a:noFill/>
        </p:spPr>
        <p:txBody>
          <a:bodyPr wrap="square" lIns="0" rIns="0" tIns="0" bIns="0" anchor="t">
            <a:spAutoFit/>
          </a:bodyPr>
          <a:lstStyle/>
          <a:p>
            <a:pPr algn="l">
              <a:lnSpc>
                <a:spcPct val="135000"/>
              </a:lnSpc>
            </a:pPr>
            <a:r>
              <a:rPr sz="1200" b="0" i="0">
                <a:solidFill>
                  <a:srgbClr val="A7A9AC"/>
                </a:solidFill>
                <a:latin typeface="Newsreader"/>
              </a:rPr>
              <a:t>—</a:t>
            </a:r>
          </a:p>
        </p:txBody>
      </p:sp>
      <p:sp>
        <p:nvSpPr>
          <p:cNvPr id="12" name="TextBox 11"/>
          <p:cNvSpPr txBox="1"/>
          <p:nvPr/>
        </p:nvSpPr>
        <p:spPr>
          <a:xfrm>
            <a:off x="1097280" y="3154680"/>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25-day median resolution cycle</a:t>
            </a:r>
          </a:p>
        </p:txBody>
      </p:sp>
      <p:sp>
        <p:nvSpPr>
          <p:cNvPr id="13" name="TextBox 12"/>
          <p:cNvSpPr txBox="1"/>
          <p:nvPr/>
        </p:nvSpPr>
        <p:spPr>
          <a:xfrm>
            <a:off x="914400" y="3538728"/>
            <a:ext cx="137160" cy="274320"/>
          </a:xfrm>
          <a:prstGeom prst="rect">
            <a:avLst/>
          </a:prstGeom>
          <a:noFill/>
        </p:spPr>
        <p:txBody>
          <a:bodyPr wrap="square" lIns="0" rIns="0" tIns="0" bIns="0" anchor="t">
            <a:spAutoFit/>
          </a:bodyPr>
          <a:lstStyle/>
          <a:p>
            <a:pPr algn="l">
              <a:lnSpc>
                <a:spcPct val="135000"/>
              </a:lnSpc>
            </a:pPr>
            <a:r>
              <a:rPr sz="1200" b="0" i="0">
                <a:solidFill>
                  <a:srgbClr val="A7A9AC"/>
                </a:solidFill>
                <a:latin typeface="Newsreader"/>
              </a:rPr>
              <a:t>—</a:t>
            </a:r>
          </a:p>
        </p:txBody>
      </p:sp>
      <p:sp>
        <p:nvSpPr>
          <p:cNvPr id="14" name="TextBox 13"/>
          <p:cNvSpPr txBox="1"/>
          <p:nvPr/>
        </p:nvSpPr>
        <p:spPr>
          <a:xfrm>
            <a:off x="1097280" y="3538728"/>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Customer re-tells story to 2–3 teams</a:t>
            </a:r>
          </a:p>
        </p:txBody>
      </p:sp>
      <p:sp>
        <p:nvSpPr>
          <p:cNvPr id="15" name="TextBox 14"/>
          <p:cNvSpPr txBox="1"/>
          <p:nvPr/>
        </p:nvSpPr>
        <p:spPr>
          <a:xfrm>
            <a:off x="914400" y="3922776"/>
            <a:ext cx="137160" cy="274320"/>
          </a:xfrm>
          <a:prstGeom prst="rect">
            <a:avLst/>
          </a:prstGeom>
          <a:noFill/>
        </p:spPr>
        <p:txBody>
          <a:bodyPr wrap="square" lIns="0" rIns="0" tIns="0" bIns="0" anchor="t">
            <a:spAutoFit/>
          </a:bodyPr>
          <a:lstStyle/>
          <a:p>
            <a:pPr algn="l">
              <a:lnSpc>
                <a:spcPct val="135000"/>
              </a:lnSpc>
            </a:pPr>
            <a:r>
              <a:rPr sz="1200" b="0" i="0">
                <a:solidFill>
                  <a:srgbClr val="A7A9AC"/>
                </a:solidFill>
                <a:latin typeface="Newsreader"/>
              </a:rPr>
              <a:t>—</a:t>
            </a:r>
          </a:p>
        </p:txBody>
      </p:sp>
      <p:sp>
        <p:nvSpPr>
          <p:cNvPr id="16" name="TextBox 15"/>
          <p:cNvSpPr txBox="1"/>
          <p:nvPr/>
        </p:nvSpPr>
        <p:spPr>
          <a:xfrm>
            <a:off x="1097280" y="3922776"/>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Ledger entries lag the case state</a:t>
            </a:r>
          </a:p>
        </p:txBody>
      </p:sp>
      <p:sp>
        <p:nvSpPr>
          <p:cNvPr id="17" name="TextBox 16"/>
          <p:cNvSpPr txBox="1"/>
          <p:nvPr/>
        </p:nvSpPr>
        <p:spPr>
          <a:xfrm>
            <a:off x="914400" y="4306824"/>
            <a:ext cx="137160" cy="274320"/>
          </a:xfrm>
          <a:prstGeom prst="rect">
            <a:avLst/>
          </a:prstGeom>
          <a:noFill/>
        </p:spPr>
        <p:txBody>
          <a:bodyPr wrap="square" lIns="0" rIns="0" tIns="0" bIns="0" anchor="t">
            <a:spAutoFit/>
          </a:bodyPr>
          <a:lstStyle/>
          <a:p>
            <a:pPr algn="l">
              <a:lnSpc>
                <a:spcPct val="135000"/>
              </a:lnSpc>
            </a:pPr>
            <a:r>
              <a:rPr sz="1200" b="0" i="0">
                <a:solidFill>
                  <a:srgbClr val="A7A9AC"/>
                </a:solidFill>
                <a:latin typeface="Newsreader"/>
              </a:rPr>
              <a:t>—</a:t>
            </a:r>
          </a:p>
        </p:txBody>
      </p:sp>
      <p:sp>
        <p:nvSpPr>
          <p:cNvPr id="18" name="TextBox 17"/>
          <p:cNvSpPr txBox="1"/>
          <p:nvPr/>
        </p:nvSpPr>
        <p:spPr>
          <a:xfrm>
            <a:off x="1097280" y="4306824"/>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Communications are ticket-driven</a:t>
            </a:r>
          </a:p>
        </p:txBody>
      </p:sp>
      <p:sp>
        <p:nvSpPr>
          <p:cNvPr id="19" name="Rectangle 18"/>
          <p:cNvSpPr/>
          <p:nvPr/>
        </p:nvSpPr>
        <p:spPr>
          <a:xfrm>
            <a:off x="6086703" y="1874520"/>
            <a:ext cx="22860" cy="329184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30087" y="3383280"/>
            <a:ext cx="731520" cy="274320"/>
          </a:xfrm>
          <a:prstGeom prst="rect">
            <a:avLst/>
          </a:prstGeom>
          <a:noFill/>
        </p:spPr>
        <p:txBody>
          <a:bodyPr wrap="square" lIns="0" rIns="0" tIns="0" bIns="0" anchor="ctr">
            <a:spAutoFit/>
          </a:bodyPr>
          <a:lstStyle/>
          <a:p>
            <a:pPr algn="ctr">
              <a:lnSpc>
                <a:spcPct val="135000"/>
              </a:lnSpc>
            </a:pPr>
            <a:r>
              <a:rPr sz="700" b="1" i="0">
                <a:solidFill>
                  <a:srgbClr val="007CC3"/>
                </a:solidFill>
                <a:latin typeface="JetBrains Mono"/>
              </a:rPr>
              <a:t>SEAM</a:t>
            </a:r>
          </a:p>
        </p:txBody>
      </p:sp>
      <p:sp>
        <p:nvSpPr>
          <p:cNvPr id="21" name="Rectangle 20"/>
          <p:cNvSpPr/>
          <p:nvPr/>
        </p:nvSpPr>
        <p:spPr>
          <a:xfrm>
            <a:off x="6324447" y="1874520"/>
            <a:ext cx="5227167" cy="3291840"/>
          </a:xfrm>
          <a:prstGeom prst="rect">
            <a:avLst/>
          </a:prstGeom>
          <a:solidFill>
            <a:srgbClr val="E6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8767" y="2103120"/>
            <a:ext cx="5227167"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REDESIGNED</a:t>
            </a:r>
          </a:p>
        </p:txBody>
      </p:sp>
      <p:sp>
        <p:nvSpPr>
          <p:cNvPr id="23" name="Rectangle 22"/>
          <p:cNvSpPr/>
          <p:nvPr/>
        </p:nvSpPr>
        <p:spPr>
          <a:xfrm>
            <a:off x="6598767" y="2377440"/>
            <a:ext cx="365760" cy="18288"/>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8767" y="2514600"/>
            <a:ext cx="4678527" cy="457200"/>
          </a:xfrm>
          <a:prstGeom prst="rect">
            <a:avLst/>
          </a:prstGeom>
          <a:noFill/>
        </p:spPr>
        <p:txBody>
          <a:bodyPr wrap="square" lIns="0" rIns="0" tIns="0" bIns="0" anchor="t">
            <a:spAutoFit/>
          </a:bodyPr>
          <a:lstStyle/>
          <a:p>
            <a:pPr algn="l">
              <a:lnSpc>
                <a:spcPct val="135000"/>
              </a:lnSpc>
            </a:pPr>
            <a:r>
              <a:rPr sz="2000" b="0" i="1">
                <a:solidFill>
                  <a:srgbClr val="182534"/>
                </a:solidFill>
                <a:latin typeface="Fraunces"/>
              </a:rPr>
              <a:t>The agent-native version</a:t>
            </a:r>
          </a:p>
        </p:txBody>
      </p:sp>
      <p:sp>
        <p:nvSpPr>
          <p:cNvPr id="25" name="TextBox 24"/>
          <p:cNvSpPr txBox="1"/>
          <p:nvPr/>
        </p:nvSpPr>
        <p:spPr>
          <a:xfrm>
            <a:off x="6598767" y="3154680"/>
            <a:ext cx="137160" cy="274320"/>
          </a:xfrm>
          <a:prstGeom prst="rect">
            <a:avLst/>
          </a:prstGeom>
          <a:noFill/>
        </p:spPr>
        <p:txBody>
          <a:bodyPr wrap="square" lIns="0" rIns="0" tIns="0" bIns="0" anchor="t">
            <a:spAutoFit/>
          </a:bodyPr>
          <a:lstStyle/>
          <a:p>
            <a:pPr algn="l">
              <a:lnSpc>
                <a:spcPct val="135000"/>
              </a:lnSpc>
            </a:pPr>
            <a:r>
              <a:rPr sz="1200" b="1" i="0">
                <a:solidFill>
                  <a:srgbClr val="007CC3"/>
                </a:solidFill>
                <a:latin typeface="JetBrains Mono"/>
              </a:rPr>
              <a:t>+</a:t>
            </a:r>
          </a:p>
        </p:txBody>
      </p:sp>
      <p:sp>
        <p:nvSpPr>
          <p:cNvPr id="26" name="TextBox 25"/>
          <p:cNvSpPr txBox="1"/>
          <p:nvPr/>
        </p:nvSpPr>
        <p:spPr>
          <a:xfrm>
            <a:off x="6781647" y="3154680"/>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One agent owns the case end-to-end</a:t>
            </a:r>
          </a:p>
        </p:txBody>
      </p:sp>
      <p:sp>
        <p:nvSpPr>
          <p:cNvPr id="27" name="TextBox 26"/>
          <p:cNvSpPr txBox="1"/>
          <p:nvPr/>
        </p:nvSpPr>
        <p:spPr>
          <a:xfrm>
            <a:off x="6598767" y="3538728"/>
            <a:ext cx="137160" cy="274320"/>
          </a:xfrm>
          <a:prstGeom prst="rect">
            <a:avLst/>
          </a:prstGeom>
          <a:noFill/>
        </p:spPr>
        <p:txBody>
          <a:bodyPr wrap="square" lIns="0" rIns="0" tIns="0" bIns="0" anchor="t">
            <a:spAutoFit/>
          </a:bodyPr>
          <a:lstStyle/>
          <a:p>
            <a:pPr algn="l">
              <a:lnSpc>
                <a:spcPct val="135000"/>
              </a:lnSpc>
            </a:pPr>
            <a:r>
              <a:rPr sz="1200" b="1" i="0">
                <a:solidFill>
                  <a:srgbClr val="007CC3"/>
                </a:solidFill>
                <a:latin typeface="JetBrains Mono"/>
              </a:rPr>
              <a:t>+</a:t>
            </a:r>
          </a:p>
        </p:txBody>
      </p:sp>
      <p:sp>
        <p:nvSpPr>
          <p:cNvPr id="28" name="TextBox 27"/>
          <p:cNvSpPr txBox="1"/>
          <p:nvPr/>
        </p:nvSpPr>
        <p:spPr>
          <a:xfrm>
            <a:off x="6781647" y="3538728"/>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Ledger is the source of truth; screens are the lens</a:t>
            </a:r>
          </a:p>
        </p:txBody>
      </p:sp>
      <p:sp>
        <p:nvSpPr>
          <p:cNvPr id="29" name="TextBox 28"/>
          <p:cNvSpPr txBox="1"/>
          <p:nvPr/>
        </p:nvSpPr>
        <p:spPr>
          <a:xfrm>
            <a:off x="6598767" y="3922776"/>
            <a:ext cx="137160" cy="274320"/>
          </a:xfrm>
          <a:prstGeom prst="rect">
            <a:avLst/>
          </a:prstGeom>
          <a:noFill/>
        </p:spPr>
        <p:txBody>
          <a:bodyPr wrap="square" lIns="0" rIns="0" tIns="0" bIns="0" anchor="t">
            <a:spAutoFit/>
          </a:bodyPr>
          <a:lstStyle/>
          <a:p>
            <a:pPr algn="l">
              <a:lnSpc>
                <a:spcPct val="135000"/>
              </a:lnSpc>
            </a:pPr>
            <a:r>
              <a:rPr sz="1200" b="1" i="0">
                <a:solidFill>
                  <a:srgbClr val="007CC3"/>
                </a:solidFill>
                <a:latin typeface="JetBrains Mono"/>
              </a:rPr>
              <a:t>+</a:t>
            </a:r>
          </a:p>
        </p:txBody>
      </p:sp>
      <p:sp>
        <p:nvSpPr>
          <p:cNvPr id="30" name="TextBox 29"/>
          <p:cNvSpPr txBox="1"/>
          <p:nvPr/>
        </p:nvSpPr>
        <p:spPr>
          <a:xfrm>
            <a:off x="6781647" y="3922776"/>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Humans handle exceptions only</a:t>
            </a:r>
          </a:p>
        </p:txBody>
      </p:sp>
      <p:sp>
        <p:nvSpPr>
          <p:cNvPr id="31" name="TextBox 30"/>
          <p:cNvSpPr txBox="1"/>
          <p:nvPr/>
        </p:nvSpPr>
        <p:spPr>
          <a:xfrm>
            <a:off x="6598767" y="4306824"/>
            <a:ext cx="137160" cy="274320"/>
          </a:xfrm>
          <a:prstGeom prst="rect">
            <a:avLst/>
          </a:prstGeom>
          <a:noFill/>
        </p:spPr>
        <p:txBody>
          <a:bodyPr wrap="square" lIns="0" rIns="0" tIns="0" bIns="0" anchor="t">
            <a:spAutoFit/>
          </a:bodyPr>
          <a:lstStyle/>
          <a:p>
            <a:pPr algn="l">
              <a:lnSpc>
                <a:spcPct val="135000"/>
              </a:lnSpc>
            </a:pPr>
            <a:r>
              <a:rPr sz="1200" b="1" i="0">
                <a:solidFill>
                  <a:srgbClr val="007CC3"/>
                </a:solidFill>
                <a:latin typeface="JetBrains Mono"/>
              </a:rPr>
              <a:t>+</a:t>
            </a:r>
          </a:p>
        </p:txBody>
      </p:sp>
      <p:sp>
        <p:nvSpPr>
          <p:cNvPr id="32" name="TextBox 31"/>
          <p:cNvSpPr txBox="1"/>
          <p:nvPr/>
        </p:nvSpPr>
        <p:spPr>
          <a:xfrm>
            <a:off x="6781647" y="4306824"/>
            <a:ext cx="4495647" cy="45720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Communications generated proactively</a:t>
            </a:r>
          </a:p>
        </p:txBody>
      </p:sp>
      <p:sp>
        <p:nvSpPr>
          <p:cNvPr id="33" name="TextBox 32"/>
          <p:cNvSpPr txBox="1"/>
          <p:nvPr/>
        </p:nvSpPr>
        <p:spPr>
          <a:xfrm>
            <a:off x="640080" y="5486400"/>
            <a:ext cx="10911535"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REDESIGN PRINCIPLES</a:t>
            </a:r>
          </a:p>
        </p:txBody>
      </p:sp>
      <p:sp>
        <p:nvSpPr>
          <p:cNvPr id="34" name="Rectangle 33"/>
          <p:cNvSpPr/>
          <p:nvPr/>
        </p:nvSpPr>
        <p:spPr>
          <a:xfrm>
            <a:off x="640080" y="5806440"/>
            <a:ext cx="27432" cy="64008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806440"/>
            <a:ext cx="3271418" cy="777240"/>
          </a:xfrm>
          <a:prstGeom prst="rect">
            <a:avLst/>
          </a:prstGeom>
          <a:noFill/>
        </p:spPr>
        <p:txBody>
          <a:bodyPr wrap="square" lIns="0" rIns="0" tIns="0" bIns="0" anchor="t">
            <a:spAutoFit/>
          </a:bodyPr>
          <a:lstStyle/>
          <a:p>
            <a:pPr algn="l">
              <a:lnSpc>
                <a:spcPct val="145000"/>
              </a:lnSpc>
            </a:pPr>
            <a:r>
              <a:rPr sz="1100" b="0" i="1">
                <a:solidFill>
                  <a:srgbClr val="182534"/>
                </a:solidFill>
                <a:latin typeface="Newsreader"/>
              </a:rPr>
              <a:t>The agent owns the case; the human owns the exception.</a:t>
            </a:r>
          </a:p>
        </p:txBody>
      </p:sp>
      <p:sp>
        <p:nvSpPr>
          <p:cNvPr id="36" name="Rectangle 35"/>
          <p:cNvSpPr/>
          <p:nvPr/>
        </p:nvSpPr>
        <p:spPr>
          <a:xfrm>
            <a:off x="4368698" y="5806440"/>
            <a:ext cx="27432" cy="64008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33290" y="5806440"/>
            <a:ext cx="3271418" cy="777240"/>
          </a:xfrm>
          <a:prstGeom prst="rect">
            <a:avLst/>
          </a:prstGeom>
          <a:noFill/>
        </p:spPr>
        <p:txBody>
          <a:bodyPr wrap="square" lIns="0" rIns="0" tIns="0" bIns="0" anchor="t">
            <a:spAutoFit/>
          </a:bodyPr>
          <a:lstStyle/>
          <a:p>
            <a:pPr algn="l">
              <a:lnSpc>
                <a:spcPct val="145000"/>
              </a:lnSpc>
            </a:pPr>
            <a:r>
              <a:rPr sz="1100" b="0" i="1">
                <a:solidFill>
                  <a:srgbClr val="182534"/>
                </a:solidFill>
                <a:latin typeface="Newsreader"/>
              </a:rPr>
              <a:t>The ledger is the truth; the screen is the lens.</a:t>
            </a:r>
          </a:p>
        </p:txBody>
      </p:sp>
      <p:sp>
        <p:nvSpPr>
          <p:cNvPr id="38" name="Rectangle 37"/>
          <p:cNvSpPr/>
          <p:nvPr/>
        </p:nvSpPr>
        <p:spPr>
          <a:xfrm>
            <a:off x="8097316" y="5806440"/>
            <a:ext cx="27432" cy="64008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61908" y="5806440"/>
            <a:ext cx="3271418" cy="777240"/>
          </a:xfrm>
          <a:prstGeom prst="rect">
            <a:avLst/>
          </a:prstGeom>
          <a:noFill/>
        </p:spPr>
        <p:txBody>
          <a:bodyPr wrap="square" lIns="0" rIns="0" tIns="0" bIns="0" anchor="t">
            <a:spAutoFit/>
          </a:bodyPr>
          <a:lstStyle/>
          <a:p>
            <a:pPr algn="l">
              <a:lnSpc>
                <a:spcPct val="145000"/>
              </a:lnSpc>
            </a:pPr>
            <a:r>
              <a:rPr sz="1100" b="0" i="1">
                <a:solidFill>
                  <a:srgbClr val="182534"/>
                </a:solidFill>
                <a:latin typeface="Newsreader"/>
              </a:rPr>
              <a:t>Communications are continuous, not on request.</a:t>
            </a:r>
          </a:p>
        </p:txBody>
      </p:sp>
      <p:cxnSp>
        <p:nvCxnSpPr>
          <p:cNvPr id="40" name="Connector 39"/>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42" name="TextBox 41"/>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11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What every agent-native redesign has in common</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PROOF  ·  SYNTHESIS</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III   ·   SYNTHESIS</a:t>
            </a:r>
          </a:p>
        </p:txBody>
      </p:sp>
      <p:sp>
        <p:nvSpPr>
          <p:cNvPr id="6" name="TextBox 5"/>
          <p:cNvSpPr txBox="1"/>
          <p:nvPr/>
        </p:nvSpPr>
        <p:spPr>
          <a:xfrm>
            <a:off x="640080" y="1005840"/>
            <a:ext cx="10911535" cy="548640"/>
          </a:xfrm>
          <a:prstGeom prst="rect">
            <a:avLst/>
          </a:prstGeom>
          <a:noFill/>
        </p:spPr>
        <p:txBody>
          <a:bodyPr wrap="square" lIns="0" rIns="0" tIns="0" bIns="0" anchor="t">
            <a:spAutoFit/>
          </a:bodyPr>
          <a:lstStyle/>
          <a:p>
            <a:pPr algn="l">
              <a:lnSpc>
                <a:spcPct val="110000"/>
              </a:lnSpc>
            </a:pPr>
            <a:r>
              <a:rPr sz="2000" b="0" i="1">
                <a:solidFill>
                  <a:srgbClr val="182534"/>
                </a:solidFill>
                <a:latin typeface="Fraunces"/>
              </a:rPr>
              <a:t>Five recurring principles, regardless of which process you start with.</a:t>
            </a:r>
          </a:p>
        </p:txBody>
      </p:sp>
      <p:cxnSp>
        <p:nvCxnSpPr>
          <p:cNvPr id="7" name="Connector 6"/>
          <p:cNvCxnSpPr/>
          <p:nvPr/>
        </p:nvCxnSpPr>
        <p:spPr>
          <a:xfrm>
            <a:off x="640080" y="1783080"/>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1920240"/>
            <a:ext cx="914400" cy="731520"/>
          </a:xfrm>
          <a:prstGeom prst="rect">
            <a:avLst/>
          </a:prstGeom>
          <a:noFill/>
        </p:spPr>
        <p:txBody>
          <a:bodyPr wrap="square" lIns="0" rIns="0" tIns="0" bIns="0" anchor="t">
            <a:spAutoFit/>
          </a:bodyPr>
          <a:lstStyle/>
          <a:p>
            <a:pPr algn="l">
              <a:lnSpc>
                <a:spcPct val="100000"/>
              </a:lnSpc>
            </a:pPr>
            <a:r>
              <a:rPr sz="4400" b="0" i="1">
                <a:solidFill>
                  <a:srgbClr val="007CC3"/>
                </a:solidFill>
                <a:latin typeface="Fraunces"/>
              </a:rPr>
              <a:t>I</a:t>
            </a:r>
          </a:p>
        </p:txBody>
      </p:sp>
      <p:sp>
        <p:nvSpPr>
          <p:cNvPr id="9" name="TextBox 8"/>
          <p:cNvSpPr txBox="1"/>
          <p:nvPr/>
        </p:nvSpPr>
        <p:spPr>
          <a:xfrm>
            <a:off x="1737360" y="1947672"/>
            <a:ext cx="4206240" cy="548640"/>
          </a:xfrm>
          <a:prstGeom prst="rect">
            <a:avLst/>
          </a:prstGeom>
          <a:noFill/>
        </p:spPr>
        <p:txBody>
          <a:bodyPr wrap="square" lIns="0" rIns="0" tIns="0" bIns="0" anchor="t">
            <a:spAutoFit/>
          </a:bodyPr>
          <a:lstStyle/>
          <a:p>
            <a:pPr algn="l">
              <a:lnSpc>
                <a:spcPct val="115000"/>
              </a:lnSpc>
            </a:pPr>
            <a:r>
              <a:rPr sz="2000" b="0" i="0">
                <a:solidFill>
                  <a:srgbClr val="182534"/>
                </a:solidFill>
                <a:latin typeface="Fraunces"/>
              </a:rPr>
              <a:t>Events, not handoffs.</a:t>
            </a:r>
          </a:p>
        </p:txBody>
      </p:sp>
      <p:sp>
        <p:nvSpPr>
          <p:cNvPr id="10" name="TextBox 9"/>
          <p:cNvSpPr txBox="1"/>
          <p:nvPr/>
        </p:nvSpPr>
        <p:spPr>
          <a:xfrm>
            <a:off x="6035040" y="1965960"/>
            <a:ext cx="5516575" cy="640080"/>
          </a:xfrm>
          <a:prstGeom prst="rect">
            <a:avLst/>
          </a:prstGeom>
          <a:noFill/>
        </p:spPr>
        <p:txBody>
          <a:bodyPr wrap="square" lIns="0" rIns="0" tIns="0" bIns="0" anchor="t">
            <a:spAutoFit/>
          </a:bodyPr>
          <a:lstStyle/>
          <a:p>
            <a:pPr algn="l">
              <a:lnSpc>
                <a:spcPct val="150000"/>
              </a:lnSpc>
            </a:pPr>
            <a:r>
              <a:rPr sz="1300" b="0" i="0">
                <a:solidFill>
                  <a:srgbClr val="6D6E71"/>
                </a:solidFill>
                <a:latin typeface="Newsreader"/>
              </a:rPr>
              <a:t>The process becomes an event stream. State is shared, not passed between teams.</a:t>
            </a:r>
          </a:p>
        </p:txBody>
      </p:sp>
      <p:cxnSp>
        <p:nvCxnSpPr>
          <p:cNvPr id="11" name="Connector 10"/>
          <p:cNvCxnSpPr/>
          <p:nvPr/>
        </p:nvCxnSpPr>
        <p:spPr>
          <a:xfrm>
            <a:off x="640080" y="2651760"/>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2788920"/>
            <a:ext cx="914400" cy="731520"/>
          </a:xfrm>
          <a:prstGeom prst="rect">
            <a:avLst/>
          </a:prstGeom>
          <a:noFill/>
        </p:spPr>
        <p:txBody>
          <a:bodyPr wrap="square" lIns="0" rIns="0" tIns="0" bIns="0" anchor="t">
            <a:spAutoFit/>
          </a:bodyPr>
          <a:lstStyle/>
          <a:p>
            <a:pPr algn="l">
              <a:lnSpc>
                <a:spcPct val="100000"/>
              </a:lnSpc>
            </a:pPr>
            <a:r>
              <a:rPr sz="4400" b="0" i="1">
                <a:solidFill>
                  <a:srgbClr val="007CC3"/>
                </a:solidFill>
                <a:latin typeface="Fraunces"/>
              </a:rPr>
              <a:t>II</a:t>
            </a:r>
          </a:p>
        </p:txBody>
      </p:sp>
      <p:sp>
        <p:nvSpPr>
          <p:cNvPr id="13" name="TextBox 12"/>
          <p:cNvSpPr txBox="1"/>
          <p:nvPr/>
        </p:nvSpPr>
        <p:spPr>
          <a:xfrm>
            <a:off x="1737360" y="2816352"/>
            <a:ext cx="4206240" cy="548640"/>
          </a:xfrm>
          <a:prstGeom prst="rect">
            <a:avLst/>
          </a:prstGeom>
          <a:noFill/>
        </p:spPr>
        <p:txBody>
          <a:bodyPr wrap="square" lIns="0" rIns="0" tIns="0" bIns="0" anchor="t">
            <a:spAutoFit/>
          </a:bodyPr>
          <a:lstStyle/>
          <a:p>
            <a:pPr algn="l">
              <a:lnSpc>
                <a:spcPct val="115000"/>
              </a:lnSpc>
            </a:pPr>
            <a:r>
              <a:rPr sz="2000" b="0" i="0">
                <a:solidFill>
                  <a:srgbClr val="182534"/>
                </a:solidFill>
                <a:latin typeface="Fraunces"/>
              </a:rPr>
              <a:t>Verify, don't trust.</a:t>
            </a:r>
          </a:p>
        </p:txBody>
      </p:sp>
      <p:sp>
        <p:nvSpPr>
          <p:cNvPr id="14" name="TextBox 13"/>
          <p:cNvSpPr txBox="1"/>
          <p:nvPr/>
        </p:nvSpPr>
        <p:spPr>
          <a:xfrm>
            <a:off x="6035040" y="2834640"/>
            <a:ext cx="5516575" cy="640080"/>
          </a:xfrm>
          <a:prstGeom prst="rect">
            <a:avLst/>
          </a:prstGeom>
          <a:noFill/>
        </p:spPr>
        <p:txBody>
          <a:bodyPr wrap="square" lIns="0" rIns="0" tIns="0" bIns="0" anchor="t">
            <a:spAutoFit/>
          </a:bodyPr>
          <a:lstStyle/>
          <a:p>
            <a:pPr algn="l">
              <a:lnSpc>
                <a:spcPct val="150000"/>
              </a:lnSpc>
            </a:pPr>
            <a:r>
              <a:rPr sz="1300" b="0" i="0">
                <a:solidFill>
                  <a:srgbClr val="6D6E71"/>
                </a:solidFill>
                <a:latin typeface="Newsreader"/>
              </a:rPr>
              <a:t>Every agent output is scored against an eval before it advances. No eval, no deployment.</a:t>
            </a:r>
          </a:p>
        </p:txBody>
      </p:sp>
      <p:cxnSp>
        <p:nvCxnSpPr>
          <p:cNvPr id="15" name="Connector 14"/>
          <p:cNvCxnSpPr/>
          <p:nvPr/>
        </p:nvCxnSpPr>
        <p:spPr>
          <a:xfrm>
            <a:off x="640080" y="3520440"/>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3657600"/>
            <a:ext cx="914400" cy="731520"/>
          </a:xfrm>
          <a:prstGeom prst="rect">
            <a:avLst/>
          </a:prstGeom>
          <a:noFill/>
        </p:spPr>
        <p:txBody>
          <a:bodyPr wrap="square" lIns="0" rIns="0" tIns="0" bIns="0" anchor="t">
            <a:spAutoFit/>
          </a:bodyPr>
          <a:lstStyle/>
          <a:p>
            <a:pPr algn="l">
              <a:lnSpc>
                <a:spcPct val="100000"/>
              </a:lnSpc>
            </a:pPr>
            <a:r>
              <a:rPr sz="4400" b="0" i="1">
                <a:solidFill>
                  <a:srgbClr val="007CC3"/>
                </a:solidFill>
                <a:latin typeface="Fraunces"/>
              </a:rPr>
              <a:t>III</a:t>
            </a:r>
          </a:p>
        </p:txBody>
      </p:sp>
      <p:sp>
        <p:nvSpPr>
          <p:cNvPr id="17" name="TextBox 16"/>
          <p:cNvSpPr txBox="1"/>
          <p:nvPr/>
        </p:nvSpPr>
        <p:spPr>
          <a:xfrm>
            <a:off x="1737360" y="3685032"/>
            <a:ext cx="4206240" cy="548640"/>
          </a:xfrm>
          <a:prstGeom prst="rect">
            <a:avLst/>
          </a:prstGeom>
          <a:noFill/>
        </p:spPr>
        <p:txBody>
          <a:bodyPr wrap="square" lIns="0" rIns="0" tIns="0" bIns="0" anchor="t">
            <a:spAutoFit/>
          </a:bodyPr>
          <a:lstStyle/>
          <a:p>
            <a:pPr algn="l">
              <a:lnSpc>
                <a:spcPct val="115000"/>
              </a:lnSpc>
            </a:pPr>
            <a:r>
              <a:rPr sz="2000" b="0" i="0">
                <a:solidFill>
                  <a:srgbClr val="182534"/>
                </a:solidFill>
                <a:latin typeface="Fraunces"/>
              </a:rPr>
              <a:t>Humans at the seam.</a:t>
            </a:r>
          </a:p>
        </p:txBody>
      </p:sp>
      <p:sp>
        <p:nvSpPr>
          <p:cNvPr id="18" name="TextBox 17"/>
          <p:cNvSpPr txBox="1"/>
          <p:nvPr/>
        </p:nvSpPr>
        <p:spPr>
          <a:xfrm>
            <a:off x="6035040" y="3703320"/>
            <a:ext cx="5516575" cy="640080"/>
          </a:xfrm>
          <a:prstGeom prst="rect">
            <a:avLst/>
          </a:prstGeom>
          <a:noFill/>
        </p:spPr>
        <p:txBody>
          <a:bodyPr wrap="square" lIns="0" rIns="0" tIns="0" bIns="0" anchor="t">
            <a:spAutoFit/>
          </a:bodyPr>
          <a:lstStyle/>
          <a:p>
            <a:pPr algn="l">
              <a:lnSpc>
                <a:spcPct val="150000"/>
              </a:lnSpc>
            </a:pPr>
            <a:r>
              <a:rPr sz="1300" b="0" i="0">
                <a:solidFill>
                  <a:srgbClr val="6D6E71"/>
                </a:solidFill>
                <a:latin typeface="Newsreader"/>
              </a:rPr>
              <a:t>Humans handle exceptions and decisions of consequence — not data movement or formatting.</a:t>
            </a:r>
          </a:p>
        </p:txBody>
      </p:sp>
      <p:cxnSp>
        <p:nvCxnSpPr>
          <p:cNvPr id="19" name="Connector 18"/>
          <p:cNvCxnSpPr/>
          <p:nvPr/>
        </p:nvCxnSpPr>
        <p:spPr>
          <a:xfrm>
            <a:off x="640080" y="4389120"/>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4526280"/>
            <a:ext cx="914400" cy="731520"/>
          </a:xfrm>
          <a:prstGeom prst="rect">
            <a:avLst/>
          </a:prstGeom>
          <a:noFill/>
        </p:spPr>
        <p:txBody>
          <a:bodyPr wrap="square" lIns="0" rIns="0" tIns="0" bIns="0" anchor="t">
            <a:spAutoFit/>
          </a:bodyPr>
          <a:lstStyle/>
          <a:p>
            <a:pPr algn="l">
              <a:lnSpc>
                <a:spcPct val="100000"/>
              </a:lnSpc>
            </a:pPr>
            <a:r>
              <a:rPr sz="4400" b="0" i="1">
                <a:solidFill>
                  <a:srgbClr val="007CC3"/>
                </a:solidFill>
                <a:latin typeface="Fraunces"/>
              </a:rPr>
              <a:t>IV</a:t>
            </a:r>
          </a:p>
        </p:txBody>
      </p:sp>
      <p:sp>
        <p:nvSpPr>
          <p:cNvPr id="21" name="TextBox 20"/>
          <p:cNvSpPr txBox="1"/>
          <p:nvPr/>
        </p:nvSpPr>
        <p:spPr>
          <a:xfrm>
            <a:off x="1737360" y="4553712"/>
            <a:ext cx="4206240" cy="548640"/>
          </a:xfrm>
          <a:prstGeom prst="rect">
            <a:avLst/>
          </a:prstGeom>
          <a:noFill/>
        </p:spPr>
        <p:txBody>
          <a:bodyPr wrap="square" lIns="0" rIns="0" tIns="0" bIns="0" anchor="t">
            <a:spAutoFit/>
          </a:bodyPr>
          <a:lstStyle/>
          <a:p>
            <a:pPr algn="l">
              <a:lnSpc>
                <a:spcPct val="115000"/>
              </a:lnSpc>
            </a:pPr>
            <a:r>
              <a:rPr sz="2000" b="0" i="0">
                <a:solidFill>
                  <a:srgbClr val="182534"/>
                </a:solidFill>
                <a:latin typeface="Fraunces"/>
              </a:rPr>
              <a:t>Ledger first, screen second.</a:t>
            </a:r>
          </a:p>
        </p:txBody>
      </p:sp>
      <p:sp>
        <p:nvSpPr>
          <p:cNvPr id="22" name="TextBox 21"/>
          <p:cNvSpPr txBox="1"/>
          <p:nvPr/>
        </p:nvSpPr>
        <p:spPr>
          <a:xfrm>
            <a:off x="6035040" y="4572000"/>
            <a:ext cx="5516575" cy="640080"/>
          </a:xfrm>
          <a:prstGeom prst="rect">
            <a:avLst/>
          </a:prstGeom>
          <a:noFill/>
        </p:spPr>
        <p:txBody>
          <a:bodyPr wrap="square" lIns="0" rIns="0" tIns="0" bIns="0" anchor="t">
            <a:spAutoFit/>
          </a:bodyPr>
          <a:lstStyle/>
          <a:p>
            <a:pPr algn="l">
              <a:lnSpc>
                <a:spcPct val="150000"/>
              </a:lnSpc>
            </a:pPr>
            <a:r>
              <a:rPr sz="1300" b="0" i="0">
                <a:solidFill>
                  <a:srgbClr val="6D6E71"/>
                </a:solidFill>
                <a:latin typeface="Newsreader"/>
              </a:rPr>
              <a:t>The system of record drives the experience. The screen is a view, not the truth.</a:t>
            </a:r>
          </a:p>
        </p:txBody>
      </p:sp>
      <p:cxnSp>
        <p:nvCxnSpPr>
          <p:cNvPr id="23" name="Connector 22"/>
          <p:cNvCxnSpPr/>
          <p:nvPr/>
        </p:nvCxnSpPr>
        <p:spPr>
          <a:xfrm>
            <a:off x="640080" y="5257800"/>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0080" y="5394960"/>
            <a:ext cx="914400" cy="731520"/>
          </a:xfrm>
          <a:prstGeom prst="rect">
            <a:avLst/>
          </a:prstGeom>
          <a:noFill/>
        </p:spPr>
        <p:txBody>
          <a:bodyPr wrap="square" lIns="0" rIns="0" tIns="0" bIns="0" anchor="t">
            <a:spAutoFit/>
          </a:bodyPr>
          <a:lstStyle/>
          <a:p>
            <a:pPr algn="l">
              <a:lnSpc>
                <a:spcPct val="100000"/>
              </a:lnSpc>
            </a:pPr>
            <a:r>
              <a:rPr sz="4400" b="0" i="1">
                <a:solidFill>
                  <a:srgbClr val="007CC3"/>
                </a:solidFill>
                <a:latin typeface="Fraunces"/>
              </a:rPr>
              <a:t>V</a:t>
            </a:r>
          </a:p>
        </p:txBody>
      </p:sp>
      <p:sp>
        <p:nvSpPr>
          <p:cNvPr id="25" name="TextBox 24"/>
          <p:cNvSpPr txBox="1"/>
          <p:nvPr/>
        </p:nvSpPr>
        <p:spPr>
          <a:xfrm>
            <a:off x="1737360" y="5422392"/>
            <a:ext cx="4206240" cy="548640"/>
          </a:xfrm>
          <a:prstGeom prst="rect">
            <a:avLst/>
          </a:prstGeom>
          <a:noFill/>
        </p:spPr>
        <p:txBody>
          <a:bodyPr wrap="square" lIns="0" rIns="0" tIns="0" bIns="0" anchor="t">
            <a:spAutoFit/>
          </a:bodyPr>
          <a:lstStyle/>
          <a:p>
            <a:pPr algn="l">
              <a:lnSpc>
                <a:spcPct val="115000"/>
              </a:lnSpc>
            </a:pPr>
            <a:r>
              <a:rPr sz="2000" b="0" i="0">
                <a:solidFill>
                  <a:srgbClr val="182534"/>
                </a:solidFill>
                <a:latin typeface="Fraunces"/>
              </a:rPr>
              <a:t>One agent, many tools.</a:t>
            </a:r>
          </a:p>
        </p:txBody>
      </p:sp>
      <p:sp>
        <p:nvSpPr>
          <p:cNvPr id="26" name="TextBox 25"/>
          <p:cNvSpPr txBox="1"/>
          <p:nvPr/>
        </p:nvSpPr>
        <p:spPr>
          <a:xfrm>
            <a:off x="6035040" y="5440680"/>
            <a:ext cx="5516575" cy="640080"/>
          </a:xfrm>
          <a:prstGeom prst="rect">
            <a:avLst/>
          </a:prstGeom>
          <a:noFill/>
        </p:spPr>
        <p:txBody>
          <a:bodyPr wrap="square" lIns="0" rIns="0" tIns="0" bIns="0" anchor="t">
            <a:spAutoFit/>
          </a:bodyPr>
          <a:lstStyle/>
          <a:p>
            <a:pPr algn="l">
              <a:lnSpc>
                <a:spcPct val="150000"/>
              </a:lnSpc>
            </a:pPr>
            <a:r>
              <a:rPr sz="1300" b="0" i="0">
                <a:solidFill>
                  <a:srgbClr val="6D6E71"/>
                </a:solidFill>
                <a:latin typeface="Newsreader"/>
              </a:rPr>
              <a:t>Agents specialize by role, not by screen. Capability composes; sprawl is avoided.</a:t>
            </a:r>
          </a:p>
        </p:txBody>
      </p:sp>
      <p:cxnSp>
        <p:nvCxnSpPr>
          <p:cNvPr id="27" name="Connector 26"/>
          <p:cNvCxnSpPr/>
          <p:nvPr/>
        </p:nvCxnSpPr>
        <p:spPr>
          <a:xfrm>
            <a:off x="640080" y="6126480"/>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30" name="TextBox 29"/>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12 /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The agentic maturity model</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MATURITY &amp; PATH  ·  FOUR STAGES</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IV   ·   MATURITY</a:t>
            </a:r>
          </a:p>
        </p:txBody>
      </p:sp>
      <p:sp>
        <p:nvSpPr>
          <p:cNvPr id="6" name="TextBox 5"/>
          <p:cNvSpPr txBox="1"/>
          <p:nvPr/>
        </p:nvSpPr>
        <p:spPr>
          <a:xfrm>
            <a:off x="640080" y="1005840"/>
            <a:ext cx="10911535" cy="548640"/>
          </a:xfrm>
          <a:prstGeom prst="rect">
            <a:avLst/>
          </a:prstGeom>
          <a:noFill/>
        </p:spPr>
        <p:txBody>
          <a:bodyPr wrap="square" lIns="0" rIns="0" tIns="0" bIns="0" anchor="t">
            <a:spAutoFit/>
          </a:bodyPr>
          <a:lstStyle/>
          <a:p>
            <a:pPr algn="l">
              <a:lnSpc>
                <a:spcPct val="110000"/>
              </a:lnSpc>
            </a:pPr>
            <a:r>
              <a:rPr sz="2200" b="0" i="1">
                <a:solidFill>
                  <a:srgbClr val="182534"/>
                </a:solidFill>
                <a:latin typeface="Fraunces"/>
              </a:rPr>
              <a:t>Maturity is not a model question. It is an operating-model question.</a:t>
            </a:r>
          </a:p>
        </p:txBody>
      </p:sp>
      <p:cxnSp>
        <p:nvCxnSpPr>
          <p:cNvPr id="7" name="Connector 6"/>
          <p:cNvCxnSpPr/>
          <p:nvPr/>
        </p:nvCxnSpPr>
        <p:spPr>
          <a:xfrm>
            <a:off x="2011680" y="2697480"/>
            <a:ext cx="8168335" cy="0"/>
          </a:xfrm>
          <a:prstGeom prst="line">
            <a:avLst/>
          </a:prstGeom>
          <a:ln w="19050">
            <a:solidFill>
              <a:srgbClr val="007CC3"/>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920240" y="2606040"/>
            <a:ext cx="182880" cy="182880"/>
          </a:xfrm>
          <a:prstGeom prst="ellipse">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743200" cy="274320"/>
          </a:xfrm>
          <a:prstGeom prst="rect">
            <a:avLst/>
          </a:prstGeom>
          <a:noFill/>
        </p:spPr>
        <p:txBody>
          <a:bodyPr wrap="square" lIns="0" rIns="0" tIns="0" bIns="0" anchor="t">
            <a:spAutoFit/>
          </a:bodyPr>
          <a:lstStyle/>
          <a:p>
            <a:pPr algn="ctr">
              <a:lnSpc>
                <a:spcPct val="135000"/>
              </a:lnSpc>
            </a:pPr>
            <a:r>
              <a:rPr sz="900" b="1" i="0">
                <a:solidFill>
                  <a:srgbClr val="007CC3"/>
                </a:solidFill>
                <a:latin typeface="JetBrains Mono"/>
              </a:rPr>
              <a:t>STAGE I</a:t>
            </a:r>
          </a:p>
        </p:txBody>
      </p:sp>
      <p:sp>
        <p:nvSpPr>
          <p:cNvPr id="10" name="TextBox 9"/>
          <p:cNvSpPr txBox="1"/>
          <p:nvPr/>
        </p:nvSpPr>
        <p:spPr>
          <a:xfrm>
            <a:off x="640080" y="2057400"/>
            <a:ext cx="2743200" cy="274320"/>
          </a:xfrm>
          <a:prstGeom prst="rect">
            <a:avLst/>
          </a:prstGeom>
          <a:noFill/>
        </p:spPr>
        <p:txBody>
          <a:bodyPr wrap="square" lIns="0" rIns="0" tIns="0" bIns="0" anchor="t">
            <a:spAutoFit/>
          </a:bodyPr>
          <a:lstStyle/>
          <a:p>
            <a:pPr algn="ctr">
              <a:lnSpc>
                <a:spcPct val="135000"/>
              </a:lnSpc>
            </a:pPr>
            <a:r>
              <a:rPr sz="700" b="0" i="0">
                <a:solidFill>
                  <a:srgbClr val="A7A9AC"/>
                </a:solidFill>
                <a:latin typeface="JetBrains Mono"/>
              </a:rPr>
              <a:t>· TODAY ·</a:t>
            </a:r>
          </a:p>
        </p:txBody>
      </p:sp>
      <p:sp>
        <p:nvSpPr>
          <p:cNvPr id="11" name="TextBox 10"/>
          <p:cNvSpPr txBox="1"/>
          <p:nvPr/>
        </p:nvSpPr>
        <p:spPr>
          <a:xfrm>
            <a:off x="640080" y="2971800"/>
            <a:ext cx="2743200" cy="457200"/>
          </a:xfrm>
          <a:prstGeom prst="rect">
            <a:avLst/>
          </a:prstGeom>
          <a:noFill/>
        </p:spPr>
        <p:txBody>
          <a:bodyPr wrap="square" lIns="0" rIns="0" tIns="0" bIns="0" anchor="t">
            <a:spAutoFit/>
          </a:bodyPr>
          <a:lstStyle/>
          <a:p>
            <a:pPr algn="ctr">
              <a:lnSpc>
                <a:spcPct val="115000"/>
              </a:lnSpc>
            </a:pPr>
            <a:r>
              <a:rPr sz="1800" b="0" i="0">
                <a:solidFill>
                  <a:srgbClr val="182534"/>
                </a:solidFill>
                <a:latin typeface="Fraunces"/>
              </a:rPr>
              <a:t>Pilots</a:t>
            </a:r>
          </a:p>
        </p:txBody>
      </p:sp>
      <p:sp>
        <p:nvSpPr>
          <p:cNvPr id="12" name="TextBox 11"/>
          <p:cNvSpPr txBox="1"/>
          <p:nvPr/>
        </p:nvSpPr>
        <p:spPr>
          <a:xfrm>
            <a:off x="640080" y="3611880"/>
            <a:ext cx="2743200" cy="1645920"/>
          </a:xfrm>
          <a:prstGeom prst="rect">
            <a:avLst/>
          </a:prstGeom>
          <a:noFill/>
        </p:spPr>
        <p:txBody>
          <a:bodyPr wrap="square" lIns="0" rIns="0" tIns="0" bIns="0" anchor="t">
            <a:spAutoFit/>
          </a:bodyPr>
          <a:lstStyle/>
          <a:p>
            <a:pPr algn="ctr">
              <a:lnSpc>
                <a:spcPct val="150000"/>
              </a:lnSpc>
            </a:pPr>
            <a:r>
              <a:rPr sz="1100" b="0" i="0">
                <a:solidFill>
                  <a:srgbClr val="6D6E71"/>
                </a:solidFill>
                <a:latin typeface="Newsreader"/>
              </a:rPr>
              <a:t>One-off use cases. Manual scaling. Value rarely attributed back to a P&amp;L.</a:t>
            </a:r>
          </a:p>
        </p:txBody>
      </p:sp>
      <p:sp>
        <p:nvSpPr>
          <p:cNvPr id="13" name="Oval 12"/>
          <p:cNvSpPr/>
          <p:nvPr/>
        </p:nvSpPr>
        <p:spPr>
          <a:xfrm>
            <a:off x="4643018" y="2606040"/>
            <a:ext cx="182880" cy="182880"/>
          </a:xfrm>
          <a:prstGeom prst="ellipse">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62858" y="1783080"/>
            <a:ext cx="2743200" cy="274320"/>
          </a:xfrm>
          <a:prstGeom prst="rect">
            <a:avLst/>
          </a:prstGeom>
          <a:noFill/>
        </p:spPr>
        <p:txBody>
          <a:bodyPr wrap="square" lIns="0" rIns="0" tIns="0" bIns="0" anchor="t">
            <a:spAutoFit/>
          </a:bodyPr>
          <a:lstStyle/>
          <a:p>
            <a:pPr algn="ctr">
              <a:lnSpc>
                <a:spcPct val="135000"/>
              </a:lnSpc>
            </a:pPr>
            <a:r>
              <a:rPr sz="900" b="1" i="0">
                <a:solidFill>
                  <a:srgbClr val="007CC3"/>
                </a:solidFill>
                <a:latin typeface="JetBrains Mono"/>
              </a:rPr>
              <a:t>STAGE II</a:t>
            </a:r>
          </a:p>
        </p:txBody>
      </p:sp>
      <p:sp>
        <p:nvSpPr>
          <p:cNvPr id="15" name="TextBox 14"/>
          <p:cNvSpPr txBox="1"/>
          <p:nvPr/>
        </p:nvSpPr>
        <p:spPr>
          <a:xfrm>
            <a:off x="3362858" y="2057400"/>
            <a:ext cx="2743200" cy="274320"/>
          </a:xfrm>
          <a:prstGeom prst="rect">
            <a:avLst/>
          </a:prstGeom>
          <a:noFill/>
        </p:spPr>
        <p:txBody>
          <a:bodyPr wrap="square" lIns="0" rIns="0" tIns="0" bIns="0" anchor="t">
            <a:spAutoFit/>
          </a:bodyPr>
          <a:lstStyle/>
          <a:p>
            <a:pPr algn="ctr">
              <a:lnSpc>
                <a:spcPct val="135000"/>
              </a:lnSpc>
            </a:pPr>
            <a:r>
              <a:rPr sz="700" b="0" i="0">
                <a:solidFill>
                  <a:srgbClr val="A7A9AC"/>
                </a:solidFill>
                <a:latin typeface="JetBrains Mono"/>
              </a:rPr>
              <a:t>· TODAY ·</a:t>
            </a:r>
          </a:p>
        </p:txBody>
      </p:sp>
      <p:sp>
        <p:nvSpPr>
          <p:cNvPr id="16" name="TextBox 15"/>
          <p:cNvSpPr txBox="1"/>
          <p:nvPr/>
        </p:nvSpPr>
        <p:spPr>
          <a:xfrm>
            <a:off x="3362858" y="2971800"/>
            <a:ext cx="2743200" cy="457200"/>
          </a:xfrm>
          <a:prstGeom prst="rect">
            <a:avLst/>
          </a:prstGeom>
          <a:noFill/>
        </p:spPr>
        <p:txBody>
          <a:bodyPr wrap="square" lIns="0" rIns="0" tIns="0" bIns="0" anchor="t">
            <a:spAutoFit/>
          </a:bodyPr>
          <a:lstStyle/>
          <a:p>
            <a:pPr algn="ctr">
              <a:lnSpc>
                <a:spcPct val="115000"/>
              </a:lnSpc>
            </a:pPr>
            <a:r>
              <a:rPr sz="1800" b="0" i="0">
                <a:solidFill>
                  <a:srgbClr val="182534"/>
                </a:solidFill>
                <a:latin typeface="Fraunces"/>
              </a:rPr>
              <a:t>Patterned use cases</a:t>
            </a:r>
          </a:p>
        </p:txBody>
      </p:sp>
      <p:sp>
        <p:nvSpPr>
          <p:cNvPr id="17" name="TextBox 16"/>
          <p:cNvSpPr txBox="1"/>
          <p:nvPr/>
        </p:nvSpPr>
        <p:spPr>
          <a:xfrm>
            <a:off x="3362858" y="3611880"/>
            <a:ext cx="2743200" cy="1645920"/>
          </a:xfrm>
          <a:prstGeom prst="rect">
            <a:avLst/>
          </a:prstGeom>
          <a:noFill/>
        </p:spPr>
        <p:txBody>
          <a:bodyPr wrap="square" lIns="0" rIns="0" tIns="0" bIns="0" anchor="t">
            <a:spAutoFit/>
          </a:bodyPr>
          <a:lstStyle/>
          <a:p>
            <a:pPr algn="ctr">
              <a:lnSpc>
                <a:spcPct val="150000"/>
              </a:lnSpc>
            </a:pPr>
            <a:r>
              <a:rPr sz="1100" b="0" i="0">
                <a:solidFill>
                  <a:srgbClr val="6D6E71"/>
                </a:solidFill>
                <a:latin typeface="Newsreader"/>
              </a:rPr>
              <a:t>Templates emerge. Platform investments begin. Evals are introduced.</a:t>
            </a:r>
          </a:p>
        </p:txBody>
      </p:sp>
      <p:sp>
        <p:nvSpPr>
          <p:cNvPr id="18" name="Oval 17"/>
          <p:cNvSpPr/>
          <p:nvPr/>
        </p:nvSpPr>
        <p:spPr>
          <a:xfrm>
            <a:off x="7365796" y="2606040"/>
            <a:ext cx="182880" cy="182880"/>
          </a:xfrm>
          <a:prstGeom prst="ellipse">
            <a:avLst/>
          </a:prstGeom>
          <a:solidFill>
            <a:srgbClr val="FFFFFF"/>
          </a:solidFill>
          <a:ln w="19050">
            <a:solidFill>
              <a:srgbClr val="007C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85636" y="1783080"/>
            <a:ext cx="2743200" cy="274320"/>
          </a:xfrm>
          <a:prstGeom prst="rect">
            <a:avLst/>
          </a:prstGeom>
          <a:noFill/>
        </p:spPr>
        <p:txBody>
          <a:bodyPr wrap="square" lIns="0" rIns="0" tIns="0" bIns="0" anchor="t">
            <a:spAutoFit/>
          </a:bodyPr>
          <a:lstStyle/>
          <a:p>
            <a:pPr algn="ctr">
              <a:lnSpc>
                <a:spcPct val="135000"/>
              </a:lnSpc>
            </a:pPr>
            <a:r>
              <a:rPr sz="900" b="1" i="0">
                <a:solidFill>
                  <a:srgbClr val="007CC3"/>
                </a:solidFill>
                <a:latin typeface="JetBrains Mono"/>
              </a:rPr>
              <a:t>STAGE III</a:t>
            </a:r>
          </a:p>
        </p:txBody>
      </p:sp>
      <p:sp>
        <p:nvSpPr>
          <p:cNvPr id="20" name="TextBox 19"/>
          <p:cNvSpPr txBox="1"/>
          <p:nvPr/>
        </p:nvSpPr>
        <p:spPr>
          <a:xfrm>
            <a:off x="6085636" y="2057400"/>
            <a:ext cx="2743200" cy="274320"/>
          </a:xfrm>
          <a:prstGeom prst="rect">
            <a:avLst/>
          </a:prstGeom>
          <a:noFill/>
        </p:spPr>
        <p:txBody>
          <a:bodyPr wrap="square" lIns="0" rIns="0" tIns="0" bIns="0" anchor="t">
            <a:spAutoFit/>
          </a:bodyPr>
          <a:lstStyle/>
          <a:p>
            <a:pPr algn="ctr">
              <a:lnSpc>
                <a:spcPct val="135000"/>
              </a:lnSpc>
            </a:pPr>
            <a:r>
              <a:rPr sz="700" b="0" i="0">
                <a:solidFill>
                  <a:srgbClr val="007CC3"/>
                </a:solidFill>
                <a:latin typeface="JetBrains Mono"/>
              </a:rPr>
              <a:t>· THE PRIZE ·</a:t>
            </a:r>
          </a:p>
        </p:txBody>
      </p:sp>
      <p:sp>
        <p:nvSpPr>
          <p:cNvPr id="21" name="TextBox 20"/>
          <p:cNvSpPr txBox="1"/>
          <p:nvPr/>
        </p:nvSpPr>
        <p:spPr>
          <a:xfrm>
            <a:off x="6085636" y="2971800"/>
            <a:ext cx="2743200" cy="457200"/>
          </a:xfrm>
          <a:prstGeom prst="rect">
            <a:avLst/>
          </a:prstGeom>
          <a:noFill/>
        </p:spPr>
        <p:txBody>
          <a:bodyPr wrap="square" lIns="0" rIns="0" tIns="0" bIns="0" anchor="t">
            <a:spAutoFit/>
          </a:bodyPr>
          <a:lstStyle/>
          <a:p>
            <a:pPr algn="ctr">
              <a:lnSpc>
                <a:spcPct val="115000"/>
              </a:lnSpc>
            </a:pPr>
            <a:r>
              <a:rPr sz="1800" b="0" i="0">
                <a:solidFill>
                  <a:srgbClr val="182534"/>
                </a:solidFill>
                <a:latin typeface="Fraunces"/>
              </a:rPr>
              <a:t>Agent-native processes</a:t>
            </a:r>
          </a:p>
        </p:txBody>
      </p:sp>
      <p:sp>
        <p:nvSpPr>
          <p:cNvPr id="22" name="TextBox 21"/>
          <p:cNvSpPr txBox="1"/>
          <p:nvPr/>
        </p:nvSpPr>
        <p:spPr>
          <a:xfrm>
            <a:off x="6085636" y="3611880"/>
            <a:ext cx="2743200" cy="1645920"/>
          </a:xfrm>
          <a:prstGeom prst="rect">
            <a:avLst/>
          </a:prstGeom>
          <a:noFill/>
        </p:spPr>
        <p:txBody>
          <a:bodyPr wrap="square" lIns="0" rIns="0" tIns="0" bIns="0" anchor="t">
            <a:spAutoFit/>
          </a:bodyPr>
          <a:lstStyle/>
          <a:p>
            <a:pPr algn="ctr">
              <a:lnSpc>
                <a:spcPct val="150000"/>
              </a:lnSpc>
            </a:pPr>
            <a:r>
              <a:rPr sz="1100" b="0" i="0">
                <a:solidFill>
                  <a:srgbClr val="6D6E71"/>
                </a:solidFill>
                <a:latin typeface="Newsreader"/>
              </a:rPr>
              <a:t>Workflows redesigned end-to-end. KPIs rewritten. Operating model adjusted.</a:t>
            </a:r>
          </a:p>
        </p:txBody>
      </p:sp>
      <p:sp>
        <p:nvSpPr>
          <p:cNvPr id="23" name="Oval 22"/>
          <p:cNvSpPr/>
          <p:nvPr/>
        </p:nvSpPr>
        <p:spPr>
          <a:xfrm>
            <a:off x="10088575" y="2606040"/>
            <a:ext cx="182880" cy="182880"/>
          </a:xfrm>
          <a:prstGeom prst="ellipse">
            <a:avLst/>
          </a:prstGeom>
          <a:solidFill>
            <a:srgbClr val="FFFFFF"/>
          </a:solidFill>
          <a:ln w="19050">
            <a:solidFill>
              <a:srgbClr val="007C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08415" y="1783080"/>
            <a:ext cx="2743200" cy="274320"/>
          </a:xfrm>
          <a:prstGeom prst="rect">
            <a:avLst/>
          </a:prstGeom>
          <a:noFill/>
        </p:spPr>
        <p:txBody>
          <a:bodyPr wrap="square" lIns="0" rIns="0" tIns="0" bIns="0" anchor="t">
            <a:spAutoFit/>
          </a:bodyPr>
          <a:lstStyle/>
          <a:p>
            <a:pPr algn="ctr">
              <a:lnSpc>
                <a:spcPct val="135000"/>
              </a:lnSpc>
            </a:pPr>
            <a:r>
              <a:rPr sz="900" b="1" i="0">
                <a:solidFill>
                  <a:srgbClr val="007CC3"/>
                </a:solidFill>
                <a:latin typeface="JetBrains Mono"/>
              </a:rPr>
              <a:t>STAGE IV</a:t>
            </a:r>
          </a:p>
        </p:txBody>
      </p:sp>
      <p:sp>
        <p:nvSpPr>
          <p:cNvPr id="25" name="TextBox 24"/>
          <p:cNvSpPr txBox="1"/>
          <p:nvPr/>
        </p:nvSpPr>
        <p:spPr>
          <a:xfrm>
            <a:off x="8808415" y="2057400"/>
            <a:ext cx="2743200" cy="274320"/>
          </a:xfrm>
          <a:prstGeom prst="rect">
            <a:avLst/>
          </a:prstGeom>
          <a:noFill/>
        </p:spPr>
        <p:txBody>
          <a:bodyPr wrap="square" lIns="0" rIns="0" tIns="0" bIns="0" anchor="t">
            <a:spAutoFit/>
          </a:bodyPr>
          <a:lstStyle/>
          <a:p>
            <a:pPr algn="ctr">
              <a:lnSpc>
                <a:spcPct val="135000"/>
              </a:lnSpc>
            </a:pPr>
            <a:r>
              <a:rPr sz="700" b="0" i="0">
                <a:solidFill>
                  <a:srgbClr val="007CC3"/>
                </a:solidFill>
                <a:latin typeface="JetBrains Mono"/>
              </a:rPr>
              <a:t>· THE FUTURE ·</a:t>
            </a:r>
          </a:p>
        </p:txBody>
      </p:sp>
      <p:sp>
        <p:nvSpPr>
          <p:cNvPr id="26" name="TextBox 25"/>
          <p:cNvSpPr txBox="1"/>
          <p:nvPr/>
        </p:nvSpPr>
        <p:spPr>
          <a:xfrm>
            <a:off x="8808415" y="2971800"/>
            <a:ext cx="2743200" cy="457200"/>
          </a:xfrm>
          <a:prstGeom prst="rect">
            <a:avLst/>
          </a:prstGeom>
          <a:noFill/>
        </p:spPr>
        <p:txBody>
          <a:bodyPr wrap="square" lIns="0" rIns="0" tIns="0" bIns="0" anchor="t">
            <a:spAutoFit/>
          </a:bodyPr>
          <a:lstStyle/>
          <a:p>
            <a:pPr algn="ctr">
              <a:lnSpc>
                <a:spcPct val="115000"/>
              </a:lnSpc>
            </a:pPr>
            <a:r>
              <a:rPr sz="1800" b="0" i="0">
                <a:solidFill>
                  <a:srgbClr val="182534"/>
                </a:solidFill>
                <a:latin typeface="Fraunces"/>
              </a:rPr>
              <a:t>Agent-native bank</a:t>
            </a:r>
          </a:p>
        </p:txBody>
      </p:sp>
      <p:sp>
        <p:nvSpPr>
          <p:cNvPr id="27" name="TextBox 26"/>
          <p:cNvSpPr txBox="1"/>
          <p:nvPr/>
        </p:nvSpPr>
        <p:spPr>
          <a:xfrm>
            <a:off x="8808415" y="3611880"/>
            <a:ext cx="2743200" cy="1645920"/>
          </a:xfrm>
          <a:prstGeom prst="rect">
            <a:avLst/>
          </a:prstGeom>
          <a:noFill/>
        </p:spPr>
        <p:txBody>
          <a:bodyPr wrap="square" lIns="0" rIns="0" tIns="0" bIns="0" anchor="t">
            <a:spAutoFit/>
          </a:bodyPr>
          <a:lstStyle/>
          <a:p>
            <a:pPr algn="ctr">
              <a:lnSpc>
                <a:spcPct val="150000"/>
              </a:lnSpc>
            </a:pPr>
            <a:r>
              <a:rPr sz="1100" b="0" i="0">
                <a:solidFill>
                  <a:srgbClr val="6D6E71"/>
                </a:solidFill>
                <a:latin typeface="Newsreader"/>
              </a:rPr>
              <a:t>Roles, P&amp;L, and controls are built around agents. The org chart reflects it.</a:t>
            </a:r>
          </a:p>
        </p:txBody>
      </p:sp>
      <p:cxnSp>
        <p:nvCxnSpPr>
          <p:cNvPr id="28" name="Connector 27"/>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30" name="TextBox 29"/>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13 / 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Where most banks are — and where leaders are heading</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MATURITY &amp; PATH  ·  TODAY'S DISTRIBUTION</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IV   ·   TODAY</a:t>
            </a:r>
          </a:p>
        </p:txBody>
      </p:sp>
      <p:sp>
        <p:nvSpPr>
          <p:cNvPr id="6" name="TextBox 5"/>
          <p:cNvSpPr txBox="1"/>
          <p:nvPr/>
        </p:nvSpPr>
        <p:spPr>
          <a:xfrm>
            <a:off x="640080" y="1005840"/>
            <a:ext cx="10911535" cy="548640"/>
          </a:xfrm>
          <a:prstGeom prst="rect">
            <a:avLst/>
          </a:prstGeom>
          <a:noFill/>
        </p:spPr>
        <p:txBody>
          <a:bodyPr wrap="square" lIns="0" rIns="0" tIns="0" bIns="0" anchor="t">
            <a:spAutoFit/>
          </a:bodyPr>
          <a:lstStyle/>
          <a:p>
            <a:pPr algn="l">
              <a:lnSpc>
                <a:spcPct val="120000"/>
              </a:lnSpc>
            </a:pPr>
            <a:r>
              <a:rPr sz="2000" b="0" i="1">
                <a:solidFill>
                  <a:srgbClr val="182534"/>
                </a:solidFill>
                <a:latin typeface="Fraunces"/>
              </a:rPr>
              <a:t>Most large banks remain between stages one and two. The gap to stage three is where the next decade of advantage is decided.</a:t>
            </a:r>
          </a:p>
        </p:txBody>
      </p:sp>
      <p:cxnSp>
        <p:nvCxnSpPr>
          <p:cNvPr id="7" name="Connector 6"/>
          <p:cNvCxnSpPr/>
          <p:nvPr/>
        </p:nvCxnSpPr>
        <p:spPr>
          <a:xfrm>
            <a:off x="1554480" y="4617720"/>
            <a:ext cx="9082735" cy="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011680" y="2748280"/>
            <a:ext cx="1356283" cy="1869440"/>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37360" y="2194560"/>
            <a:ext cx="1904923" cy="502920"/>
          </a:xfrm>
          <a:prstGeom prst="rect">
            <a:avLst/>
          </a:prstGeom>
          <a:noFill/>
        </p:spPr>
        <p:txBody>
          <a:bodyPr wrap="square" lIns="0" rIns="0" tIns="0" bIns="0" anchor="t">
            <a:spAutoFit/>
          </a:bodyPr>
          <a:lstStyle/>
          <a:p>
            <a:pPr algn="ctr">
              <a:lnSpc>
                <a:spcPct val="100000"/>
              </a:lnSpc>
            </a:pPr>
            <a:r>
              <a:rPr sz="3200" b="0" i="0">
                <a:solidFill>
                  <a:srgbClr val="182534"/>
                </a:solidFill>
                <a:latin typeface="Fraunces"/>
              </a:rPr>
              <a:t>40%</a:t>
            </a:r>
          </a:p>
        </p:txBody>
      </p:sp>
      <p:sp>
        <p:nvSpPr>
          <p:cNvPr id="10" name="TextBox 9"/>
          <p:cNvSpPr txBox="1"/>
          <p:nvPr/>
        </p:nvSpPr>
        <p:spPr>
          <a:xfrm>
            <a:off x="1645920" y="4754880"/>
            <a:ext cx="2087803" cy="228600"/>
          </a:xfrm>
          <a:prstGeom prst="rect">
            <a:avLst/>
          </a:prstGeom>
          <a:noFill/>
        </p:spPr>
        <p:txBody>
          <a:bodyPr wrap="square" lIns="0" rIns="0" tIns="0" bIns="0" anchor="t">
            <a:spAutoFit/>
          </a:bodyPr>
          <a:lstStyle/>
          <a:p>
            <a:pPr algn="ctr">
              <a:lnSpc>
                <a:spcPct val="135000"/>
              </a:lnSpc>
            </a:pPr>
            <a:r>
              <a:rPr sz="900" b="1" i="0">
                <a:solidFill>
                  <a:srgbClr val="A7A9AC"/>
                </a:solidFill>
                <a:latin typeface="JetBrains Mono"/>
              </a:rPr>
              <a:t>STAGE  I</a:t>
            </a:r>
          </a:p>
        </p:txBody>
      </p:sp>
      <p:sp>
        <p:nvSpPr>
          <p:cNvPr id="11" name="TextBox 10"/>
          <p:cNvSpPr txBox="1"/>
          <p:nvPr/>
        </p:nvSpPr>
        <p:spPr>
          <a:xfrm>
            <a:off x="1645920" y="5074920"/>
            <a:ext cx="2087803" cy="640080"/>
          </a:xfrm>
          <a:prstGeom prst="rect">
            <a:avLst/>
          </a:prstGeom>
          <a:noFill/>
        </p:spPr>
        <p:txBody>
          <a:bodyPr wrap="square" lIns="0" rIns="0" tIns="0" bIns="0" anchor="t">
            <a:spAutoFit/>
          </a:bodyPr>
          <a:lstStyle/>
          <a:p>
            <a:pPr algn="ctr">
              <a:lnSpc>
                <a:spcPct val="130000"/>
              </a:lnSpc>
            </a:pPr>
            <a:r>
              <a:rPr sz="1200" b="0" i="1">
                <a:solidFill>
                  <a:srgbClr val="404040"/>
                </a:solidFill>
                <a:latin typeface="Newsreader"/>
              </a:rPr>
              <a:t>Pilots</a:t>
            </a:r>
          </a:p>
        </p:txBody>
      </p:sp>
      <p:sp>
        <p:nvSpPr>
          <p:cNvPr id="12" name="Rectangle 11"/>
          <p:cNvSpPr/>
          <p:nvPr/>
        </p:nvSpPr>
        <p:spPr>
          <a:xfrm>
            <a:off x="4282363" y="2654809"/>
            <a:ext cx="1356283" cy="1962911"/>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08043" y="2194560"/>
            <a:ext cx="1904923" cy="502920"/>
          </a:xfrm>
          <a:prstGeom prst="rect">
            <a:avLst/>
          </a:prstGeom>
          <a:noFill/>
        </p:spPr>
        <p:txBody>
          <a:bodyPr wrap="square" lIns="0" rIns="0" tIns="0" bIns="0" anchor="t">
            <a:spAutoFit/>
          </a:bodyPr>
          <a:lstStyle/>
          <a:p>
            <a:pPr algn="ctr">
              <a:lnSpc>
                <a:spcPct val="100000"/>
              </a:lnSpc>
            </a:pPr>
            <a:r>
              <a:rPr sz="3200" b="0" i="0">
                <a:solidFill>
                  <a:srgbClr val="182534"/>
                </a:solidFill>
                <a:latin typeface="Fraunces"/>
              </a:rPr>
              <a:t>42%</a:t>
            </a:r>
          </a:p>
        </p:txBody>
      </p:sp>
      <p:sp>
        <p:nvSpPr>
          <p:cNvPr id="14" name="TextBox 13"/>
          <p:cNvSpPr txBox="1"/>
          <p:nvPr/>
        </p:nvSpPr>
        <p:spPr>
          <a:xfrm>
            <a:off x="3916603" y="4754880"/>
            <a:ext cx="2087803" cy="228600"/>
          </a:xfrm>
          <a:prstGeom prst="rect">
            <a:avLst/>
          </a:prstGeom>
          <a:noFill/>
        </p:spPr>
        <p:txBody>
          <a:bodyPr wrap="square" lIns="0" rIns="0" tIns="0" bIns="0" anchor="t">
            <a:spAutoFit/>
          </a:bodyPr>
          <a:lstStyle/>
          <a:p>
            <a:pPr algn="ctr">
              <a:lnSpc>
                <a:spcPct val="135000"/>
              </a:lnSpc>
            </a:pPr>
            <a:r>
              <a:rPr sz="900" b="1" i="0">
                <a:solidFill>
                  <a:srgbClr val="A7A9AC"/>
                </a:solidFill>
                <a:latin typeface="JetBrains Mono"/>
              </a:rPr>
              <a:t>STAGE  II</a:t>
            </a:r>
          </a:p>
        </p:txBody>
      </p:sp>
      <p:sp>
        <p:nvSpPr>
          <p:cNvPr id="15" name="TextBox 14"/>
          <p:cNvSpPr txBox="1"/>
          <p:nvPr/>
        </p:nvSpPr>
        <p:spPr>
          <a:xfrm>
            <a:off x="3916603" y="5074920"/>
            <a:ext cx="2087803" cy="640080"/>
          </a:xfrm>
          <a:prstGeom prst="rect">
            <a:avLst/>
          </a:prstGeom>
          <a:noFill/>
        </p:spPr>
        <p:txBody>
          <a:bodyPr wrap="square" lIns="0" rIns="0" tIns="0" bIns="0" anchor="t">
            <a:spAutoFit/>
          </a:bodyPr>
          <a:lstStyle/>
          <a:p>
            <a:pPr algn="ctr">
              <a:lnSpc>
                <a:spcPct val="130000"/>
              </a:lnSpc>
            </a:pPr>
            <a:r>
              <a:rPr sz="1200" b="0" i="1">
                <a:solidFill>
                  <a:srgbClr val="404040"/>
                </a:solidFill>
                <a:latin typeface="Newsreader"/>
              </a:rPr>
              <a:t>Patterned
use cases</a:t>
            </a:r>
          </a:p>
        </p:txBody>
      </p:sp>
      <p:sp>
        <p:nvSpPr>
          <p:cNvPr id="16" name="Rectangle 15"/>
          <p:cNvSpPr/>
          <p:nvPr/>
        </p:nvSpPr>
        <p:spPr>
          <a:xfrm>
            <a:off x="6553047" y="3869944"/>
            <a:ext cx="1356283" cy="747776"/>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8727" y="2194560"/>
            <a:ext cx="1904923" cy="502920"/>
          </a:xfrm>
          <a:prstGeom prst="rect">
            <a:avLst/>
          </a:prstGeom>
          <a:noFill/>
        </p:spPr>
        <p:txBody>
          <a:bodyPr wrap="square" lIns="0" rIns="0" tIns="0" bIns="0" anchor="t">
            <a:spAutoFit/>
          </a:bodyPr>
          <a:lstStyle/>
          <a:p>
            <a:pPr algn="ctr">
              <a:lnSpc>
                <a:spcPct val="100000"/>
              </a:lnSpc>
            </a:pPr>
            <a:r>
              <a:rPr sz="3200" b="0" i="0">
                <a:solidFill>
                  <a:srgbClr val="007CC3"/>
                </a:solidFill>
                <a:latin typeface="Fraunces"/>
              </a:rPr>
              <a:t>16%</a:t>
            </a:r>
          </a:p>
        </p:txBody>
      </p:sp>
      <p:sp>
        <p:nvSpPr>
          <p:cNvPr id="18" name="TextBox 17"/>
          <p:cNvSpPr txBox="1"/>
          <p:nvPr/>
        </p:nvSpPr>
        <p:spPr>
          <a:xfrm>
            <a:off x="6187287" y="4754880"/>
            <a:ext cx="2087803" cy="228600"/>
          </a:xfrm>
          <a:prstGeom prst="rect">
            <a:avLst/>
          </a:prstGeom>
          <a:noFill/>
        </p:spPr>
        <p:txBody>
          <a:bodyPr wrap="square" lIns="0" rIns="0" tIns="0" bIns="0" anchor="t">
            <a:spAutoFit/>
          </a:bodyPr>
          <a:lstStyle/>
          <a:p>
            <a:pPr algn="ctr">
              <a:lnSpc>
                <a:spcPct val="135000"/>
              </a:lnSpc>
            </a:pPr>
            <a:r>
              <a:rPr sz="900" b="1" i="0">
                <a:solidFill>
                  <a:srgbClr val="007CC3"/>
                </a:solidFill>
                <a:latin typeface="JetBrains Mono"/>
              </a:rPr>
              <a:t>STAGE  III</a:t>
            </a:r>
          </a:p>
        </p:txBody>
      </p:sp>
      <p:sp>
        <p:nvSpPr>
          <p:cNvPr id="19" name="TextBox 18"/>
          <p:cNvSpPr txBox="1"/>
          <p:nvPr/>
        </p:nvSpPr>
        <p:spPr>
          <a:xfrm>
            <a:off x="6187287" y="5074920"/>
            <a:ext cx="2087803" cy="640080"/>
          </a:xfrm>
          <a:prstGeom prst="rect">
            <a:avLst/>
          </a:prstGeom>
          <a:noFill/>
        </p:spPr>
        <p:txBody>
          <a:bodyPr wrap="square" lIns="0" rIns="0" tIns="0" bIns="0" anchor="t">
            <a:spAutoFit/>
          </a:bodyPr>
          <a:lstStyle/>
          <a:p>
            <a:pPr algn="ctr">
              <a:lnSpc>
                <a:spcPct val="130000"/>
              </a:lnSpc>
            </a:pPr>
            <a:r>
              <a:rPr sz="1200" b="0" i="1">
                <a:solidFill>
                  <a:srgbClr val="404040"/>
                </a:solidFill>
                <a:latin typeface="Newsreader"/>
              </a:rPr>
              <a:t>Agent-native
processes</a:t>
            </a:r>
          </a:p>
        </p:txBody>
      </p:sp>
      <p:sp>
        <p:nvSpPr>
          <p:cNvPr id="20" name="Rectangle 19"/>
          <p:cNvSpPr/>
          <p:nvPr/>
        </p:nvSpPr>
        <p:spPr>
          <a:xfrm>
            <a:off x="8823731" y="4524248"/>
            <a:ext cx="1356283" cy="93472"/>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9411" y="2194560"/>
            <a:ext cx="1904923" cy="502920"/>
          </a:xfrm>
          <a:prstGeom prst="rect">
            <a:avLst/>
          </a:prstGeom>
          <a:noFill/>
        </p:spPr>
        <p:txBody>
          <a:bodyPr wrap="square" lIns="0" rIns="0" tIns="0" bIns="0" anchor="t">
            <a:spAutoFit/>
          </a:bodyPr>
          <a:lstStyle/>
          <a:p>
            <a:pPr algn="ctr">
              <a:lnSpc>
                <a:spcPct val="100000"/>
              </a:lnSpc>
            </a:pPr>
            <a:r>
              <a:rPr sz="3200" b="0" i="0">
                <a:solidFill>
                  <a:srgbClr val="007CC3"/>
                </a:solidFill>
                <a:latin typeface="Fraunces"/>
              </a:rPr>
              <a:t>2%</a:t>
            </a:r>
          </a:p>
        </p:txBody>
      </p:sp>
      <p:sp>
        <p:nvSpPr>
          <p:cNvPr id="22" name="TextBox 21"/>
          <p:cNvSpPr txBox="1"/>
          <p:nvPr/>
        </p:nvSpPr>
        <p:spPr>
          <a:xfrm>
            <a:off x="8457971" y="4754880"/>
            <a:ext cx="2087803" cy="228600"/>
          </a:xfrm>
          <a:prstGeom prst="rect">
            <a:avLst/>
          </a:prstGeom>
          <a:noFill/>
        </p:spPr>
        <p:txBody>
          <a:bodyPr wrap="square" lIns="0" rIns="0" tIns="0" bIns="0" anchor="t">
            <a:spAutoFit/>
          </a:bodyPr>
          <a:lstStyle/>
          <a:p>
            <a:pPr algn="ctr">
              <a:lnSpc>
                <a:spcPct val="135000"/>
              </a:lnSpc>
            </a:pPr>
            <a:r>
              <a:rPr sz="900" b="1" i="0">
                <a:solidFill>
                  <a:srgbClr val="007CC3"/>
                </a:solidFill>
                <a:latin typeface="JetBrains Mono"/>
              </a:rPr>
              <a:t>STAGE  IV</a:t>
            </a:r>
          </a:p>
        </p:txBody>
      </p:sp>
      <p:sp>
        <p:nvSpPr>
          <p:cNvPr id="23" name="TextBox 22"/>
          <p:cNvSpPr txBox="1"/>
          <p:nvPr/>
        </p:nvSpPr>
        <p:spPr>
          <a:xfrm>
            <a:off x="8457971" y="5074920"/>
            <a:ext cx="2087803" cy="640080"/>
          </a:xfrm>
          <a:prstGeom prst="rect">
            <a:avLst/>
          </a:prstGeom>
          <a:noFill/>
        </p:spPr>
        <p:txBody>
          <a:bodyPr wrap="square" lIns="0" rIns="0" tIns="0" bIns="0" anchor="t">
            <a:spAutoFit/>
          </a:bodyPr>
          <a:lstStyle/>
          <a:p>
            <a:pPr algn="ctr">
              <a:lnSpc>
                <a:spcPct val="130000"/>
              </a:lnSpc>
            </a:pPr>
            <a:r>
              <a:rPr sz="1200" b="0" i="1">
                <a:solidFill>
                  <a:srgbClr val="404040"/>
                </a:solidFill>
                <a:latin typeface="Newsreader"/>
              </a:rPr>
              <a:t>Agent-native
bank</a:t>
            </a:r>
          </a:p>
        </p:txBody>
      </p:sp>
      <p:sp>
        <p:nvSpPr>
          <p:cNvPr id="24" name="TextBox 23"/>
          <p:cNvSpPr txBox="1"/>
          <p:nvPr/>
        </p:nvSpPr>
        <p:spPr>
          <a:xfrm>
            <a:off x="640080" y="5486400"/>
            <a:ext cx="10911535" cy="457200"/>
          </a:xfrm>
          <a:prstGeom prst="rect">
            <a:avLst/>
          </a:prstGeom>
          <a:noFill/>
        </p:spPr>
        <p:txBody>
          <a:bodyPr wrap="square" lIns="0" rIns="0" tIns="0" bIns="0" anchor="t">
            <a:spAutoFit/>
          </a:bodyPr>
          <a:lstStyle/>
          <a:p>
            <a:pPr algn="l">
              <a:lnSpc>
                <a:spcPct val="130000"/>
              </a:lnSpc>
            </a:pPr>
            <a:r>
              <a:rPr sz="1600" b="0" i="1">
                <a:solidFill>
                  <a:srgbClr val="007CC3"/>
                </a:solidFill>
                <a:latin typeface="Fraunces"/>
              </a:rPr>
              <a:t>The gap between stages II and III is where the next decade is decided.</a:t>
            </a:r>
          </a:p>
        </p:txBody>
      </p:sp>
      <p:sp>
        <p:nvSpPr>
          <p:cNvPr id="25" name="TextBox 24"/>
          <p:cNvSpPr txBox="1"/>
          <p:nvPr/>
        </p:nvSpPr>
        <p:spPr>
          <a:xfrm>
            <a:off x="640080" y="6035040"/>
            <a:ext cx="10911535" cy="22860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SOURCE  ·  IC ANALYSIS OF PUBLIC DISCLOSURES, MCKINSEY STATE OF AI 2024, BCG 2024  ·  ILLUSTRATIVE</a:t>
            </a:r>
          </a:p>
        </p:txBody>
      </p:sp>
      <p:cxnSp>
        <p:nvCxnSpPr>
          <p:cNvPr id="26" name="Connector 25"/>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28" name="TextBox 27"/>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14 /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The path to value: what to do across 24 months</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MATURITY &amp; PATH  ·  24-MONTH PLAN</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IV   ·   THE PATH</a:t>
            </a:r>
          </a:p>
        </p:txBody>
      </p:sp>
      <p:sp>
        <p:nvSpPr>
          <p:cNvPr id="6" name="TextBox 5"/>
          <p:cNvSpPr txBox="1"/>
          <p:nvPr/>
        </p:nvSpPr>
        <p:spPr>
          <a:xfrm>
            <a:off x="640080" y="1005840"/>
            <a:ext cx="10911535" cy="457200"/>
          </a:xfrm>
          <a:prstGeom prst="rect">
            <a:avLst/>
          </a:prstGeom>
          <a:noFill/>
        </p:spPr>
        <p:txBody>
          <a:bodyPr wrap="square" lIns="0" rIns="0" tIns="0" bIns="0" anchor="t">
            <a:spAutoFit/>
          </a:bodyPr>
          <a:lstStyle/>
          <a:p>
            <a:pPr algn="l">
              <a:lnSpc>
                <a:spcPct val="120000"/>
              </a:lnSpc>
            </a:pPr>
            <a:r>
              <a:rPr sz="1800" b="0" i="1">
                <a:solidFill>
                  <a:srgbClr val="182534"/>
                </a:solidFill>
                <a:latin typeface="Fraunces"/>
              </a:rPr>
              <a:t>Three horizons. Leaders cross from pilots to a live agent-native process inside this window.</a:t>
            </a:r>
          </a:p>
        </p:txBody>
      </p:sp>
      <p:cxnSp>
        <p:nvCxnSpPr>
          <p:cNvPr id="7" name="Connector 6"/>
          <p:cNvCxnSpPr/>
          <p:nvPr/>
        </p:nvCxnSpPr>
        <p:spPr>
          <a:xfrm>
            <a:off x="640080" y="1874520.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2057400"/>
            <a:ext cx="2011680"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0 – 3 MONTHS</a:t>
            </a:r>
          </a:p>
        </p:txBody>
      </p:sp>
      <p:sp>
        <p:nvSpPr>
          <p:cNvPr id="9" name="TextBox 8"/>
          <p:cNvSpPr txBox="1"/>
          <p:nvPr/>
        </p:nvSpPr>
        <p:spPr>
          <a:xfrm>
            <a:off x="640080" y="2377440"/>
            <a:ext cx="2194560" cy="548640"/>
          </a:xfrm>
          <a:prstGeom prst="rect">
            <a:avLst/>
          </a:prstGeom>
          <a:noFill/>
        </p:spPr>
        <p:txBody>
          <a:bodyPr wrap="square" lIns="0" rIns="0" tIns="0" bIns="0" anchor="t">
            <a:spAutoFit/>
          </a:bodyPr>
          <a:lstStyle/>
          <a:p>
            <a:pPr algn="l">
              <a:lnSpc>
                <a:spcPct val="115000"/>
              </a:lnSpc>
            </a:pPr>
            <a:r>
              <a:rPr sz="2200" b="0" i="1">
                <a:solidFill>
                  <a:srgbClr val="182534"/>
                </a:solidFill>
                <a:latin typeface="Fraunces"/>
              </a:rPr>
              <a:t>Build the case</a:t>
            </a:r>
          </a:p>
        </p:txBody>
      </p:sp>
      <p:sp>
        <p:nvSpPr>
          <p:cNvPr id="10" name="TextBox 9"/>
          <p:cNvSpPr txBox="1"/>
          <p:nvPr/>
        </p:nvSpPr>
        <p:spPr>
          <a:xfrm>
            <a:off x="3383280" y="2011680"/>
            <a:ext cx="137160" cy="365760"/>
          </a:xfrm>
          <a:prstGeom prst="rect">
            <a:avLst/>
          </a:prstGeom>
          <a:noFill/>
        </p:spPr>
        <p:txBody>
          <a:bodyPr wrap="square" lIns="0" rIns="0" tIns="0" bIns="0" anchor="t">
            <a:spAutoFit/>
          </a:bodyPr>
          <a:lstStyle/>
          <a:p>
            <a:pPr algn="l">
              <a:lnSpc>
                <a:spcPct val="135000"/>
              </a:lnSpc>
            </a:pPr>
            <a:r>
              <a:rPr sz="1200" b="0" i="0">
                <a:solidFill>
                  <a:srgbClr val="007CC3"/>
                </a:solidFill>
                <a:latin typeface="Newsreader"/>
              </a:rPr>
              <a:t>—</a:t>
            </a:r>
          </a:p>
        </p:txBody>
      </p:sp>
      <p:sp>
        <p:nvSpPr>
          <p:cNvPr id="11" name="TextBox 10"/>
          <p:cNvSpPr txBox="1"/>
          <p:nvPr/>
        </p:nvSpPr>
        <p:spPr>
          <a:xfrm>
            <a:off x="3566160" y="2011680"/>
            <a:ext cx="3809847" cy="457200"/>
          </a:xfrm>
          <a:prstGeom prst="rect">
            <a:avLst/>
          </a:prstGeom>
          <a:noFill/>
        </p:spPr>
        <p:txBody>
          <a:bodyPr wrap="square" lIns="0" rIns="0" tIns="0" bIns="0" anchor="t">
            <a:spAutoFit/>
          </a:bodyPr>
          <a:lstStyle/>
          <a:p>
            <a:pPr algn="l">
              <a:lnSpc>
                <a:spcPct val="145000"/>
              </a:lnSpc>
            </a:pPr>
            <a:r>
              <a:rPr sz="1200" b="0" i="0">
                <a:solidFill>
                  <a:srgbClr val="404040"/>
                </a:solidFill>
                <a:latin typeface="Newsreader"/>
              </a:rPr>
              <a:t>Pick 1–2 candidate processes for redesign</a:t>
            </a:r>
          </a:p>
        </p:txBody>
      </p:sp>
      <p:sp>
        <p:nvSpPr>
          <p:cNvPr id="12" name="TextBox 11"/>
          <p:cNvSpPr txBox="1"/>
          <p:nvPr/>
        </p:nvSpPr>
        <p:spPr>
          <a:xfrm>
            <a:off x="7467447" y="2011680"/>
            <a:ext cx="137160" cy="365760"/>
          </a:xfrm>
          <a:prstGeom prst="rect">
            <a:avLst/>
          </a:prstGeom>
          <a:noFill/>
        </p:spPr>
        <p:txBody>
          <a:bodyPr wrap="square" lIns="0" rIns="0" tIns="0" bIns="0" anchor="t">
            <a:spAutoFit/>
          </a:bodyPr>
          <a:lstStyle/>
          <a:p>
            <a:pPr algn="l">
              <a:lnSpc>
                <a:spcPct val="135000"/>
              </a:lnSpc>
            </a:pPr>
            <a:r>
              <a:rPr sz="1200" b="0" i="0">
                <a:solidFill>
                  <a:srgbClr val="007CC3"/>
                </a:solidFill>
                <a:latin typeface="Newsreader"/>
              </a:rPr>
              <a:t>—</a:t>
            </a:r>
          </a:p>
        </p:txBody>
      </p:sp>
      <p:sp>
        <p:nvSpPr>
          <p:cNvPr id="13" name="TextBox 12"/>
          <p:cNvSpPr txBox="1"/>
          <p:nvPr/>
        </p:nvSpPr>
        <p:spPr>
          <a:xfrm>
            <a:off x="7650327" y="2011680"/>
            <a:ext cx="3809847" cy="457200"/>
          </a:xfrm>
          <a:prstGeom prst="rect">
            <a:avLst/>
          </a:prstGeom>
          <a:noFill/>
        </p:spPr>
        <p:txBody>
          <a:bodyPr wrap="square" lIns="0" rIns="0" tIns="0" bIns="0" anchor="t">
            <a:spAutoFit/>
          </a:bodyPr>
          <a:lstStyle/>
          <a:p>
            <a:pPr algn="l">
              <a:lnSpc>
                <a:spcPct val="145000"/>
              </a:lnSpc>
            </a:pPr>
            <a:r>
              <a:rPr sz="1200" b="0" i="0">
                <a:solidFill>
                  <a:srgbClr val="404040"/>
                </a:solidFill>
                <a:latin typeface="Newsreader"/>
              </a:rPr>
              <a:t>Stand up evals + governance</a:t>
            </a:r>
          </a:p>
        </p:txBody>
      </p:sp>
      <p:sp>
        <p:nvSpPr>
          <p:cNvPr id="14" name="TextBox 13"/>
          <p:cNvSpPr txBox="1"/>
          <p:nvPr/>
        </p:nvSpPr>
        <p:spPr>
          <a:xfrm>
            <a:off x="3383280" y="2514600"/>
            <a:ext cx="137160" cy="365760"/>
          </a:xfrm>
          <a:prstGeom prst="rect">
            <a:avLst/>
          </a:prstGeom>
          <a:noFill/>
        </p:spPr>
        <p:txBody>
          <a:bodyPr wrap="square" lIns="0" rIns="0" tIns="0" bIns="0" anchor="t">
            <a:spAutoFit/>
          </a:bodyPr>
          <a:lstStyle/>
          <a:p>
            <a:pPr algn="l">
              <a:lnSpc>
                <a:spcPct val="135000"/>
              </a:lnSpc>
            </a:pPr>
            <a:r>
              <a:rPr sz="1200" b="0" i="0">
                <a:solidFill>
                  <a:srgbClr val="007CC3"/>
                </a:solidFill>
                <a:latin typeface="Newsreader"/>
              </a:rPr>
              <a:t>—</a:t>
            </a:r>
          </a:p>
        </p:txBody>
      </p:sp>
      <p:sp>
        <p:nvSpPr>
          <p:cNvPr id="15" name="TextBox 14"/>
          <p:cNvSpPr txBox="1"/>
          <p:nvPr/>
        </p:nvSpPr>
        <p:spPr>
          <a:xfrm>
            <a:off x="3566160" y="2514600"/>
            <a:ext cx="3809847" cy="457200"/>
          </a:xfrm>
          <a:prstGeom prst="rect">
            <a:avLst/>
          </a:prstGeom>
          <a:noFill/>
        </p:spPr>
        <p:txBody>
          <a:bodyPr wrap="square" lIns="0" rIns="0" tIns="0" bIns="0" anchor="t">
            <a:spAutoFit/>
          </a:bodyPr>
          <a:lstStyle/>
          <a:p>
            <a:pPr algn="l">
              <a:lnSpc>
                <a:spcPct val="145000"/>
              </a:lnSpc>
            </a:pPr>
            <a:r>
              <a:rPr sz="1200" b="0" i="0">
                <a:solidFill>
                  <a:srgbClr val="404040"/>
                </a:solidFill>
                <a:latin typeface="Newsreader"/>
              </a:rPr>
              <a:t>Quantify the value at stake; secure executive sponsor</a:t>
            </a:r>
          </a:p>
        </p:txBody>
      </p:sp>
      <p:sp>
        <p:nvSpPr>
          <p:cNvPr id="16" name="TextBox 15"/>
          <p:cNvSpPr txBox="1"/>
          <p:nvPr/>
        </p:nvSpPr>
        <p:spPr>
          <a:xfrm>
            <a:off x="7467447" y="2514600"/>
            <a:ext cx="137160" cy="365760"/>
          </a:xfrm>
          <a:prstGeom prst="rect">
            <a:avLst/>
          </a:prstGeom>
          <a:noFill/>
        </p:spPr>
        <p:txBody>
          <a:bodyPr wrap="square" lIns="0" rIns="0" tIns="0" bIns="0" anchor="t">
            <a:spAutoFit/>
          </a:bodyPr>
          <a:lstStyle/>
          <a:p>
            <a:pPr algn="l">
              <a:lnSpc>
                <a:spcPct val="135000"/>
              </a:lnSpc>
            </a:pPr>
            <a:r>
              <a:rPr sz="1200" b="0" i="0">
                <a:solidFill>
                  <a:srgbClr val="007CC3"/>
                </a:solidFill>
                <a:latin typeface="Newsreader"/>
              </a:rPr>
              <a:t>—</a:t>
            </a:r>
          </a:p>
        </p:txBody>
      </p:sp>
      <p:sp>
        <p:nvSpPr>
          <p:cNvPr id="17" name="TextBox 16"/>
          <p:cNvSpPr txBox="1"/>
          <p:nvPr/>
        </p:nvSpPr>
        <p:spPr>
          <a:xfrm>
            <a:off x="7650327" y="2514600"/>
            <a:ext cx="3809847" cy="457200"/>
          </a:xfrm>
          <a:prstGeom prst="rect">
            <a:avLst/>
          </a:prstGeom>
          <a:noFill/>
        </p:spPr>
        <p:txBody>
          <a:bodyPr wrap="square" lIns="0" rIns="0" tIns="0" bIns="0" anchor="t">
            <a:spAutoFit/>
          </a:bodyPr>
          <a:lstStyle/>
          <a:p>
            <a:pPr algn="l">
              <a:lnSpc>
                <a:spcPct val="145000"/>
              </a:lnSpc>
            </a:pPr>
            <a:r>
              <a:rPr sz="1200" b="0" i="0">
                <a:solidFill>
                  <a:srgbClr val="404040"/>
                </a:solidFill>
                <a:latin typeface="Newsreader"/>
              </a:rPr>
              <a:t>Recruit / re-skill the core agent team</a:t>
            </a:r>
          </a:p>
        </p:txBody>
      </p:sp>
      <p:cxnSp>
        <p:nvCxnSpPr>
          <p:cNvPr id="18" name="Connector 17"/>
          <p:cNvCxnSpPr/>
          <p:nvPr/>
        </p:nvCxnSpPr>
        <p:spPr>
          <a:xfrm>
            <a:off x="640080" y="3276600.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3459480"/>
            <a:ext cx="2011680"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3 – 12 MONTHS</a:t>
            </a:r>
          </a:p>
        </p:txBody>
      </p:sp>
      <p:sp>
        <p:nvSpPr>
          <p:cNvPr id="20" name="TextBox 19"/>
          <p:cNvSpPr txBox="1"/>
          <p:nvPr/>
        </p:nvSpPr>
        <p:spPr>
          <a:xfrm>
            <a:off x="640080" y="3779520"/>
            <a:ext cx="2194560" cy="548640"/>
          </a:xfrm>
          <a:prstGeom prst="rect">
            <a:avLst/>
          </a:prstGeom>
          <a:noFill/>
        </p:spPr>
        <p:txBody>
          <a:bodyPr wrap="square" lIns="0" rIns="0" tIns="0" bIns="0" anchor="t">
            <a:spAutoFit/>
          </a:bodyPr>
          <a:lstStyle/>
          <a:p>
            <a:pPr algn="l">
              <a:lnSpc>
                <a:spcPct val="115000"/>
              </a:lnSpc>
            </a:pPr>
            <a:r>
              <a:rPr sz="2200" b="0" i="1">
                <a:solidFill>
                  <a:srgbClr val="182534"/>
                </a:solidFill>
                <a:latin typeface="Fraunces"/>
              </a:rPr>
              <a:t>Ship one process</a:t>
            </a:r>
          </a:p>
        </p:txBody>
      </p:sp>
      <p:sp>
        <p:nvSpPr>
          <p:cNvPr id="21" name="TextBox 20"/>
          <p:cNvSpPr txBox="1"/>
          <p:nvPr/>
        </p:nvSpPr>
        <p:spPr>
          <a:xfrm>
            <a:off x="3383280" y="3413760"/>
            <a:ext cx="137160" cy="365760"/>
          </a:xfrm>
          <a:prstGeom prst="rect">
            <a:avLst/>
          </a:prstGeom>
          <a:noFill/>
        </p:spPr>
        <p:txBody>
          <a:bodyPr wrap="square" lIns="0" rIns="0" tIns="0" bIns="0" anchor="t">
            <a:spAutoFit/>
          </a:bodyPr>
          <a:lstStyle/>
          <a:p>
            <a:pPr algn="l">
              <a:lnSpc>
                <a:spcPct val="135000"/>
              </a:lnSpc>
            </a:pPr>
            <a:r>
              <a:rPr sz="1200" b="0" i="0">
                <a:solidFill>
                  <a:srgbClr val="007CC3"/>
                </a:solidFill>
                <a:latin typeface="Newsreader"/>
              </a:rPr>
              <a:t>—</a:t>
            </a:r>
          </a:p>
        </p:txBody>
      </p:sp>
      <p:sp>
        <p:nvSpPr>
          <p:cNvPr id="22" name="TextBox 21"/>
          <p:cNvSpPr txBox="1"/>
          <p:nvPr/>
        </p:nvSpPr>
        <p:spPr>
          <a:xfrm>
            <a:off x="3566160" y="3413760"/>
            <a:ext cx="3809847" cy="457200"/>
          </a:xfrm>
          <a:prstGeom prst="rect">
            <a:avLst/>
          </a:prstGeom>
          <a:noFill/>
        </p:spPr>
        <p:txBody>
          <a:bodyPr wrap="square" lIns="0" rIns="0" tIns="0" bIns="0" anchor="t">
            <a:spAutoFit/>
          </a:bodyPr>
          <a:lstStyle/>
          <a:p>
            <a:pPr algn="l">
              <a:lnSpc>
                <a:spcPct val="145000"/>
              </a:lnSpc>
            </a:pPr>
            <a:r>
              <a:rPr sz="1200" b="0" i="0">
                <a:solidFill>
                  <a:srgbClr val="404040"/>
                </a:solidFill>
                <a:latin typeface="Newsreader"/>
              </a:rPr>
              <a:t>Redesign and deliver one process end-to-end</a:t>
            </a:r>
          </a:p>
        </p:txBody>
      </p:sp>
      <p:sp>
        <p:nvSpPr>
          <p:cNvPr id="23" name="TextBox 22"/>
          <p:cNvSpPr txBox="1"/>
          <p:nvPr/>
        </p:nvSpPr>
        <p:spPr>
          <a:xfrm>
            <a:off x="7467447" y="3413760"/>
            <a:ext cx="137160" cy="365760"/>
          </a:xfrm>
          <a:prstGeom prst="rect">
            <a:avLst/>
          </a:prstGeom>
          <a:noFill/>
        </p:spPr>
        <p:txBody>
          <a:bodyPr wrap="square" lIns="0" rIns="0" tIns="0" bIns="0" anchor="t">
            <a:spAutoFit/>
          </a:bodyPr>
          <a:lstStyle/>
          <a:p>
            <a:pPr algn="l">
              <a:lnSpc>
                <a:spcPct val="135000"/>
              </a:lnSpc>
            </a:pPr>
            <a:r>
              <a:rPr sz="1200" b="0" i="0">
                <a:solidFill>
                  <a:srgbClr val="007CC3"/>
                </a:solidFill>
                <a:latin typeface="Newsreader"/>
              </a:rPr>
              <a:t>—</a:t>
            </a:r>
          </a:p>
        </p:txBody>
      </p:sp>
      <p:sp>
        <p:nvSpPr>
          <p:cNvPr id="24" name="TextBox 23"/>
          <p:cNvSpPr txBox="1"/>
          <p:nvPr/>
        </p:nvSpPr>
        <p:spPr>
          <a:xfrm>
            <a:off x="7650327" y="3413760"/>
            <a:ext cx="3809847" cy="457200"/>
          </a:xfrm>
          <a:prstGeom prst="rect">
            <a:avLst/>
          </a:prstGeom>
          <a:noFill/>
        </p:spPr>
        <p:txBody>
          <a:bodyPr wrap="square" lIns="0" rIns="0" tIns="0" bIns="0" anchor="t">
            <a:spAutoFit/>
          </a:bodyPr>
          <a:lstStyle/>
          <a:p>
            <a:pPr algn="l">
              <a:lnSpc>
                <a:spcPct val="145000"/>
              </a:lnSpc>
            </a:pPr>
            <a:r>
              <a:rPr sz="1200" b="0" i="0">
                <a:solidFill>
                  <a:srgbClr val="404040"/>
                </a:solidFill>
                <a:latin typeface="Newsreader"/>
              </a:rPr>
              <a:t>Capture and attribute savings</a:t>
            </a:r>
          </a:p>
        </p:txBody>
      </p:sp>
      <p:sp>
        <p:nvSpPr>
          <p:cNvPr id="25" name="TextBox 24"/>
          <p:cNvSpPr txBox="1"/>
          <p:nvPr/>
        </p:nvSpPr>
        <p:spPr>
          <a:xfrm>
            <a:off x="3383280" y="3916680"/>
            <a:ext cx="137160" cy="365760"/>
          </a:xfrm>
          <a:prstGeom prst="rect">
            <a:avLst/>
          </a:prstGeom>
          <a:noFill/>
        </p:spPr>
        <p:txBody>
          <a:bodyPr wrap="square" lIns="0" rIns="0" tIns="0" bIns="0" anchor="t">
            <a:spAutoFit/>
          </a:bodyPr>
          <a:lstStyle/>
          <a:p>
            <a:pPr algn="l">
              <a:lnSpc>
                <a:spcPct val="135000"/>
              </a:lnSpc>
            </a:pPr>
            <a:r>
              <a:rPr sz="1200" b="0" i="0">
                <a:solidFill>
                  <a:srgbClr val="007CC3"/>
                </a:solidFill>
                <a:latin typeface="Newsreader"/>
              </a:rPr>
              <a:t>—</a:t>
            </a:r>
          </a:p>
        </p:txBody>
      </p:sp>
      <p:sp>
        <p:nvSpPr>
          <p:cNvPr id="26" name="TextBox 25"/>
          <p:cNvSpPr txBox="1"/>
          <p:nvPr/>
        </p:nvSpPr>
        <p:spPr>
          <a:xfrm>
            <a:off x="3566160" y="3916680"/>
            <a:ext cx="3809847" cy="457200"/>
          </a:xfrm>
          <a:prstGeom prst="rect">
            <a:avLst/>
          </a:prstGeom>
          <a:noFill/>
        </p:spPr>
        <p:txBody>
          <a:bodyPr wrap="square" lIns="0" rIns="0" tIns="0" bIns="0" anchor="t">
            <a:spAutoFit/>
          </a:bodyPr>
          <a:lstStyle/>
          <a:p>
            <a:pPr algn="l">
              <a:lnSpc>
                <a:spcPct val="145000"/>
              </a:lnSpc>
            </a:pPr>
            <a:r>
              <a:rPr sz="1200" b="0" i="0">
                <a:solidFill>
                  <a:srgbClr val="404040"/>
                </a:solidFill>
                <a:latin typeface="Newsreader"/>
              </a:rPr>
              <a:t>Codify reusable patterns</a:t>
            </a:r>
          </a:p>
        </p:txBody>
      </p:sp>
      <p:sp>
        <p:nvSpPr>
          <p:cNvPr id="27" name="TextBox 26"/>
          <p:cNvSpPr txBox="1"/>
          <p:nvPr/>
        </p:nvSpPr>
        <p:spPr>
          <a:xfrm>
            <a:off x="7467447" y="3916680"/>
            <a:ext cx="137160" cy="365760"/>
          </a:xfrm>
          <a:prstGeom prst="rect">
            <a:avLst/>
          </a:prstGeom>
          <a:noFill/>
        </p:spPr>
        <p:txBody>
          <a:bodyPr wrap="square" lIns="0" rIns="0" tIns="0" bIns="0" anchor="t">
            <a:spAutoFit/>
          </a:bodyPr>
          <a:lstStyle/>
          <a:p>
            <a:pPr algn="l">
              <a:lnSpc>
                <a:spcPct val="135000"/>
              </a:lnSpc>
            </a:pPr>
            <a:r>
              <a:rPr sz="1200" b="0" i="0">
                <a:solidFill>
                  <a:srgbClr val="007CC3"/>
                </a:solidFill>
                <a:latin typeface="Newsreader"/>
              </a:rPr>
              <a:t>—</a:t>
            </a:r>
          </a:p>
        </p:txBody>
      </p:sp>
      <p:sp>
        <p:nvSpPr>
          <p:cNvPr id="28" name="TextBox 27"/>
          <p:cNvSpPr txBox="1"/>
          <p:nvPr/>
        </p:nvSpPr>
        <p:spPr>
          <a:xfrm>
            <a:off x="7650327" y="3916680"/>
            <a:ext cx="3809847" cy="457200"/>
          </a:xfrm>
          <a:prstGeom prst="rect">
            <a:avLst/>
          </a:prstGeom>
          <a:noFill/>
        </p:spPr>
        <p:txBody>
          <a:bodyPr wrap="square" lIns="0" rIns="0" tIns="0" bIns="0" anchor="t">
            <a:spAutoFit/>
          </a:bodyPr>
          <a:lstStyle/>
          <a:p>
            <a:pPr algn="l">
              <a:lnSpc>
                <a:spcPct val="145000"/>
              </a:lnSpc>
            </a:pPr>
            <a:r>
              <a:rPr sz="1200" b="0" i="0">
                <a:solidFill>
                  <a:srgbClr val="404040"/>
                </a:solidFill>
                <a:latin typeface="Newsreader"/>
              </a:rPr>
              <a:t>Begin shifting KPIs around the new process</a:t>
            </a:r>
          </a:p>
        </p:txBody>
      </p:sp>
      <p:cxnSp>
        <p:nvCxnSpPr>
          <p:cNvPr id="29" name="Connector 28"/>
          <p:cNvCxnSpPr/>
          <p:nvPr/>
        </p:nvCxnSpPr>
        <p:spPr>
          <a:xfrm>
            <a:off x="640080" y="4678680.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40080" y="4861560"/>
            <a:ext cx="2011680"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12 – 24 MONTHS</a:t>
            </a:r>
          </a:p>
        </p:txBody>
      </p:sp>
      <p:sp>
        <p:nvSpPr>
          <p:cNvPr id="31" name="TextBox 30"/>
          <p:cNvSpPr txBox="1"/>
          <p:nvPr/>
        </p:nvSpPr>
        <p:spPr>
          <a:xfrm>
            <a:off x="640080" y="5181600"/>
            <a:ext cx="2194560" cy="548640"/>
          </a:xfrm>
          <a:prstGeom prst="rect">
            <a:avLst/>
          </a:prstGeom>
          <a:noFill/>
        </p:spPr>
        <p:txBody>
          <a:bodyPr wrap="square" lIns="0" rIns="0" tIns="0" bIns="0" anchor="t">
            <a:spAutoFit/>
          </a:bodyPr>
          <a:lstStyle/>
          <a:p>
            <a:pPr algn="l">
              <a:lnSpc>
                <a:spcPct val="115000"/>
              </a:lnSpc>
            </a:pPr>
            <a:r>
              <a:rPr sz="2200" b="0" i="1">
                <a:solidFill>
                  <a:srgbClr val="182534"/>
                </a:solidFill>
                <a:latin typeface="Fraunces"/>
              </a:rPr>
              <a:t>Scale the model</a:t>
            </a:r>
          </a:p>
        </p:txBody>
      </p:sp>
      <p:sp>
        <p:nvSpPr>
          <p:cNvPr id="32" name="TextBox 31"/>
          <p:cNvSpPr txBox="1"/>
          <p:nvPr/>
        </p:nvSpPr>
        <p:spPr>
          <a:xfrm>
            <a:off x="3383280" y="4815840"/>
            <a:ext cx="137160" cy="365760"/>
          </a:xfrm>
          <a:prstGeom prst="rect">
            <a:avLst/>
          </a:prstGeom>
          <a:noFill/>
        </p:spPr>
        <p:txBody>
          <a:bodyPr wrap="square" lIns="0" rIns="0" tIns="0" bIns="0" anchor="t">
            <a:spAutoFit/>
          </a:bodyPr>
          <a:lstStyle/>
          <a:p>
            <a:pPr algn="l">
              <a:lnSpc>
                <a:spcPct val="135000"/>
              </a:lnSpc>
            </a:pPr>
            <a:r>
              <a:rPr sz="1200" b="0" i="0">
                <a:solidFill>
                  <a:srgbClr val="007CC3"/>
                </a:solidFill>
                <a:latin typeface="Newsreader"/>
              </a:rPr>
              <a:t>—</a:t>
            </a:r>
          </a:p>
        </p:txBody>
      </p:sp>
      <p:sp>
        <p:nvSpPr>
          <p:cNvPr id="33" name="TextBox 32"/>
          <p:cNvSpPr txBox="1"/>
          <p:nvPr/>
        </p:nvSpPr>
        <p:spPr>
          <a:xfrm>
            <a:off x="3566160" y="4815840"/>
            <a:ext cx="3809847" cy="457200"/>
          </a:xfrm>
          <a:prstGeom prst="rect">
            <a:avLst/>
          </a:prstGeom>
          <a:noFill/>
        </p:spPr>
        <p:txBody>
          <a:bodyPr wrap="square" lIns="0" rIns="0" tIns="0" bIns="0" anchor="t">
            <a:spAutoFit/>
          </a:bodyPr>
          <a:lstStyle/>
          <a:p>
            <a:pPr algn="l">
              <a:lnSpc>
                <a:spcPct val="145000"/>
              </a:lnSpc>
            </a:pPr>
            <a:r>
              <a:rPr sz="1200" b="0" i="0">
                <a:solidFill>
                  <a:srgbClr val="404040"/>
                </a:solidFill>
                <a:latin typeface="Newsreader"/>
              </a:rPr>
              <a:t>Roll patterns across the function</a:t>
            </a:r>
          </a:p>
        </p:txBody>
      </p:sp>
      <p:sp>
        <p:nvSpPr>
          <p:cNvPr id="34" name="TextBox 33"/>
          <p:cNvSpPr txBox="1"/>
          <p:nvPr/>
        </p:nvSpPr>
        <p:spPr>
          <a:xfrm>
            <a:off x="7467447" y="4815840"/>
            <a:ext cx="137160" cy="365760"/>
          </a:xfrm>
          <a:prstGeom prst="rect">
            <a:avLst/>
          </a:prstGeom>
          <a:noFill/>
        </p:spPr>
        <p:txBody>
          <a:bodyPr wrap="square" lIns="0" rIns="0" tIns="0" bIns="0" anchor="t">
            <a:spAutoFit/>
          </a:bodyPr>
          <a:lstStyle/>
          <a:p>
            <a:pPr algn="l">
              <a:lnSpc>
                <a:spcPct val="135000"/>
              </a:lnSpc>
            </a:pPr>
            <a:r>
              <a:rPr sz="1200" b="0" i="0">
                <a:solidFill>
                  <a:srgbClr val="007CC3"/>
                </a:solidFill>
                <a:latin typeface="Newsreader"/>
              </a:rPr>
              <a:t>—</a:t>
            </a:r>
          </a:p>
        </p:txBody>
      </p:sp>
      <p:sp>
        <p:nvSpPr>
          <p:cNvPr id="35" name="TextBox 34"/>
          <p:cNvSpPr txBox="1"/>
          <p:nvPr/>
        </p:nvSpPr>
        <p:spPr>
          <a:xfrm>
            <a:off x="7650327" y="4815840"/>
            <a:ext cx="3809847" cy="457200"/>
          </a:xfrm>
          <a:prstGeom prst="rect">
            <a:avLst/>
          </a:prstGeom>
          <a:noFill/>
        </p:spPr>
        <p:txBody>
          <a:bodyPr wrap="square" lIns="0" rIns="0" tIns="0" bIns="0" anchor="t">
            <a:spAutoFit/>
          </a:bodyPr>
          <a:lstStyle/>
          <a:p>
            <a:pPr algn="l">
              <a:lnSpc>
                <a:spcPct val="145000"/>
              </a:lnSpc>
            </a:pPr>
            <a:r>
              <a:rPr sz="1200" b="0" i="0">
                <a:solidFill>
                  <a:srgbClr val="404040"/>
                </a:solidFill>
                <a:latin typeface="Newsreader"/>
              </a:rPr>
              <a:t>Restructure ops around agent-native flows</a:t>
            </a:r>
          </a:p>
        </p:txBody>
      </p:sp>
      <p:sp>
        <p:nvSpPr>
          <p:cNvPr id="36" name="TextBox 35"/>
          <p:cNvSpPr txBox="1"/>
          <p:nvPr/>
        </p:nvSpPr>
        <p:spPr>
          <a:xfrm>
            <a:off x="3383280" y="5318760"/>
            <a:ext cx="137160" cy="365760"/>
          </a:xfrm>
          <a:prstGeom prst="rect">
            <a:avLst/>
          </a:prstGeom>
          <a:noFill/>
        </p:spPr>
        <p:txBody>
          <a:bodyPr wrap="square" lIns="0" rIns="0" tIns="0" bIns="0" anchor="t">
            <a:spAutoFit/>
          </a:bodyPr>
          <a:lstStyle/>
          <a:p>
            <a:pPr algn="l">
              <a:lnSpc>
                <a:spcPct val="135000"/>
              </a:lnSpc>
            </a:pPr>
            <a:r>
              <a:rPr sz="1200" b="0" i="0">
                <a:solidFill>
                  <a:srgbClr val="007CC3"/>
                </a:solidFill>
                <a:latin typeface="Newsreader"/>
              </a:rPr>
              <a:t>—</a:t>
            </a:r>
          </a:p>
        </p:txBody>
      </p:sp>
      <p:sp>
        <p:nvSpPr>
          <p:cNvPr id="37" name="TextBox 36"/>
          <p:cNvSpPr txBox="1"/>
          <p:nvPr/>
        </p:nvSpPr>
        <p:spPr>
          <a:xfrm>
            <a:off x="3566160" y="5318760"/>
            <a:ext cx="3809847" cy="457200"/>
          </a:xfrm>
          <a:prstGeom prst="rect">
            <a:avLst/>
          </a:prstGeom>
          <a:noFill/>
        </p:spPr>
        <p:txBody>
          <a:bodyPr wrap="square" lIns="0" rIns="0" tIns="0" bIns="0" anchor="t">
            <a:spAutoFit/>
          </a:bodyPr>
          <a:lstStyle/>
          <a:p>
            <a:pPr algn="l">
              <a:lnSpc>
                <a:spcPct val="145000"/>
              </a:lnSpc>
            </a:pPr>
            <a:r>
              <a:rPr sz="1200" b="0" i="0">
                <a:solidFill>
                  <a:srgbClr val="404040"/>
                </a:solidFill>
                <a:latin typeface="Newsreader"/>
              </a:rPr>
              <a:t>Rewrite productivity and risk KPIs</a:t>
            </a:r>
          </a:p>
        </p:txBody>
      </p:sp>
      <p:sp>
        <p:nvSpPr>
          <p:cNvPr id="38" name="TextBox 37"/>
          <p:cNvSpPr txBox="1"/>
          <p:nvPr/>
        </p:nvSpPr>
        <p:spPr>
          <a:xfrm>
            <a:off x="7467447" y="5318760"/>
            <a:ext cx="137160" cy="365760"/>
          </a:xfrm>
          <a:prstGeom prst="rect">
            <a:avLst/>
          </a:prstGeom>
          <a:noFill/>
        </p:spPr>
        <p:txBody>
          <a:bodyPr wrap="square" lIns="0" rIns="0" tIns="0" bIns="0" anchor="t">
            <a:spAutoFit/>
          </a:bodyPr>
          <a:lstStyle/>
          <a:p>
            <a:pPr algn="l">
              <a:lnSpc>
                <a:spcPct val="135000"/>
              </a:lnSpc>
            </a:pPr>
            <a:r>
              <a:rPr sz="1200" b="0" i="0">
                <a:solidFill>
                  <a:srgbClr val="007CC3"/>
                </a:solidFill>
                <a:latin typeface="Newsreader"/>
              </a:rPr>
              <a:t>—</a:t>
            </a:r>
          </a:p>
        </p:txBody>
      </p:sp>
      <p:sp>
        <p:nvSpPr>
          <p:cNvPr id="39" name="TextBox 38"/>
          <p:cNvSpPr txBox="1"/>
          <p:nvPr/>
        </p:nvSpPr>
        <p:spPr>
          <a:xfrm>
            <a:off x="7650327" y="5318760"/>
            <a:ext cx="3809847" cy="457200"/>
          </a:xfrm>
          <a:prstGeom prst="rect">
            <a:avLst/>
          </a:prstGeom>
          <a:noFill/>
        </p:spPr>
        <p:txBody>
          <a:bodyPr wrap="square" lIns="0" rIns="0" tIns="0" bIns="0" anchor="t">
            <a:spAutoFit/>
          </a:bodyPr>
          <a:lstStyle/>
          <a:p>
            <a:pPr algn="l">
              <a:lnSpc>
                <a:spcPct val="145000"/>
              </a:lnSpc>
            </a:pPr>
            <a:r>
              <a:rPr sz="1200" b="0" i="0">
                <a:solidFill>
                  <a:srgbClr val="404040"/>
                </a:solidFill>
                <a:latin typeface="Newsreader"/>
              </a:rPr>
              <a:t>Stand up agent-ops as a permanent capability</a:t>
            </a:r>
          </a:p>
        </p:txBody>
      </p:sp>
      <p:cxnSp>
        <p:nvCxnSpPr>
          <p:cNvPr id="40" name="Connector 39"/>
          <p:cNvCxnSpPr/>
          <p:nvPr/>
        </p:nvCxnSpPr>
        <p:spPr>
          <a:xfrm>
            <a:off x="640080" y="6080760.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43" name="TextBox 42"/>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15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Five no-regret moves to start now</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MATURITY &amp; PATH  ·  MOVES</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IV   ·   MOVES</a:t>
            </a:r>
          </a:p>
        </p:txBody>
      </p:sp>
      <p:sp>
        <p:nvSpPr>
          <p:cNvPr id="6" name="TextBox 5"/>
          <p:cNvSpPr txBox="1"/>
          <p:nvPr/>
        </p:nvSpPr>
        <p:spPr>
          <a:xfrm>
            <a:off x="640080" y="1005840"/>
            <a:ext cx="10911535" cy="457200"/>
          </a:xfrm>
          <a:prstGeom prst="rect">
            <a:avLst/>
          </a:prstGeom>
          <a:noFill/>
        </p:spPr>
        <p:txBody>
          <a:bodyPr wrap="square" lIns="0" rIns="0" tIns="0" bIns="0" anchor="t">
            <a:spAutoFit/>
          </a:bodyPr>
          <a:lstStyle/>
          <a:p>
            <a:pPr algn="l">
              <a:lnSpc>
                <a:spcPct val="120000"/>
              </a:lnSpc>
            </a:pPr>
            <a:r>
              <a:rPr sz="1800" b="0" i="1">
                <a:solidFill>
                  <a:srgbClr val="182534"/>
                </a:solidFill>
                <a:latin typeface="Fraunces"/>
              </a:rPr>
              <a:t>Infrastructural, not speculative. They pay back in every plausible future state of the technology.</a:t>
            </a:r>
          </a:p>
        </p:txBody>
      </p:sp>
      <p:cxnSp>
        <p:nvCxnSpPr>
          <p:cNvPr id="7" name="Connector 6"/>
          <p:cNvCxnSpPr/>
          <p:nvPr/>
        </p:nvCxnSpPr>
        <p:spPr>
          <a:xfrm>
            <a:off x="640080" y="1874520.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1984248"/>
            <a:ext cx="1097280" cy="640080"/>
          </a:xfrm>
          <a:prstGeom prst="rect">
            <a:avLst/>
          </a:prstGeom>
          <a:noFill/>
        </p:spPr>
        <p:txBody>
          <a:bodyPr wrap="square" lIns="0" rIns="0" tIns="0" bIns="0" anchor="t">
            <a:spAutoFit/>
          </a:bodyPr>
          <a:lstStyle/>
          <a:p>
            <a:pPr algn="l">
              <a:lnSpc>
                <a:spcPct val="100000"/>
              </a:lnSpc>
            </a:pPr>
            <a:r>
              <a:rPr sz="2800" b="0" i="1">
                <a:solidFill>
                  <a:srgbClr val="007CC3"/>
                </a:solidFill>
                <a:latin typeface="Fraunces"/>
              </a:rPr>
              <a:t>i</a:t>
            </a:r>
          </a:p>
        </p:txBody>
      </p:sp>
      <p:sp>
        <p:nvSpPr>
          <p:cNvPr id="9" name="TextBox 8"/>
          <p:cNvSpPr txBox="1"/>
          <p:nvPr/>
        </p:nvSpPr>
        <p:spPr>
          <a:xfrm>
            <a:off x="1737360" y="2011680"/>
            <a:ext cx="9814255" cy="411480"/>
          </a:xfrm>
          <a:prstGeom prst="rect">
            <a:avLst/>
          </a:prstGeom>
          <a:noFill/>
        </p:spPr>
        <p:txBody>
          <a:bodyPr wrap="square" lIns="0" rIns="0" tIns="0" bIns="0" anchor="t">
            <a:spAutoFit/>
          </a:bodyPr>
          <a:lstStyle/>
          <a:p>
            <a:pPr algn="l">
              <a:lnSpc>
                <a:spcPct val="115000"/>
              </a:lnSpc>
            </a:pPr>
            <a:r>
              <a:rPr sz="1800" b="0" i="0">
                <a:solidFill>
                  <a:srgbClr val="182534"/>
                </a:solidFill>
                <a:latin typeface="Fraunces"/>
              </a:rPr>
              <a:t>Establish an agent control plane.</a:t>
            </a:r>
          </a:p>
        </p:txBody>
      </p:sp>
      <p:sp>
        <p:nvSpPr>
          <p:cNvPr id="10" name="TextBox 9"/>
          <p:cNvSpPr txBox="1"/>
          <p:nvPr/>
        </p:nvSpPr>
        <p:spPr>
          <a:xfrm>
            <a:off x="1737360" y="2377440"/>
            <a:ext cx="9814255" cy="411480"/>
          </a:xfrm>
          <a:prstGeom prst="rect">
            <a:avLst/>
          </a:prstGeom>
          <a:noFill/>
        </p:spPr>
        <p:txBody>
          <a:bodyPr wrap="square" lIns="0" rIns="0" tIns="0" bIns="0" anchor="t">
            <a:spAutoFit/>
          </a:bodyPr>
          <a:lstStyle/>
          <a:p>
            <a:pPr algn="l">
              <a:lnSpc>
                <a:spcPct val="150000"/>
              </a:lnSpc>
            </a:pPr>
            <a:r>
              <a:rPr sz="1200" b="0" i="0">
                <a:solidFill>
                  <a:srgbClr val="6D6E71"/>
                </a:solidFill>
                <a:latin typeface="Newsreader"/>
              </a:rPr>
              <a:t>Pick one orchestration stack; standardize. Multiple stacks fragment evals, controls, and talent.</a:t>
            </a:r>
          </a:p>
        </p:txBody>
      </p:sp>
      <p:cxnSp>
        <p:nvCxnSpPr>
          <p:cNvPr id="11" name="Connector 10"/>
          <p:cNvCxnSpPr/>
          <p:nvPr/>
        </p:nvCxnSpPr>
        <p:spPr>
          <a:xfrm>
            <a:off x="640080" y="2734056.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2843784"/>
            <a:ext cx="1097280" cy="640080"/>
          </a:xfrm>
          <a:prstGeom prst="rect">
            <a:avLst/>
          </a:prstGeom>
          <a:noFill/>
        </p:spPr>
        <p:txBody>
          <a:bodyPr wrap="square" lIns="0" rIns="0" tIns="0" bIns="0" anchor="t">
            <a:spAutoFit/>
          </a:bodyPr>
          <a:lstStyle/>
          <a:p>
            <a:pPr algn="l">
              <a:lnSpc>
                <a:spcPct val="100000"/>
              </a:lnSpc>
            </a:pPr>
            <a:r>
              <a:rPr sz="2800" b="0" i="1">
                <a:solidFill>
                  <a:srgbClr val="007CC3"/>
                </a:solidFill>
                <a:latin typeface="Fraunces"/>
              </a:rPr>
              <a:t>ii</a:t>
            </a:r>
          </a:p>
        </p:txBody>
      </p:sp>
      <p:sp>
        <p:nvSpPr>
          <p:cNvPr id="13" name="TextBox 12"/>
          <p:cNvSpPr txBox="1"/>
          <p:nvPr/>
        </p:nvSpPr>
        <p:spPr>
          <a:xfrm>
            <a:off x="1737360" y="2871216"/>
            <a:ext cx="9814255" cy="411480"/>
          </a:xfrm>
          <a:prstGeom prst="rect">
            <a:avLst/>
          </a:prstGeom>
          <a:noFill/>
        </p:spPr>
        <p:txBody>
          <a:bodyPr wrap="square" lIns="0" rIns="0" tIns="0" bIns="0" anchor="t">
            <a:spAutoFit/>
          </a:bodyPr>
          <a:lstStyle/>
          <a:p>
            <a:pPr algn="l">
              <a:lnSpc>
                <a:spcPct val="115000"/>
              </a:lnSpc>
            </a:pPr>
            <a:r>
              <a:rPr sz="1800" b="0" i="0">
                <a:solidFill>
                  <a:srgbClr val="182534"/>
                </a:solidFill>
                <a:latin typeface="Fraunces"/>
              </a:rPr>
              <a:t>Build the eval discipline.</a:t>
            </a:r>
          </a:p>
        </p:txBody>
      </p:sp>
      <p:sp>
        <p:nvSpPr>
          <p:cNvPr id="14" name="TextBox 13"/>
          <p:cNvSpPr txBox="1"/>
          <p:nvPr/>
        </p:nvSpPr>
        <p:spPr>
          <a:xfrm>
            <a:off x="1737360" y="3236976"/>
            <a:ext cx="9814255" cy="411480"/>
          </a:xfrm>
          <a:prstGeom prst="rect">
            <a:avLst/>
          </a:prstGeom>
          <a:noFill/>
        </p:spPr>
        <p:txBody>
          <a:bodyPr wrap="square" lIns="0" rIns="0" tIns="0" bIns="0" anchor="t">
            <a:spAutoFit/>
          </a:bodyPr>
          <a:lstStyle/>
          <a:p>
            <a:pPr algn="l">
              <a:lnSpc>
                <a:spcPct val="150000"/>
              </a:lnSpc>
            </a:pPr>
            <a:r>
              <a:rPr sz="1200" b="0" i="0">
                <a:solidFill>
                  <a:srgbClr val="6D6E71"/>
                </a:solidFill>
                <a:latin typeface="Newsreader"/>
              </a:rPr>
              <a:t>Every agentic capability ships with a measurable scorecard. No eval, no promotion.</a:t>
            </a:r>
          </a:p>
        </p:txBody>
      </p:sp>
      <p:cxnSp>
        <p:nvCxnSpPr>
          <p:cNvPr id="15" name="Connector 14"/>
          <p:cNvCxnSpPr/>
          <p:nvPr/>
        </p:nvCxnSpPr>
        <p:spPr>
          <a:xfrm>
            <a:off x="640080" y="3593592.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3703320"/>
            <a:ext cx="1097280" cy="640080"/>
          </a:xfrm>
          <a:prstGeom prst="rect">
            <a:avLst/>
          </a:prstGeom>
          <a:noFill/>
        </p:spPr>
        <p:txBody>
          <a:bodyPr wrap="square" lIns="0" rIns="0" tIns="0" bIns="0" anchor="t">
            <a:spAutoFit/>
          </a:bodyPr>
          <a:lstStyle/>
          <a:p>
            <a:pPr algn="l">
              <a:lnSpc>
                <a:spcPct val="100000"/>
              </a:lnSpc>
            </a:pPr>
            <a:r>
              <a:rPr sz="2800" b="0" i="1">
                <a:solidFill>
                  <a:srgbClr val="007CC3"/>
                </a:solidFill>
                <a:latin typeface="Fraunces"/>
              </a:rPr>
              <a:t>iii</a:t>
            </a:r>
          </a:p>
        </p:txBody>
      </p:sp>
      <p:sp>
        <p:nvSpPr>
          <p:cNvPr id="17" name="TextBox 16"/>
          <p:cNvSpPr txBox="1"/>
          <p:nvPr/>
        </p:nvSpPr>
        <p:spPr>
          <a:xfrm>
            <a:off x="1737360" y="3730752"/>
            <a:ext cx="9814255" cy="411480"/>
          </a:xfrm>
          <a:prstGeom prst="rect">
            <a:avLst/>
          </a:prstGeom>
          <a:noFill/>
        </p:spPr>
        <p:txBody>
          <a:bodyPr wrap="square" lIns="0" rIns="0" tIns="0" bIns="0" anchor="t">
            <a:spAutoFit/>
          </a:bodyPr>
          <a:lstStyle/>
          <a:p>
            <a:pPr algn="l">
              <a:lnSpc>
                <a:spcPct val="115000"/>
              </a:lnSpc>
            </a:pPr>
            <a:r>
              <a:rPr sz="1800" b="0" i="0">
                <a:solidFill>
                  <a:srgbClr val="182534"/>
                </a:solidFill>
                <a:latin typeface="Fraunces"/>
              </a:rPr>
              <a:t>Pick a redesign, not a copilot.</a:t>
            </a:r>
          </a:p>
        </p:txBody>
      </p:sp>
      <p:sp>
        <p:nvSpPr>
          <p:cNvPr id="18" name="TextBox 17"/>
          <p:cNvSpPr txBox="1"/>
          <p:nvPr/>
        </p:nvSpPr>
        <p:spPr>
          <a:xfrm>
            <a:off x="1737360" y="4096512"/>
            <a:ext cx="9814255" cy="411480"/>
          </a:xfrm>
          <a:prstGeom prst="rect">
            <a:avLst/>
          </a:prstGeom>
          <a:noFill/>
        </p:spPr>
        <p:txBody>
          <a:bodyPr wrap="square" lIns="0" rIns="0" tIns="0" bIns="0" anchor="t">
            <a:spAutoFit/>
          </a:bodyPr>
          <a:lstStyle/>
          <a:p>
            <a:pPr algn="l">
              <a:lnSpc>
                <a:spcPct val="150000"/>
              </a:lnSpc>
            </a:pPr>
            <a:r>
              <a:rPr sz="1200" b="0" i="0">
                <a:solidFill>
                  <a:srgbClr val="6D6E71"/>
                </a:solidFill>
                <a:latin typeface="Newsreader"/>
              </a:rPr>
              <a:t>Choose a process worth redrawing — not just augmenting. Copilots have known ceilings; redesigns don't.</a:t>
            </a:r>
          </a:p>
        </p:txBody>
      </p:sp>
      <p:cxnSp>
        <p:nvCxnSpPr>
          <p:cNvPr id="19" name="Connector 18"/>
          <p:cNvCxnSpPr/>
          <p:nvPr/>
        </p:nvCxnSpPr>
        <p:spPr>
          <a:xfrm>
            <a:off x="640080" y="4453128.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4562856"/>
            <a:ext cx="1097280" cy="640080"/>
          </a:xfrm>
          <a:prstGeom prst="rect">
            <a:avLst/>
          </a:prstGeom>
          <a:noFill/>
        </p:spPr>
        <p:txBody>
          <a:bodyPr wrap="square" lIns="0" rIns="0" tIns="0" bIns="0" anchor="t">
            <a:spAutoFit/>
          </a:bodyPr>
          <a:lstStyle/>
          <a:p>
            <a:pPr algn="l">
              <a:lnSpc>
                <a:spcPct val="100000"/>
              </a:lnSpc>
            </a:pPr>
            <a:r>
              <a:rPr sz="2800" b="0" i="1">
                <a:solidFill>
                  <a:srgbClr val="007CC3"/>
                </a:solidFill>
                <a:latin typeface="Fraunces"/>
              </a:rPr>
              <a:t>iv</a:t>
            </a:r>
          </a:p>
        </p:txBody>
      </p:sp>
      <p:sp>
        <p:nvSpPr>
          <p:cNvPr id="21" name="TextBox 20"/>
          <p:cNvSpPr txBox="1"/>
          <p:nvPr/>
        </p:nvSpPr>
        <p:spPr>
          <a:xfrm>
            <a:off x="1737360" y="4590288"/>
            <a:ext cx="9814255" cy="411480"/>
          </a:xfrm>
          <a:prstGeom prst="rect">
            <a:avLst/>
          </a:prstGeom>
          <a:noFill/>
        </p:spPr>
        <p:txBody>
          <a:bodyPr wrap="square" lIns="0" rIns="0" tIns="0" bIns="0" anchor="t">
            <a:spAutoFit/>
          </a:bodyPr>
          <a:lstStyle/>
          <a:p>
            <a:pPr algn="l">
              <a:lnSpc>
                <a:spcPct val="115000"/>
              </a:lnSpc>
            </a:pPr>
            <a:r>
              <a:rPr sz="1800" b="0" i="0">
                <a:solidFill>
                  <a:srgbClr val="182534"/>
                </a:solidFill>
                <a:latin typeface="Fraunces"/>
              </a:rPr>
              <a:t>Get the governance ready early.</a:t>
            </a:r>
          </a:p>
        </p:txBody>
      </p:sp>
      <p:sp>
        <p:nvSpPr>
          <p:cNvPr id="22" name="TextBox 21"/>
          <p:cNvSpPr txBox="1"/>
          <p:nvPr/>
        </p:nvSpPr>
        <p:spPr>
          <a:xfrm>
            <a:off x="1737360" y="4956048"/>
            <a:ext cx="9814255" cy="411480"/>
          </a:xfrm>
          <a:prstGeom prst="rect">
            <a:avLst/>
          </a:prstGeom>
          <a:noFill/>
        </p:spPr>
        <p:txBody>
          <a:bodyPr wrap="square" lIns="0" rIns="0" tIns="0" bIns="0" anchor="t">
            <a:spAutoFit/>
          </a:bodyPr>
          <a:lstStyle/>
          <a:p>
            <a:pPr algn="l">
              <a:lnSpc>
                <a:spcPct val="150000"/>
              </a:lnSpc>
            </a:pPr>
            <a:r>
              <a:rPr sz="1200" b="0" i="0">
                <a:solidFill>
                  <a:srgbClr val="6D6E71"/>
                </a:solidFill>
                <a:latin typeface="Newsreader"/>
              </a:rPr>
              <a:t>Model risk, audit trail, regulator-readable explanations from day one. First-movers shape the precedent.</a:t>
            </a:r>
          </a:p>
        </p:txBody>
      </p:sp>
      <p:cxnSp>
        <p:nvCxnSpPr>
          <p:cNvPr id="23" name="Connector 22"/>
          <p:cNvCxnSpPr/>
          <p:nvPr/>
        </p:nvCxnSpPr>
        <p:spPr>
          <a:xfrm>
            <a:off x="640080" y="5312664.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0080" y="5422392"/>
            <a:ext cx="1097280" cy="640080"/>
          </a:xfrm>
          <a:prstGeom prst="rect">
            <a:avLst/>
          </a:prstGeom>
          <a:noFill/>
        </p:spPr>
        <p:txBody>
          <a:bodyPr wrap="square" lIns="0" rIns="0" tIns="0" bIns="0" anchor="t">
            <a:spAutoFit/>
          </a:bodyPr>
          <a:lstStyle/>
          <a:p>
            <a:pPr algn="l">
              <a:lnSpc>
                <a:spcPct val="100000"/>
              </a:lnSpc>
            </a:pPr>
            <a:r>
              <a:rPr sz="2800" b="0" i="1">
                <a:solidFill>
                  <a:srgbClr val="007CC3"/>
                </a:solidFill>
                <a:latin typeface="Fraunces"/>
              </a:rPr>
              <a:t>v</a:t>
            </a:r>
          </a:p>
        </p:txBody>
      </p:sp>
      <p:sp>
        <p:nvSpPr>
          <p:cNvPr id="25" name="TextBox 24"/>
          <p:cNvSpPr txBox="1"/>
          <p:nvPr/>
        </p:nvSpPr>
        <p:spPr>
          <a:xfrm>
            <a:off x="1737360" y="5449824"/>
            <a:ext cx="9814255" cy="411480"/>
          </a:xfrm>
          <a:prstGeom prst="rect">
            <a:avLst/>
          </a:prstGeom>
          <a:noFill/>
        </p:spPr>
        <p:txBody>
          <a:bodyPr wrap="square" lIns="0" rIns="0" tIns="0" bIns="0" anchor="t">
            <a:spAutoFit/>
          </a:bodyPr>
          <a:lstStyle/>
          <a:p>
            <a:pPr algn="l">
              <a:lnSpc>
                <a:spcPct val="115000"/>
              </a:lnSpc>
            </a:pPr>
            <a:r>
              <a:rPr sz="1800" b="0" i="0">
                <a:solidFill>
                  <a:srgbClr val="182534"/>
                </a:solidFill>
                <a:latin typeface="Fraunces"/>
              </a:rPr>
              <a:t>Reshape the talent contract.</a:t>
            </a:r>
          </a:p>
        </p:txBody>
      </p:sp>
      <p:sp>
        <p:nvSpPr>
          <p:cNvPr id="26" name="TextBox 25"/>
          <p:cNvSpPr txBox="1"/>
          <p:nvPr/>
        </p:nvSpPr>
        <p:spPr>
          <a:xfrm>
            <a:off x="1737360" y="5815584"/>
            <a:ext cx="9814255" cy="411480"/>
          </a:xfrm>
          <a:prstGeom prst="rect">
            <a:avLst/>
          </a:prstGeom>
          <a:noFill/>
        </p:spPr>
        <p:txBody>
          <a:bodyPr wrap="square" lIns="0" rIns="0" tIns="0" bIns="0" anchor="t">
            <a:spAutoFit/>
          </a:bodyPr>
          <a:lstStyle/>
          <a:p>
            <a:pPr algn="l">
              <a:lnSpc>
                <a:spcPct val="150000"/>
              </a:lnSpc>
            </a:pPr>
            <a:r>
              <a:rPr sz="1200" b="0" i="0">
                <a:solidFill>
                  <a:srgbClr val="6D6E71"/>
                </a:solidFill>
                <a:latin typeface="Newsreader"/>
              </a:rPr>
              <a:t>Hire and train agent designers, agent-ops, and agent product managers. The role gap closes in 6–12 months.</a:t>
            </a:r>
          </a:p>
        </p:txBody>
      </p:sp>
      <p:cxnSp>
        <p:nvCxnSpPr>
          <p:cNvPr id="27" name="Connector 26"/>
          <p:cNvCxnSpPr/>
          <p:nvPr/>
        </p:nvCxnSpPr>
        <p:spPr>
          <a:xfrm>
            <a:off x="640080" y="6172200.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30" name="TextBox 29"/>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16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How Infosys Consulting helps</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IC  ·  CAPABILITY MAP</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V   ·   HOW IC HELPS</a:t>
            </a:r>
          </a:p>
        </p:txBody>
      </p:sp>
      <p:sp>
        <p:nvSpPr>
          <p:cNvPr id="6" name="Rectangle 5"/>
          <p:cNvSpPr/>
          <p:nvPr/>
        </p:nvSpPr>
        <p:spPr>
          <a:xfrm>
            <a:off x="8442655" y="594360"/>
            <a:ext cx="3108960" cy="237744"/>
          </a:xfrm>
          <a:prstGeom prst="rect">
            <a:avLst/>
          </a:prstGeom>
          <a:solidFill>
            <a:srgbClr val="E6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42655" y="594360"/>
            <a:ext cx="36576" cy="237744"/>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52383" y="594360"/>
            <a:ext cx="2971800" cy="237744"/>
          </a:xfrm>
          <a:prstGeom prst="rect">
            <a:avLst/>
          </a:prstGeom>
          <a:noFill/>
        </p:spPr>
        <p:txBody>
          <a:bodyPr wrap="square" lIns="0" rIns="0" tIns="0" bIns="0" anchor="ctr">
            <a:spAutoFit/>
          </a:bodyPr>
          <a:lstStyle/>
          <a:p>
            <a:pPr algn="l">
              <a:lnSpc>
                <a:spcPct val="135000"/>
              </a:lnSpc>
            </a:pPr>
            <a:r>
              <a:rPr sz="700" b="1" i="0">
                <a:solidFill>
                  <a:srgbClr val="007CC3"/>
                </a:solidFill>
                <a:latin typeface="JetBrains Mono"/>
              </a:rPr>
              <a:t>PLACEHOLDER  ·  REPLACE WITH IC OFFICIAL COPY</a:t>
            </a:r>
          </a:p>
        </p:txBody>
      </p:sp>
      <p:sp>
        <p:nvSpPr>
          <p:cNvPr id="9" name="TextBox 8"/>
          <p:cNvSpPr txBox="1"/>
          <p:nvPr/>
        </p:nvSpPr>
        <p:spPr>
          <a:xfrm>
            <a:off x="640080" y="1508760"/>
            <a:ext cx="10911535" cy="457200"/>
          </a:xfrm>
          <a:prstGeom prst="rect">
            <a:avLst/>
          </a:prstGeom>
          <a:noFill/>
        </p:spPr>
        <p:txBody>
          <a:bodyPr wrap="square" lIns="0" rIns="0" tIns="0" bIns="0" anchor="t">
            <a:spAutoFit/>
          </a:bodyPr>
          <a:lstStyle/>
          <a:p>
            <a:pPr algn="l">
              <a:lnSpc>
                <a:spcPct val="110000"/>
              </a:lnSpc>
            </a:pPr>
            <a:r>
              <a:rPr sz="2000" b="0" i="1">
                <a:solidFill>
                  <a:srgbClr val="182534"/>
                </a:solidFill>
                <a:latin typeface="Fraunces"/>
              </a:rPr>
              <a:t>Four capabilities, across the agentic lifecycle.</a:t>
            </a:r>
          </a:p>
        </p:txBody>
      </p:sp>
      <p:sp>
        <p:nvSpPr>
          <p:cNvPr id="10" name="TextBox 9"/>
          <p:cNvSpPr txBox="1"/>
          <p:nvPr/>
        </p:nvSpPr>
        <p:spPr>
          <a:xfrm>
            <a:off x="640080" y="2240280"/>
            <a:ext cx="2590723" cy="27432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STRATEGY</a:t>
            </a:r>
          </a:p>
        </p:txBody>
      </p:sp>
      <p:sp>
        <p:nvSpPr>
          <p:cNvPr id="11" name="Rectangle 10"/>
          <p:cNvSpPr/>
          <p:nvPr/>
        </p:nvSpPr>
        <p:spPr>
          <a:xfrm>
            <a:off x="640080" y="2532888"/>
            <a:ext cx="2590723"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651760"/>
            <a:ext cx="2590723" cy="457200"/>
          </a:xfrm>
          <a:prstGeom prst="rect">
            <a:avLst/>
          </a:prstGeom>
          <a:noFill/>
        </p:spPr>
        <p:txBody>
          <a:bodyPr wrap="square" lIns="0" rIns="0" tIns="0" bIns="0" anchor="t">
            <a:spAutoFit/>
          </a:bodyPr>
          <a:lstStyle/>
          <a:p>
            <a:pPr algn="l">
              <a:lnSpc>
                <a:spcPct val="115000"/>
              </a:lnSpc>
            </a:pPr>
            <a:r>
              <a:rPr sz="1800" b="0" i="1">
                <a:solidFill>
                  <a:srgbClr val="182534"/>
                </a:solidFill>
                <a:latin typeface="Fraunces"/>
              </a:rPr>
              <a:t>Shape the bet</a:t>
            </a:r>
          </a:p>
        </p:txBody>
      </p:sp>
      <p:sp>
        <p:nvSpPr>
          <p:cNvPr id="13" name="TextBox 12"/>
          <p:cNvSpPr txBox="1"/>
          <p:nvPr/>
        </p:nvSpPr>
        <p:spPr>
          <a:xfrm>
            <a:off x="640080" y="3337560"/>
            <a:ext cx="137160" cy="274320"/>
          </a:xfrm>
          <a:prstGeom prst="rect">
            <a:avLst/>
          </a:prstGeom>
          <a:noFill/>
        </p:spPr>
        <p:txBody>
          <a:bodyPr wrap="square" lIns="0" rIns="0" tIns="0" bIns="0" anchor="t">
            <a:spAutoFit/>
          </a:bodyPr>
          <a:lstStyle/>
          <a:p>
            <a:pPr algn="l">
              <a:lnSpc>
                <a:spcPct val="135000"/>
              </a:lnSpc>
            </a:pPr>
            <a:r>
              <a:rPr sz="1100" b="0" i="0">
                <a:solidFill>
                  <a:srgbClr val="007CC3"/>
                </a:solidFill>
                <a:latin typeface="Newsreader"/>
              </a:rPr>
              <a:t>—</a:t>
            </a:r>
          </a:p>
        </p:txBody>
      </p:sp>
      <p:sp>
        <p:nvSpPr>
          <p:cNvPr id="14" name="TextBox 13"/>
          <p:cNvSpPr txBox="1"/>
          <p:nvPr/>
        </p:nvSpPr>
        <p:spPr>
          <a:xfrm>
            <a:off x="822960" y="3337560"/>
            <a:ext cx="2316403" cy="640080"/>
          </a:xfrm>
          <a:prstGeom prst="rect">
            <a:avLst/>
          </a:prstGeom>
          <a:noFill/>
        </p:spPr>
        <p:txBody>
          <a:bodyPr wrap="square" lIns="0" rIns="0" tIns="0" bIns="0" anchor="t">
            <a:spAutoFit/>
          </a:bodyPr>
          <a:lstStyle/>
          <a:p>
            <a:pPr algn="l">
              <a:lnSpc>
                <a:spcPct val="150000"/>
              </a:lnSpc>
            </a:pPr>
            <a:r>
              <a:rPr sz="1100" b="0" i="0">
                <a:solidFill>
                  <a:srgbClr val="404040"/>
                </a:solidFill>
                <a:latin typeface="Newsreader"/>
              </a:rPr>
              <a:t>Agentic AI strategy &amp; value-pool mapping</a:t>
            </a:r>
          </a:p>
        </p:txBody>
      </p:sp>
      <p:sp>
        <p:nvSpPr>
          <p:cNvPr id="15" name="TextBox 14"/>
          <p:cNvSpPr txBox="1"/>
          <p:nvPr/>
        </p:nvSpPr>
        <p:spPr>
          <a:xfrm>
            <a:off x="640080" y="3977640"/>
            <a:ext cx="137160" cy="274320"/>
          </a:xfrm>
          <a:prstGeom prst="rect">
            <a:avLst/>
          </a:prstGeom>
          <a:noFill/>
        </p:spPr>
        <p:txBody>
          <a:bodyPr wrap="square" lIns="0" rIns="0" tIns="0" bIns="0" anchor="t">
            <a:spAutoFit/>
          </a:bodyPr>
          <a:lstStyle/>
          <a:p>
            <a:pPr algn="l">
              <a:lnSpc>
                <a:spcPct val="135000"/>
              </a:lnSpc>
            </a:pPr>
            <a:r>
              <a:rPr sz="1100" b="0" i="0">
                <a:solidFill>
                  <a:srgbClr val="007CC3"/>
                </a:solidFill>
                <a:latin typeface="Newsreader"/>
              </a:rPr>
              <a:t>—</a:t>
            </a:r>
          </a:p>
        </p:txBody>
      </p:sp>
      <p:sp>
        <p:nvSpPr>
          <p:cNvPr id="16" name="TextBox 15"/>
          <p:cNvSpPr txBox="1"/>
          <p:nvPr/>
        </p:nvSpPr>
        <p:spPr>
          <a:xfrm>
            <a:off x="822960" y="3977640"/>
            <a:ext cx="2316403" cy="640080"/>
          </a:xfrm>
          <a:prstGeom prst="rect">
            <a:avLst/>
          </a:prstGeom>
          <a:noFill/>
        </p:spPr>
        <p:txBody>
          <a:bodyPr wrap="square" lIns="0" rIns="0" tIns="0" bIns="0" anchor="t">
            <a:spAutoFit/>
          </a:bodyPr>
          <a:lstStyle/>
          <a:p>
            <a:pPr algn="l">
              <a:lnSpc>
                <a:spcPct val="150000"/>
              </a:lnSpc>
            </a:pPr>
            <a:r>
              <a:rPr sz="1100" b="0" i="0">
                <a:solidFill>
                  <a:srgbClr val="404040"/>
                </a:solidFill>
                <a:latin typeface="Newsreader"/>
              </a:rPr>
              <a:t>Operating-model design</a:t>
            </a:r>
          </a:p>
        </p:txBody>
      </p:sp>
      <p:sp>
        <p:nvSpPr>
          <p:cNvPr id="17" name="TextBox 16"/>
          <p:cNvSpPr txBox="1"/>
          <p:nvPr/>
        </p:nvSpPr>
        <p:spPr>
          <a:xfrm>
            <a:off x="640080" y="4617720"/>
            <a:ext cx="137160" cy="274320"/>
          </a:xfrm>
          <a:prstGeom prst="rect">
            <a:avLst/>
          </a:prstGeom>
          <a:noFill/>
        </p:spPr>
        <p:txBody>
          <a:bodyPr wrap="square" lIns="0" rIns="0" tIns="0" bIns="0" anchor="t">
            <a:spAutoFit/>
          </a:bodyPr>
          <a:lstStyle/>
          <a:p>
            <a:pPr algn="l">
              <a:lnSpc>
                <a:spcPct val="135000"/>
              </a:lnSpc>
            </a:pPr>
            <a:r>
              <a:rPr sz="1100" b="0" i="0">
                <a:solidFill>
                  <a:srgbClr val="007CC3"/>
                </a:solidFill>
                <a:latin typeface="Newsreader"/>
              </a:rPr>
              <a:t>—</a:t>
            </a:r>
          </a:p>
        </p:txBody>
      </p:sp>
      <p:sp>
        <p:nvSpPr>
          <p:cNvPr id="18" name="TextBox 17"/>
          <p:cNvSpPr txBox="1"/>
          <p:nvPr/>
        </p:nvSpPr>
        <p:spPr>
          <a:xfrm>
            <a:off x="822960" y="4617720"/>
            <a:ext cx="2316403" cy="640080"/>
          </a:xfrm>
          <a:prstGeom prst="rect">
            <a:avLst/>
          </a:prstGeom>
          <a:noFill/>
        </p:spPr>
        <p:txBody>
          <a:bodyPr wrap="square" lIns="0" rIns="0" tIns="0" bIns="0" anchor="t">
            <a:spAutoFit/>
          </a:bodyPr>
          <a:lstStyle/>
          <a:p>
            <a:pPr algn="l">
              <a:lnSpc>
                <a:spcPct val="150000"/>
              </a:lnSpc>
            </a:pPr>
            <a:r>
              <a:rPr sz="1100" b="0" i="0">
                <a:solidFill>
                  <a:srgbClr val="404040"/>
                </a:solidFill>
                <a:latin typeface="Newsreader"/>
              </a:rPr>
              <a:t>Investment case &amp; ROI framing</a:t>
            </a:r>
          </a:p>
        </p:txBody>
      </p:sp>
      <p:sp>
        <p:nvSpPr>
          <p:cNvPr id="19" name="TextBox 18"/>
          <p:cNvSpPr txBox="1"/>
          <p:nvPr/>
        </p:nvSpPr>
        <p:spPr>
          <a:xfrm>
            <a:off x="3413683" y="2240280"/>
            <a:ext cx="2590723" cy="27432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DESIGN</a:t>
            </a:r>
          </a:p>
        </p:txBody>
      </p:sp>
      <p:sp>
        <p:nvSpPr>
          <p:cNvPr id="20" name="Rectangle 19"/>
          <p:cNvSpPr/>
          <p:nvPr/>
        </p:nvSpPr>
        <p:spPr>
          <a:xfrm>
            <a:off x="3413683" y="2532888"/>
            <a:ext cx="2590723"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13683" y="2651760"/>
            <a:ext cx="2590723" cy="457200"/>
          </a:xfrm>
          <a:prstGeom prst="rect">
            <a:avLst/>
          </a:prstGeom>
          <a:noFill/>
        </p:spPr>
        <p:txBody>
          <a:bodyPr wrap="square" lIns="0" rIns="0" tIns="0" bIns="0" anchor="t">
            <a:spAutoFit/>
          </a:bodyPr>
          <a:lstStyle/>
          <a:p>
            <a:pPr algn="l">
              <a:lnSpc>
                <a:spcPct val="115000"/>
              </a:lnSpc>
            </a:pPr>
            <a:r>
              <a:rPr sz="1800" b="0" i="1">
                <a:solidFill>
                  <a:srgbClr val="182534"/>
                </a:solidFill>
                <a:latin typeface="Fraunces"/>
              </a:rPr>
              <a:t>Redraw the process</a:t>
            </a:r>
          </a:p>
        </p:txBody>
      </p:sp>
      <p:sp>
        <p:nvSpPr>
          <p:cNvPr id="22" name="TextBox 21"/>
          <p:cNvSpPr txBox="1"/>
          <p:nvPr/>
        </p:nvSpPr>
        <p:spPr>
          <a:xfrm>
            <a:off x="3413683" y="3337560"/>
            <a:ext cx="137160" cy="274320"/>
          </a:xfrm>
          <a:prstGeom prst="rect">
            <a:avLst/>
          </a:prstGeom>
          <a:noFill/>
        </p:spPr>
        <p:txBody>
          <a:bodyPr wrap="square" lIns="0" rIns="0" tIns="0" bIns="0" anchor="t">
            <a:spAutoFit/>
          </a:bodyPr>
          <a:lstStyle/>
          <a:p>
            <a:pPr algn="l">
              <a:lnSpc>
                <a:spcPct val="135000"/>
              </a:lnSpc>
            </a:pPr>
            <a:r>
              <a:rPr sz="1100" b="0" i="0">
                <a:solidFill>
                  <a:srgbClr val="007CC3"/>
                </a:solidFill>
                <a:latin typeface="Newsreader"/>
              </a:rPr>
              <a:t>—</a:t>
            </a:r>
          </a:p>
        </p:txBody>
      </p:sp>
      <p:sp>
        <p:nvSpPr>
          <p:cNvPr id="23" name="TextBox 22"/>
          <p:cNvSpPr txBox="1"/>
          <p:nvPr/>
        </p:nvSpPr>
        <p:spPr>
          <a:xfrm>
            <a:off x="3596563" y="3337560"/>
            <a:ext cx="2316403" cy="640080"/>
          </a:xfrm>
          <a:prstGeom prst="rect">
            <a:avLst/>
          </a:prstGeom>
          <a:noFill/>
        </p:spPr>
        <p:txBody>
          <a:bodyPr wrap="square" lIns="0" rIns="0" tIns="0" bIns="0" anchor="t">
            <a:spAutoFit/>
          </a:bodyPr>
          <a:lstStyle/>
          <a:p>
            <a:pPr algn="l">
              <a:lnSpc>
                <a:spcPct val="150000"/>
              </a:lnSpc>
            </a:pPr>
            <a:r>
              <a:rPr sz="1100" b="0" i="0">
                <a:solidFill>
                  <a:srgbClr val="404040"/>
                </a:solidFill>
                <a:latin typeface="Newsreader"/>
              </a:rPr>
              <a:t>Process redesign for agent-native flows</a:t>
            </a:r>
          </a:p>
        </p:txBody>
      </p:sp>
      <p:sp>
        <p:nvSpPr>
          <p:cNvPr id="24" name="TextBox 23"/>
          <p:cNvSpPr txBox="1"/>
          <p:nvPr/>
        </p:nvSpPr>
        <p:spPr>
          <a:xfrm>
            <a:off x="3413683" y="3977640"/>
            <a:ext cx="137160" cy="274320"/>
          </a:xfrm>
          <a:prstGeom prst="rect">
            <a:avLst/>
          </a:prstGeom>
          <a:noFill/>
        </p:spPr>
        <p:txBody>
          <a:bodyPr wrap="square" lIns="0" rIns="0" tIns="0" bIns="0" anchor="t">
            <a:spAutoFit/>
          </a:bodyPr>
          <a:lstStyle/>
          <a:p>
            <a:pPr algn="l">
              <a:lnSpc>
                <a:spcPct val="135000"/>
              </a:lnSpc>
            </a:pPr>
            <a:r>
              <a:rPr sz="1100" b="0" i="0">
                <a:solidFill>
                  <a:srgbClr val="007CC3"/>
                </a:solidFill>
                <a:latin typeface="Newsreader"/>
              </a:rPr>
              <a:t>—</a:t>
            </a:r>
          </a:p>
        </p:txBody>
      </p:sp>
      <p:sp>
        <p:nvSpPr>
          <p:cNvPr id="25" name="TextBox 24"/>
          <p:cNvSpPr txBox="1"/>
          <p:nvPr/>
        </p:nvSpPr>
        <p:spPr>
          <a:xfrm>
            <a:off x="3596563" y="3977640"/>
            <a:ext cx="2316403" cy="640080"/>
          </a:xfrm>
          <a:prstGeom prst="rect">
            <a:avLst/>
          </a:prstGeom>
          <a:noFill/>
        </p:spPr>
        <p:txBody>
          <a:bodyPr wrap="square" lIns="0" rIns="0" tIns="0" bIns="0" anchor="t">
            <a:spAutoFit/>
          </a:bodyPr>
          <a:lstStyle/>
          <a:p>
            <a:pPr algn="l">
              <a:lnSpc>
                <a:spcPct val="150000"/>
              </a:lnSpc>
            </a:pPr>
            <a:r>
              <a:rPr sz="1100" b="0" i="0">
                <a:solidFill>
                  <a:srgbClr val="404040"/>
                </a:solidFill>
                <a:latin typeface="Newsreader"/>
              </a:rPr>
              <a:t>Agent role &amp; control-plane design</a:t>
            </a:r>
          </a:p>
        </p:txBody>
      </p:sp>
      <p:sp>
        <p:nvSpPr>
          <p:cNvPr id="26" name="TextBox 25"/>
          <p:cNvSpPr txBox="1"/>
          <p:nvPr/>
        </p:nvSpPr>
        <p:spPr>
          <a:xfrm>
            <a:off x="3413683" y="4617720"/>
            <a:ext cx="137160" cy="274320"/>
          </a:xfrm>
          <a:prstGeom prst="rect">
            <a:avLst/>
          </a:prstGeom>
          <a:noFill/>
        </p:spPr>
        <p:txBody>
          <a:bodyPr wrap="square" lIns="0" rIns="0" tIns="0" bIns="0" anchor="t">
            <a:spAutoFit/>
          </a:bodyPr>
          <a:lstStyle/>
          <a:p>
            <a:pPr algn="l">
              <a:lnSpc>
                <a:spcPct val="135000"/>
              </a:lnSpc>
            </a:pPr>
            <a:r>
              <a:rPr sz="1100" b="0" i="0">
                <a:solidFill>
                  <a:srgbClr val="007CC3"/>
                </a:solidFill>
                <a:latin typeface="Newsreader"/>
              </a:rPr>
              <a:t>—</a:t>
            </a:r>
          </a:p>
        </p:txBody>
      </p:sp>
      <p:sp>
        <p:nvSpPr>
          <p:cNvPr id="27" name="TextBox 26"/>
          <p:cNvSpPr txBox="1"/>
          <p:nvPr/>
        </p:nvSpPr>
        <p:spPr>
          <a:xfrm>
            <a:off x="3596563" y="4617720"/>
            <a:ext cx="2316403" cy="640080"/>
          </a:xfrm>
          <a:prstGeom prst="rect">
            <a:avLst/>
          </a:prstGeom>
          <a:noFill/>
        </p:spPr>
        <p:txBody>
          <a:bodyPr wrap="square" lIns="0" rIns="0" tIns="0" bIns="0" anchor="t">
            <a:spAutoFit/>
          </a:bodyPr>
          <a:lstStyle/>
          <a:p>
            <a:pPr algn="l">
              <a:lnSpc>
                <a:spcPct val="150000"/>
              </a:lnSpc>
            </a:pPr>
            <a:r>
              <a:rPr sz="1100" b="0" i="0">
                <a:solidFill>
                  <a:srgbClr val="404040"/>
                </a:solidFill>
                <a:latin typeface="Newsreader"/>
              </a:rPr>
              <a:t>Governance &amp; risk framework</a:t>
            </a:r>
          </a:p>
        </p:txBody>
      </p:sp>
      <p:sp>
        <p:nvSpPr>
          <p:cNvPr id="28" name="TextBox 27"/>
          <p:cNvSpPr txBox="1"/>
          <p:nvPr/>
        </p:nvSpPr>
        <p:spPr>
          <a:xfrm>
            <a:off x="6187287" y="2240280"/>
            <a:ext cx="2590723" cy="27432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BUILD</a:t>
            </a:r>
          </a:p>
        </p:txBody>
      </p:sp>
      <p:sp>
        <p:nvSpPr>
          <p:cNvPr id="29" name="Rectangle 28"/>
          <p:cNvSpPr/>
          <p:nvPr/>
        </p:nvSpPr>
        <p:spPr>
          <a:xfrm>
            <a:off x="6187287" y="2532888"/>
            <a:ext cx="2590723"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87287" y="2651760"/>
            <a:ext cx="2590723" cy="457200"/>
          </a:xfrm>
          <a:prstGeom prst="rect">
            <a:avLst/>
          </a:prstGeom>
          <a:noFill/>
        </p:spPr>
        <p:txBody>
          <a:bodyPr wrap="square" lIns="0" rIns="0" tIns="0" bIns="0" anchor="t">
            <a:spAutoFit/>
          </a:bodyPr>
          <a:lstStyle/>
          <a:p>
            <a:pPr algn="l">
              <a:lnSpc>
                <a:spcPct val="115000"/>
              </a:lnSpc>
            </a:pPr>
            <a:r>
              <a:rPr sz="1800" b="0" i="1">
                <a:solidFill>
                  <a:srgbClr val="182534"/>
                </a:solidFill>
                <a:latin typeface="Fraunces"/>
              </a:rPr>
              <a:t>Make it real</a:t>
            </a:r>
          </a:p>
        </p:txBody>
      </p:sp>
      <p:sp>
        <p:nvSpPr>
          <p:cNvPr id="31" name="TextBox 30"/>
          <p:cNvSpPr txBox="1"/>
          <p:nvPr/>
        </p:nvSpPr>
        <p:spPr>
          <a:xfrm>
            <a:off x="6187287" y="3337560"/>
            <a:ext cx="137160" cy="274320"/>
          </a:xfrm>
          <a:prstGeom prst="rect">
            <a:avLst/>
          </a:prstGeom>
          <a:noFill/>
        </p:spPr>
        <p:txBody>
          <a:bodyPr wrap="square" lIns="0" rIns="0" tIns="0" bIns="0" anchor="t">
            <a:spAutoFit/>
          </a:bodyPr>
          <a:lstStyle/>
          <a:p>
            <a:pPr algn="l">
              <a:lnSpc>
                <a:spcPct val="135000"/>
              </a:lnSpc>
            </a:pPr>
            <a:r>
              <a:rPr sz="1100" b="0" i="0">
                <a:solidFill>
                  <a:srgbClr val="007CC3"/>
                </a:solidFill>
                <a:latin typeface="Newsreader"/>
              </a:rPr>
              <a:t>—</a:t>
            </a:r>
          </a:p>
        </p:txBody>
      </p:sp>
      <p:sp>
        <p:nvSpPr>
          <p:cNvPr id="32" name="TextBox 31"/>
          <p:cNvSpPr txBox="1"/>
          <p:nvPr/>
        </p:nvSpPr>
        <p:spPr>
          <a:xfrm>
            <a:off x="6370167" y="3337560"/>
            <a:ext cx="2316403" cy="640080"/>
          </a:xfrm>
          <a:prstGeom prst="rect">
            <a:avLst/>
          </a:prstGeom>
          <a:noFill/>
        </p:spPr>
        <p:txBody>
          <a:bodyPr wrap="square" lIns="0" rIns="0" tIns="0" bIns="0" anchor="t">
            <a:spAutoFit/>
          </a:bodyPr>
          <a:lstStyle/>
          <a:p>
            <a:pPr algn="l">
              <a:lnSpc>
                <a:spcPct val="150000"/>
              </a:lnSpc>
            </a:pPr>
            <a:r>
              <a:rPr sz="1100" b="0" i="0">
                <a:solidFill>
                  <a:srgbClr val="404040"/>
                </a:solidFill>
                <a:latin typeface="Newsreader"/>
              </a:rPr>
              <a:t>Agent engineering &amp; orchestration</a:t>
            </a:r>
          </a:p>
        </p:txBody>
      </p:sp>
      <p:sp>
        <p:nvSpPr>
          <p:cNvPr id="33" name="TextBox 32"/>
          <p:cNvSpPr txBox="1"/>
          <p:nvPr/>
        </p:nvSpPr>
        <p:spPr>
          <a:xfrm>
            <a:off x="6187287" y="3977640"/>
            <a:ext cx="137160" cy="274320"/>
          </a:xfrm>
          <a:prstGeom prst="rect">
            <a:avLst/>
          </a:prstGeom>
          <a:noFill/>
        </p:spPr>
        <p:txBody>
          <a:bodyPr wrap="square" lIns="0" rIns="0" tIns="0" bIns="0" anchor="t">
            <a:spAutoFit/>
          </a:bodyPr>
          <a:lstStyle/>
          <a:p>
            <a:pPr algn="l">
              <a:lnSpc>
                <a:spcPct val="135000"/>
              </a:lnSpc>
            </a:pPr>
            <a:r>
              <a:rPr sz="1100" b="0" i="0">
                <a:solidFill>
                  <a:srgbClr val="007CC3"/>
                </a:solidFill>
                <a:latin typeface="Newsreader"/>
              </a:rPr>
              <a:t>—</a:t>
            </a:r>
          </a:p>
        </p:txBody>
      </p:sp>
      <p:sp>
        <p:nvSpPr>
          <p:cNvPr id="34" name="TextBox 33"/>
          <p:cNvSpPr txBox="1"/>
          <p:nvPr/>
        </p:nvSpPr>
        <p:spPr>
          <a:xfrm>
            <a:off x="6370167" y="3977640"/>
            <a:ext cx="2316403" cy="640080"/>
          </a:xfrm>
          <a:prstGeom prst="rect">
            <a:avLst/>
          </a:prstGeom>
          <a:noFill/>
        </p:spPr>
        <p:txBody>
          <a:bodyPr wrap="square" lIns="0" rIns="0" tIns="0" bIns="0" anchor="t">
            <a:spAutoFit/>
          </a:bodyPr>
          <a:lstStyle/>
          <a:p>
            <a:pPr algn="l">
              <a:lnSpc>
                <a:spcPct val="150000"/>
              </a:lnSpc>
            </a:pPr>
            <a:r>
              <a:rPr sz="1100" b="0" i="0">
                <a:solidFill>
                  <a:srgbClr val="404040"/>
                </a:solidFill>
                <a:latin typeface="Newsreader"/>
              </a:rPr>
              <a:t>Integration with core banking</a:t>
            </a:r>
          </a:p>
        </p:txBody>
      </p:sp>
      <p:sp>
        <p:nvSpPr>
          <p:cNvPr id="35" name="TextBox 34"/>
          <p:cNvSpPr txBox="1"/>
          <p:nvPr/>
        </p:nvSpPr>
        <p:spPr>
          <a:xfrm>
            <a:off x="6187287" y="4617720"/>
            <a:ext cx="137160" cy="274320"/>
          </a:xfrm>
          <a:prstGeom prst="rect">
            <a:avLst/>
          </a:prstGeom>
          <a:noFill/>
        </p:spPr>
        <p:txBody>
          <a:bodyPr wrap="square" lIns="0" rIns="0" tIns="0" bIns="0" anchor="t">
            <a:spAutoFit/>
          </a:bodyPr>
          <a:lstStyle/>
          <a:p>
            <a:pPr algn="l">
              <a:lnSpc>
                <a:spcPct val="135000"/>
              </a:lnSpc>
            </a:pPr>
            <a:r>
              <a:rPr sz="1100" b="0" i="0">
                <a:solidFill>
                  <a:srgbClr val="007CC3"/>
                </a:solidFill>
                <a:latin typeface="Newsreader"/>
              </a:rPr>
              <a:t>—</a:t>
            </a:r>
          </a:p>
        </p:txBody>
      </p:sp>
      <p:sp>
        <p:nvSpPr>
          <p:cNvPr id="36" name="TextBox 35"/>
          <p:cNvSpPr txBox="1"/>
          <p:nvPr/>
        </p:nvSpPr>
        <p:spPr>
          <a:xfrm>
            <a:off x="6370167" y="4617720"/>
            <a:ext cx="2316403" cy="640080"/>
          </a:xfrm>
          <a:prstGeom prst="rect">
            <a:avLst/>
          </a:prstGeom>
          <a:noFill/>
        </p:spPr>
        <p:txBody>
          <a:bodyPr wrap="square" lIns="0" rIns="0" tIns="0" bIns="0" anchor="t">
            <a:spAutoFit/>
          </a:bodyPr>
          <a:lstStyle/>
          <a:p>
            <a:pPr algn="l">
              <a:lnSpc>
                <a:spcPct val="150000"/>
              </a:lnSpc>
            </a:pPr>
            <a:r>
              <a:rPr sz="1100" b="0" i="0">
                <a:solidFill>
                  <a:srgbClr val="404040"/>
                </a:solidFill>
                <a:latin typeface="Newsreader"/>
              </a:rPr>
              <a:t>Evals, observability, guardrails</a:t>
            </a:r>
          </a:p>
        </p:txBody>
      </p:sp>
      <p:sp>
        <p:nvSpPr>
          <p:cNvPr id="37" name="TextBox 36"/>
          <p:cNvSpPr txBox="1"/>
          <p:nvPr/>
        </p:nvSpPr>
        <p:spPr>
          <a:xfrm>
            <a:off x="8960891" y="2240280"/>
            <a:ext cx="2590723" cy="27432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RUN</a:t>
            </a:r>
          </a:p>
        </p:txBody>
      </p:sp>
      <p:sp>
        <p:nvSpPr>
          <p:cNvPr id="38" name="Rectangle 37"/>
          <p:cNvSpPr/>
          <p:nvPr/>
        </p:nvSpPr>
        <p:spPr>
          <a:xfrm>
            <a:off x="8960891" y="2532888"/>
            <a:ext cx="2590723"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60891" y="2651760"/>
            <a:ext cx="2590723" cy="457200"/>
          </a:xfrm>
          <a:prstGeom prst="rect">
            <a:avLst/>
          </a:prstGeom>
          <a:noFill/>
        </p:spPr>
        <p:txBody>
          <a:bodyPr wrap="square" lIns="0" rIns="0" tIns="0" bIns="0" anchor="t">
            <a:spAutoFit/>
          </a:bodyPr>
          <a:lstStyle/>
          <a:p>
            <a:pPr algn="l">
              <a:lnSpc>
                <a:spcPct val="115000"/>
              </a:lnSpc>
            </a:pPr>
            <a:r>
              <a:rPr sz="1800" b="0" i="1">
                <a:solidFill>
                  <a:srgbClr val="182534"/>
                </a:solidFill>
                <a:latin typeface="Fraunces"/>
              </a:rPr>
              <a:t>Keep it improving</a:t>
            </a:r>
          </a:p>
        </p:txBody>
      </p:sp>
      <p:sp>
        <p:nvSpPr>
          <p:cNvPr id="40" name="TextBox 39"/>
          <p:cNvSpPr txBox="1"/>
          <p:nvPr/>
        </p:nvSpPr>
        <p:spPr>
          <a:xfrm>
            <a:off x="8960891" y="3337560"/>
            <a:ext cx="137160" cy="274320"/>
          </a:xfrm>
          <a:prstGeom prst="rect">
            <a:avLst/>
          </a:prstGeom>
          <a:noFill/>
        </p:spPr>
        <p:txBody>
          <a:bodyPr wrap="square" lIns="0" rIns="0" tIns="0" bIns="0" anchor="t">
            <a:spAutoFit/>
          </a:bodyPr>
          <a:lstStyle/>
          <a:p>
            <a:pPr algn="l">
              <a:lnSpc>
                <a:spcPct val="135000"/>
              </a:lnSpc>
            </a:pPr>
            <a:r>
              <a:rPr sz="1100" b="0" i="0">
                <a:solidFill>
                  <a:srgbClr val="007CC3"/>
                </a:solidFill>
                <a:latin typeface="Newsreader"/>
              </a:rPr>
              <a:t>—</a:t>
            </a:r>
          </a:p>
        </p:txBody>
      </p:sp>
      <p:sp>
        <p:nvSpPr>
          <p:cNvPr id="41" name="TextBox 40"/>
          <p:cNvSpPr txBox="1"/>
          <p:nvPr/>
        </p:nvSpPr>
        <p:spPr>
          <a:xfrm>
            <a:off x="9143771" y="3337560"/>
            <a:ext cx="2316403" cy="640080"/>
          </a:xfrm>
          <a:prstGeom prst="rect">
            <a:avLst/>
          </a:prstGeom>
          <a:noFill/>
        </p:spPr>
        <p:txBody>
          <a:bodyPr wrap="square" lIns="0" rIns="0" tIns="0" bIns="0" anchor="t">
            <a:spAutoFit/>
          </a:bodyPr>
          <a:lstStyle/>
          <a:p>
            <a:pPr algn="l">
              <a:lnSpc>
                <a:spcPct val="150000"/>
              </a:lnSpc>
            </a:pPr>
            <a:r>
              <a:rPr sz="1100" b="0" i="0">
                <a:solidFill>
                  <a:srgbClr val="404040"/>
                </a:solidFill>
                <a:latin typeface="Newsreader"/>
              </a:rPr>
              <a:t>Agent-ops capability stand-up</a:t>
            </a:r>
          </a:p>
        </p:txBody>
      </p:sp>
      <p:sp>
        <p:nvSpPr>
          <p:cNvPr id="42" name="TextBox 41"/>
          <p:cNvSpPr txBox="1"/>
          <p:nvPr/>
        </p:nvSpPr>
        <p:spPr>
          <a:xfrm>
            <a:off x="8960891" y="3977640"/>
            <a:ext cx="137160" cy="274320"/>
          </a:xfrm>
          <a:prstGeom prst="rect">
            <a:avLst/>
          </a:prstGeom>
          <a:noFill/>
        </p:spPr>
        <p:txBody>
          <a:bodyPr wrap="square" lIns="0" rIns="0" tIns="0" bIns="0" anchor="t">
            <a:spAutoFit/>
          </a:bodyPr>
          <a:lstStyle/>
          <a:p>
            <a:pPr algn="l">
              <a:lnSpc>
                <a:spcPct val="135000"/>
              </a:lnSpc>
            </a:pPr>
            <a:r>
              <a:rPr sz="1100" b="0" i="0">
                <a:solidFill>
                  <a:srgbClr val="007CC3"/>
                </a:solidFill>
                <a:latin typeface="Newsreader"/>
              </a:rPr>
              <a:t>—</a:t>
            </a:r>
          </a:p>
        </p:txBody>
      </p:sp>
      <p:sp>
        <p:nvSpPr>
          <p:cNvPr id="43" name="TextBox 42"/>
          <p:cNvSpPr txBox="1"/>
          <p:nvPr/>
        </p:nvSpPr>
        <p:spPr>
          <a:xfrm>
            <a:off x="9143771" y="3977640"/>
            <a:ext cx="2316403" cy="640080"/>
          </a:xfrm>
          <a:prstGeom prst="rect">
            <a:avLst/>
          </a:prstGeom>
          <a:noFill/>
        </p:spPr>
        <p:txBody>
          <a:bodyPr wrap="square" lIns="0" rIns="0" tIns="0" bIns="0" anchor="t">
            <a:spAutoFit/>
          </a:bodyPr>
          <a:lstStyle/>
          <a:p>
            <a:pPr algn="l">
              <a:lnSpc>
                <a:spcPct val="150000"/>
              </a:lnSpc>
            </a:pPr>
            <a:r>
              <a:rPr sz="1100" b="0" i="0">
                <a:solidFill>
                  <a:srgbClr val="404040"/>
                </a:solidFill>
                <a:latin typeface="Newsreader"/>
              </a:rPr>
              <a:t>Model risk &amp; continuous monitoring</a:t>
            </a:r>
          </a:p>
        </p:txBody>
      </p:sp>
      <p:sp>
        <p:nvSpPr>
          <p:cNvPr id="44" name="TextBox 43"/>
          <p:cNvSpPr txBox="1"/>
          <p:nvPr/>
        </p:nvSpPr>
        <p:spPr>
          <a:xfrm>
            <a:off x="8960891" y="4617720"/>
            <a:ext cx="137160" cy="274320"/>
          </a:xfrm>
          <a:prstGeom prst="rect">
            <a:avLst/>
          </a:prstGeom>
          <a:noFill/>
        </p:spPr>
        <p:txBody>
          <a:bodyPr wrap="square" lIns="0" rIns="0" tIns="0" bIns="0" anchor="t">
            <a:spAutoFit/>
          </a:bodyPr>
          <a:lstStyle/>
          <a:p>
            <a:pPr algn="l">
              <a:lnSpc>
                <a:spcPct val="135000"/>
              </a:lnSpc>
            </a:pPr>
            <a:r>
              <a:rPr sz="1100" b="0" i="0">
                <a:solidFill>
                  <a:srgbClr val="007CC3"/>
                </a:solidFill>
                <a:latin typeface="Newsreader"/>
              </a:rPr>
              <a:t>—</a:t>
            </a:r>
          </a:p>
        </p:txBody>
      </p:sp>
      <p:sp>
        <p:nvSpPr>
          <p:cNvPr id="45" name="TextBox 44"/>
          <p:cNvSpPr txBox="1"/>
          <p:nvPr/>
        </p:nvSpPr>
        <p:spPr>
          <a:xfrm>
            <a:off x="9143771" y="4617720"/>
            <a:ext cx="2316403" cy="640080"/>
          </a:xfrm>
          <a:prstGeom prst="rect">
            <a:avLst/>
          </a:prstGeom>
          <a:noFill/>
        </p:spPr>
        <p:txBody>
          <a:bodyPr wrap="square" lIns="0" rIns="0" tIns="0" bIns="0" anchor="t">
            <a:spAutoFit/>
          </a:bodyPr>
          <a:lstStyle/>
          <a:p>
            <a:pPr algn="l">
              <a:lnSpc>
                <a:spcPct val="150000"/>
              </a:lnSpc>
            </a:pPr>
            <a:r>
              <a:rPr sz="1100" b="0" i="0">
                <a:solidFill>
                  <a:srgbClr val="404040"/>
                </a:solidFill>
                <a:latin typeface="Newsreader"/>
              </a:rPr>
              <a:t>Capability rollout &amp; change</a:t>
            </a:r>
          </a:p>
        </p:txBody>
      </p:sp>
      <p:cxnSp>
        <p:nvCxnSpPr>
          <p:cNvPr id="46" name="Connector 45"/>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48" name="TextBox 47"/>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17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Where IC plays across the agentic stack</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IC  ·  STACK</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V   ·   STACK</a:t>
            </a:r>
          </a:p>
        </p:txBody>
      </p:sp>
      <p:sp>
        <p:nvSpPr>
          <p:cNvPr id="6" name="Rectangle 5"/>
          <p:cNvSpPr/>
          <p:nvPr/>
        </p:nvSpPr>
        <p:spPr>
          <a:xfrm>
            <a:off x="8442655" y="594360"/>
            <a:ext cx="3108960" cy="237744"/>
          </a:xfrm>
          <a:prstGeom prst="rect">
            <a:avLst/>
          </a:prstGeom>
          <a:solidFill>
            <a:srgbClr val="E6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42655" y="594360"/>
            <a:ext cx="36576" cy="237744"/>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52383" y="594360"/>
            <a:ext cx="2971800" cy="237744"/>
          </a:xfrm>
          <a:prstGeom prst="rect">
            <a:avLst/>
          </a:prstGeom>
          <a:noFill/>
        </p:spPr>
        <p:txBody>
          <a:bodyPr wrap="square" lIns="0" rIns="0" tIns="0" bIns="0" anchor="ctr">
            <a:spAutoFit/>
          </a:bodyPr>
          <a:lstStyle/>
          <a:p>
            <a:pPr algn="l">
              <a:lnSpc>
                <a:spcPct val="135000"/>
              </a:lnSpc>
            </a:pPr>
            <a:r>
              <a:rPr sz="700" b="1" i="0">
                <a:solidFill>
                  <a:srgbClr val="007CC3"/>
                </a:solidFill>
                <a:latin typeface="JetBrains Mono"/>
              </a:rPr>
              <a:t>PLACEHOLDER  ·  CONFIRM IC POSITIONING</a:t>
            </a:r>
          </a:p>
        </p:txBody>
      </p:sp>
      <p:sp>
        <p:nvSpPr>
          <p:cNvPr id="9" name="TextBox 8"/>
          <p:cNvSpPr txBox="1"/>
          <p:nvPr/>
        </p:nvSpPr>
        <p:spPr>
          <a:xfrm>
            <a:off x="640080" y="1508760"/>
            <a:ext cx="10911535" cy="457200"/>
          </a:xfrm>
          <a:prstGeom prst="rect">
            <a:avLst/>
          </a:prstGeom>
          <a:noFill/>
        </p:spPr>
        <p:txBody>
          <a:bodyPr wrap="square" lIns="0" rIns="0" tIns="0" bIns="0" anchor="t">
            <a:spAutoFit/>
          </a:bodyPr>
          <a:lstStyle/>
          <a:p>
            <a:pPr algn="l">
              <a:lnSpc>
                <a:spcPct val="110000"/>
              </a:lnSpc>
            </a:pPr>
            <a:r>
              <a:rPr sz="2000" b="0" i="1">
                <a:solidFill>
                  <a:srgbClr val="182534"/>
                </a:solidFill>
                <a:latin typeface="Fraunces"/>
              </a:rPr>
              <a:t>The agent stack — and the layers where IC delivers.</a:t>
            </a:r>
          </a:p>
        </p:txBody>
      </p:sp>
      <p:cxnSp>
        <p:nvCxnSpPr>
          <p:cNvPr id="10" name="Connector 9"/>
          <p:cNvCxnSpPr/>
          <p:nvPr/>
        </p:nvCxnSpPr>
        <p:spPr>
          <a:xfrm>
            <a:off x="640080" y="2240280.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40080" y="2240280"/>
            <a:ext cx="45720" cy="525126"/>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2365683"/>
            <a:ext cx="1554480" cy="256032"/>
          </a:xfrm>
          <a:prstGeom prst="rect">
            <a:avLst/>
          </a:prstGeom>
          <a:solidFill>
            <a:srgbClr val="E6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365683"/>
            <a:ext cx="1554480" cy="256032"/>
          </a:xfrm>
          <a:prstGeom prst="rect">
            <a:avLst/>
          </a:prstGeom>
          <a:noFill/>
        </p:spPr>
        <p:txBody>
          <a:bodyPr wrap="square" lIns="0" rIns="0" tIns="0" bIns="0" anchor="ctr">
            <a:spAutoFit/>
          </a:bodyPr>
          <a:lstStyle/>
          <a:p>
            <a:pPr algn="ctr">
              <a:lnSpc>
                <a:spcPct val="135000"/>
              </a:lnSpc>
            </a:pPr>
            <a:r>
              <a:rPr sz="700" b="1" i="0">
                <a:solidFill>
                  <a:srgbClr val="007CC3"/>
                </a:solidFill>
                <a:latin typeface="JetBrains Mono"/>
              </a:rPr>
              <a:t>IC PLAYS HERE</a:t>
            </a:r>
          </a:p>
        </p:txBody>
      </p:sp>
      <p:sp>
        <p:nvSpPr>
          <p:cNvPr id="14" name="TextBox 13"/>
          <p:cNvSpPr txBox="1"/>
          <p:nvPr/>
        </p:nvSpPr>
        <p:spPr>
          <a:xfrm>
            <a:off x="2743200" y="2240280"/>
            <a:ext cx="4754880" cy="525126"/>
          </a:xfrm>
          <a:prstGeom prst="rect">
            <a:avLst/>
          </a:prstGeom>
          <a:noFill/>
        </p:spPr>
        <p:txBody>
          <a:bodyPr wrap="square" lIns="0" rIns="0" tIns="0" bIns="0" anchor="ctr">
            <a:spAutoFit/>
          </a:bodyPr>
          <a:lstStyle/>
          <a:p>
            <a:pPr algn="l">
              <a:lnSpc>
                <a:spcPct val="135000"/>
              </a:lnSpc>
            </a:pPr>
            <a:r>
              <a:rPr sz="1600" b="0" i="1">
                <a:solidFill>
                  <a:srgbClr val="182534"/>
                </a:solidFill>
                <a:latin typeface="Fraunces"/>
              </a:rPr>
              <a:t>Change management &amp; adoption</a:t>
            </a:r>
          </a:p>
        </p:txBody>
      </p:sp>
      <p:sp>
        <p:nvSpPr>
          <p:cNvPr id="15" name="TextBox 14"/>
          <p:cNvSpPr txBox="1"/>
          <p:nvPr/>
        </p:nvSpPr>
        <p:spPr>
          <a:xfrm>
            <a:off x="7772400" y="2240280"/>
            <a:ext cx="3596335" cy="525126"/>
          </a:xfrm>
          <a:prstGeom prst="rect">
            <a:avLst/>
          </a:prstGeom>
          <a:noFill/>
        </p:spPr>
        <p:txBody>
          <a:bodyPr wrap="square" lIns="0" rIns="0" tIns="0" bIns="0" anchor="ctr">
            <a:spAutoFit/>
          </a:bodyPr>
          <a:lstStyle/>
          <a:p>
            <a:pPr algn="l">
              <a:lnSpc>
                <a:spcPct val="140000"/>
              </a:lnSpc>
            </a:pPr>
            <a:r>
              <a:rPr sz="1100" b="0" i="0">
                <a:solidFill>
                  <a:srgbClr val="6D6E71"/>
                </a:solidFill>
                <a:latin typeface="Newsreader"/>
              </a:rPr>
              <a:t>Operating-model change, role redesign, learning</a:t>
            </a:r>
          </a:p>
        </p:txBody>
      </p:sp>
      <p:cxnSp>
        <p:nvCxnSpPr>
          <p:cNvPr id="16" name="Connector 15"/>
          <p:cNvCxnSpPr/>
          <p:nvPr/>
        </p:nvCxnSpPr>
        <p:spPr>
          <a:xfrm>
            <a:off x="640080" y="2801982.8571428573"/>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40080" y="2801982"/>
            <a:ext cx="45720" cy="525126"/>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2927386"/>
            <a:ext cx="1554480" cy="256032"/>
          </a:xfrm>
          <a:prstGeom prst="rect">
            <a:avLst/>
          </a:prstGeom>
          <a:solidFill>
            <a:srgbClr val="E6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2927386"/>
            <a:ext cx="1554480" cy="256032"/>
          </a:xfrm>
          <a:prstGeom prst="rect">
            <a:avLst/>
          </a:prstGeom>
          <a:noFill/>
        </p:spPr>
        <p:txBody>
          <a:bodyPr wrap="square" lIns="0" rIns="0" tIns="0" bIns="0" anchor="ctr">
            <a:spAutoFit/>
          </a:bodyPr>
          <a:lstStyle/>
          <a:p>
            <a:pPr algn="ctr">
              <a:lnSpc>
                <a:spcPct val="135000"/>
              </a:lnSpc>
            </a:pPr>
            <a:r>
              <a:rPr sz="700" b="1" i="0">
                <a:solidFill>
                  <a:srgbClr val="007CC3"/>
                </a:solidFill>
                <a:latin typeface="JetBrains Mono"/>
              </a:rPr>
              <a:t>IC PLAYS HERE</a:t>
            </a:r>
          </a:p>
        </p:txBody>
      </p:sp>
      <p:sp>
        <p:nvSpPr>
          <p:cNvPr id="20" name="TextBox 19"/>
          <p:cNvSpPr txBox="1"/>
          <p:nvPr/>
        </p:nvSpPr>
        <p:spPr>
          <a:xfrm>
            <a:off x="2743200" y="2801982"/>
            <a:ext cx="4754880" cy="525126"/>
          </a:xfrm>
          <a:prstGeom prst="rect">
            <a:avLst/>
          </a:prstGeom>
          <a:noFill/>
        </p:spPr>
        <p:txBody>
          <a:bodyPr wrap="square" lIns="0" rIns="0" tIns="0" bIns="0" anchor="ctr">
            <a:spAutoFit/>
          </a:bodyPr>
          <a:lstStyle/>
          <a:p>
            <a:pPr algn="l">
              <a:lnSpc>
                <a:spcPct val="135000"/>
              </a:lnSpc>
            </a:pPr>
            <a:r>
              <a:rPr sz="1600" b="0" i="1">
                <a:solidFill>
                  <a:srgbClr val="182534"/>
                </a:solidFill>
                <a:latin typeface="Fraunces"/>
              </a:rPr>
              <a:t>Governance, model risk &amp; audit</a:t>
            </a:r>
          </a:p>
        </p:txBody>
      </p:sp>
      <p:sp>
        <p:nvSpPr>
          <p:cNvPr id="21" name="TextBox 20"/>
          <p:cNvSpPr txBox="1"/>
          <p:nvPr/>
        </p:nvSpPr>
        <p:spPr>
          <a:xfrm>
            <a:off x="7772400" y="2801982"/>
            <a:ext cx="3596335" cy="525126"/>
          </a:xfrm>
          <a:prstGeom prst="rect">
            <a:avLst/>
          </a:prstGeom>
          <a:noFill/>
        </p:spPr>
        <p:txBody>
          <a:bodyPr wrap="square" lIns="0" rIns="0" tIns="0" bIns="0" anchor="ctr">
            <a:spAutoFit/>
          </a:bodyPr>
          <a:lstStyle/>
          <a:p>
            <a:pPr algn="l">
              <a:lnSpc>
                <a:spcPct val="140000"/>
              </a:lnSpc>
            </a:pPr>
            <a:r>
              <a:rPr sz="1100" b="0" i="0">
                <a:solidFill>
                  <a:srgbClr val="6D6E71"/>
                </a:solidFill>
                <a:latin typeface="Newsreader"/>
              </a:rPr>
              <a:t>Risk framework, audit trail, regulator readiness</a:t>
            </a:r>
          </a:p>
        </p:txBody>
      </p:sp>
      <p:cxnSp>
        <p:nvCxnSpPr>
          <p:cNvPr id="22" name="Connector 21"/>
          <p:cNvCxnSpPr/>
          <p:nvPr/>
        </p:nvCxnSpPr>
        <p:spPr>
          <a:xfrm>
            <a:off x="640080" y="3363685.7142857146"/>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40080" y="3363685"/>
            <a:ext cx="45720" cy="525126"/>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8680" y="3489089"/>
            <a:ext cx="1554480" cy="256032"/>
          </a:xfrm>
          <a:prstGeom prst="rect">
            <a:avLst/>
          </a:prstGeom>
          <a:solidFill>
            <a:srgbClr val="E6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3489089"/>
            <a:ext cx="1554480" cy="256032"/>
          </a:xfrm>
          <a:prstGeom prst="rect">
            <a:avLst/>
          </a:prstGeom>
          <a:noFill/>
        </p:spPr>
        <p:txBody>
          <a:bodyPr wrap="square" lIns="0" rIns="0" tIns="0" bIns="0" anchor="ctr">
            <a:spAutoFit/>
          </a:bodyPr>
          <a:lstStyle/>
          <a:p>
            <a:pPr algn="ctr">
              <a:lnSpc>
                <a:spcPct val="135000"/>
              </a:lnSpc>
            </a:pPr>
            <a:r>
              <a:rPr sz="700" b="1" i="0">
                <a:solidFill>
                  <a:srgbClr val="007CC3"/>
                </a:solidFill>
                <a:latin typeface="JetBrains Mono"/>
              </a:rPr>
              <a:t>IC PLAYS HERE</a:t>
            </a:r>
          </a:p>
        </p:txBody>
      </p:sp>
      <p:sp>
        <p:nvSpPr>
          <p:cNvPr id="26" name="TextBox 25"/>
          <p:cNvSpPr txBox="1"/>
          <p:nvPr/>
        </p:nvSpPr>
        <p:spPr>
          <a:xfrm>
            <a:off x="2743200" y="3363685"/>
            <a:ext cx="4754880" cy="525126"/>
          </a:xfrm>
          <a:prstGeom prst="rect">
            <a:avLst/>
          </a:prstGeom>
          <a:noFill/>
        </p:spPr>
        <p:txBody>
          <a:bodyPr wrap="square" lIns="0" rIns="0" tIns="0" bIns="0" anchor="ctr">
            <a:spAutoFit/>
          </a:bodyPr>
          <a:lstStyle/>
          <a:p>
            <a:pPr algn="l">
              <a:lnSpc>
                <a:spcPct val="135000"/>
              </a:lnSpc>
            </a:pPr>
            <a:r>
              <a:rPr sz="1600" b="0" i="1">
                <a:solidFill>
                  <a:srgbClr val="182534"/>
                </a:solidFill>
                <a:latin typeface="Fraunces"/>
              </a:rPr>
              <a:t>Agent operations</a:t>
            </a:r>
          </a:p>
        </p:txBody>
      </p:sp>
      <p:sp>
        <p:nvSpPr>
          <p:cNvPr id="27" name="TextBox 26"/>
          <p:cNvSpPr txBox="1"/>
          <p:nvPr/>
        </p:nvSpPr>
        <p:spPr>
          <a:xfrm>
            <a:off x="7772400" y="3363685"/>
            <a:ext cx="3596335" cy="525126"/>
          </a:xfrm>
          <a:prstGeom prst="rect">
            <a:avLst/>
          </a:prstGeom>
          <a:noFill/>
        </p:spPr>
        <p:txBody>
          <a:bodyPr wrap="square" lIns="0" rIns="0" tIns="0" bIns="0" anchor="ctr">
            <a:spAutoFit/>
          </a:bodyPr>
          <a:lstStyle/>
          <a:p>
            <a:pPr algn="l">
              <a:lnSpc>
                <a:spcPct val="140000"/>
              </a:lnSpc>
            </a:pPr>
            <a:r>
              <a:rPr sz="1100" b="0" i="0">
                <a:solidFill>
                  <a:srgbClr val="6D6E71"/>
                </a:solidFill>
                <a:latin typeface="Newsreader"/>
              </a:rPr>
              <a:t>Run, monitor, improve, retire — the lifecycle</a:t>
            </a:r>
          </a:p>
        </p:txBody>
      </p:sp>
      <p:cxnSp>
        <p:nvCxnSpPr>
          <p:cNvPr id="28" name="Connector 27"/>
          <p:cNvCxnSpPr/>
          <p:nvPr/>
        </p:nvCxnSpPr>
        <p:spPr>
          <a:xfrm>
            <a:off x="640080" y="3925388.5714285714"/>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40080" y="3925388"/>
            <a:ext cx="45720" cy="525126"/>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68680" y="4050792"/>
            <a:ext cx="1554480" cy="256032"/>
          </a:xfrm>
          <a:prstGeom prst="rect">
            <a:avLst/>
          </a:prstGeom>
          <a:solidFill>
            <a:srgbClr val="E6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050792"/>
            <a:ext cx="1554480" cy="256032"/>
          </a:xfrm>
          <a:prstGeom prst="rect">
            <a:avLst/>
          </a:prstGeom>
          <a:noFill/>
        </p:spPr>
        <p:txBody>
          <a:bodyPr wrap="square" lIns="0" rIns="0" tIns="0" bIns="0" anchor="ctr">
            <a:spAutoFit/>
          </a:bodyPr>
          <a:lstStyle/>
          <a:p>
            <a:pPr algn="ctr">
              <a:lnSpc>
                <a:spcPct val="135000"/>
              </a:lnSpc>
            </a:pPr>
            <a:r>
              <a:rPr sz="700" b="1" i="0">
                <a:solidFill>
                  <a:srgbClr val="007CC3"/>
                </a:solidFill>
                <a:latin typeface="JetBrains Mono"/>
              </a:rPr>
              <a:t>IC PLAYS HERE</a:t>
            </a:r>
          </a:p>
        </p:txBody>
      </p:sp>
      <p:sp>
        <p:nvSpPr>
          <p:cNvPr id="32" name="TextBox 31"/>
          <p:cNvSpPr txBox="1"/>
          <p:nvPr/>
        </p:nvSpPr>
        <p:spPr>
          <a:xfrm>
            <a:off x="2743200" y="3925388"/>
            <a:ext cx="4754880" cy="525126"/>
          </a:xfrm>
          <a:prstGeom prst="rect">
            <a:avLst/>
          </a:prstGeom>
          <a:noFill/>
        </p:spPr>
        <p:txBody>
          <a:bodyPr wrap="square" lIns="0" rIns="0" tIns="0" bIns="0" anchor="ctr">
            <a:spAutoFit/>
          </a:bodyPr>
          <a:lstStyle/>
          <a:p>
            <a:pPr algn="l">
              <a:lnSpc>
                <a:spcPct val="135000"/>
              </a:lnSpc>
            </a:pPr>
            <a:r>
              <a:rPr sz="1600" b="0" i="1">
                <a:solidFill>
                  <a:srgbClr val="182534"/>
                </a:solidFill>
                <a:latin typeface="Fraunces"/>
              </a:rPr>
              <a:t>Integration with core banking</a:t>
            </a:r>
          </a:p>
        </p:txBody>
      </p:sp>
      <p:sp>
        <p:nvSpPr>
          <p:cNvPr id="33" name="TextBox 32"/>
          <p:cNvSpPr txBox="1"/>
          <p:nvPr/>
        </p:nvSpPr>
        <p:spPr>
          <a:xfrm>
            <a:off x="7772400" y="3925388"/>
            <a:ext cx="3596335" cy="525126"/>
          </a:xfrm>
          <a:prstGeom prst="rect">
            <a:avLst/>
          </a:prstGeom>
          <a:noFill/>
        </p:spPr>
        <p:txBody>
          <a:bodyPr wrap="square" lIns="0" rIns="0" tIns="0" bIns="0" anchor="ctr">
            <a:spAutoFit/>
          </a:bodyPr>
          <a:lstStyle/>
          <a:p>
            <a:pPr algn="l">
              <a:lnSpc>
                <a:spcPct val="140000"/>
              </a:lnSpc>
            </a:pPr>
            <a:r>
              <a:rPr sz="1100" b="0" i="0">
                <a:solidFill>
                  <a:srgbClr val="6D6E71"/>
                </a:solidFill>
                <a:latin typeface="Newsreader"/>
              </a:rPr>
              <a:t>Connect agents to systems of record</a:t>
            </a:r>
          </a:p>
        </p:txBody>
      </p:sp>
      <p:cxnSp>
        <p:nvCxnSpPr>
          <p:cNvPr id="34" name="Connector 33"/>
          <p:cNvCxnSpPr/>
          <p:nvPr/>
        </p:nvCxnSpPr>
        <p:spPr>
          <a:xfrm>
            <a:off x="640080" y="4487091.428571429"/>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40080" y="4487091"/>
            <a:ext cx="45720" cy="525126"/>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8680" y="4612494"/>
            <a:ext cx="1554480" cy="256032"/>
          </a:xfrm>
          <a:prstGeom prst="rect">
            <a:avLst/>
          </a:prstGeom>
          <a:solidFill>
            <a:srgbClr val="E6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4612494"/>
            <a:ext cx="1554480" cy="256032"/>
          </a:xfrm>
          <a:prstGeom prst="rect">
            <a:avLst/>
          </a:prstGeom>
          <a:noFill/>
        </p:spPr>
        <p:txBody>
          <a:bodyPr wrap="square" lIns="0" rIns="0" tIns="0" bIns="0" anchor="ctr">
            <a:spAutoFit/>
          </a:bodyPr>
          <a:lstStyle/>
          <a:p>
            <a:pPr algn="ctr">
              <a:lnSpc>
                <a:spcPct val="135000"/>
              </a:lnSpc>
            </a:pPr>
            <a:r>
              <a:rPr sz="700" b="1" i="0">
                <a:solidFill>
                  <a:srgbClr val="007CC3"/>
                </a:solidFill>
                <a:latin typeface="JetBrains Mono"/>
              </a:rPr>
              <a:t>IC PLAYS HERE</a:t>
            </a:r>
          </a:p>
        </p:txBody>
      </p:sp>
      <p:sp>
        <p:nvSpPr>
          <p:cNvPr id="38" name="TextBox 37"/>
          <p:cNvSpPr txBox="1"/>
          <p:nvPr/>
        </p:nvSpPr>
        <p:spPr>
          <a:xfrm>
            <a:off x="2743200" y="4487091"/>
            <a:ext cx="4754880" cy="525126"/>
          </a:xfrm>
          <a:prstGeom prst="rect">
            <a:avLst/>
          </a:prstGeom>
          <a:noFill/>
        </p:spPr>
        <p:txBody>
          <a:bodyPr wrap="square" lIns="0" rIns="0" tIns="0" bIns="0" anchor="ctr">
            <a:spAutoFit/>
          </a:bodyPr>
          <a:lstStyle/>
          <a:p>
            <a:pPr algn="l">
              <a:lnSpc>
                <a:spcPct val="135000"/>
              </a:lnSpc>
            </a:pPr>
            <a:r>
              <a:rPr sz="1600" b="0" i="1">
                <a:solidFill>
                  <a:srgbClr val="182534"/>
                </a:solidFill>
                <a:latin typeface="Fraunces"/>
              </a:rPr>
              <a:t>Agent design &amp; orchestration</a:t>
            </a:r>
          </a:p>
        </p:txBody>
      </p:sp>
      <p:sp>
        <p:nvSpPr>
          <p:cNvPr id="39" name="TextBox 38"/>
          <p:cNvSpPr txBox="1"/>
          <p:nvPr/>
        </p:nvSpPr>
        <p:spPr>
          <a:xfrm>
            <a:off x="7772400" y="4487091"/>
            <a:ext cx="3596335" cy="525126"/>
          </a:xfrm>
          <a:prstGeom prst="rect">
            <a:avLst/>
          </a:prstGeom>
          <a:noFill/>
        </p:spPr>
        <p:txBody>
          <a:bodyPr wrap="square" lIns="0" rIns="0" tIns="0" bIns="0" anchor="ctr">
            <a:spAutoFit/>
          </a:bodyPr>
          <a:lstStyle/>
          <a:p>
            <a:pPr algn="l">
              <a:lnSpc>
                <a:spcPct val="140000"/>
              </a:lnSpc>
            </a:pPr>
            <a:r>
              <a:rPr sz="1100" b="0" i="0">
                <a:solidFill>
                  <a:srgbClr val="6D6E71"/>
                </a:solidFill>
                <a:latin typeface="Newsreader"/>
              </a:rPr>
              <a:t>Roles, control plane, evals, guardrails</a:t>
            </a:r>
          </a:p>
        </p:txBody>
      </p:sp>
      <p:cxnSp>
        <p:nvCxnSpPr>
          <p:cNvPr id="40" name="Connector 39"/>
          <p:cNvCxnSpPr/>
          <p:nvPr/>
        </p:nvCxnSpPr>
        <p:spPr>
          <a:xfrm>
            <a:off x="640080" y="5048794.285714285"/>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40080" y="5048794"/>
            <a:ext cx="45720" cy="525126"/>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68680" y="5174197"/>
            <a:ext cx="1554480" cy="256032"/>
          </a:xfrm>
          <a:prstGeom prst="rect">
            <a:avLst/>
          </a:prstGeom>
          <a:solidFill>
            <a:srgbClr val="F2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5174197"/>
            <a:ext cx="1554480" cy="256032"/>
          </a:xfrm>
          <a:prstGeom prst="rect">
            <a:avLst/>
          </a:prstGeom>
          <a:noFill/>
        </p:spPr>
        <p:txBody>
          <a:bodyPr wrap="square" lIns="0" rIns="0" tIns="0" bIns="0" anchor="ctr">
            <a:spAutoFit/>
          </a:bodyPr>
          <a:lstStyle/>
          <a:p>
            <a:pPr algn="ctr">
              <a:lnSpc>
                <a:spcPct val="135000"/>
              </a:lnSpc>
            </a:pPr>
            <a:r>
              <a:rPr sz="700" b="1" i="0">
                <a:solidFill>
                  <a:srgbClr val="A7A9AC"/>
                </a:solidFill>
                <a:latin typeface="JetBrains Mono"/>
              </a:rPr>
              <a:t>ADVISORY ONLY</a:t>
            </a:r>
          </a:p>
        </p:txBody>
      </p:sp>
      <p:sp>
        <p:nvSpPr>
          <p:cNvPr id="44" name="TextBox 43"/>
          <p:cNvSpPr txBox="1"/>
          <p:nvPr/>
        </p:nvSpPr>
        <p:spPr>
          <a:xfrm>
            <a:off x="2743200" y="5048794"/>
            <a:ext cx="4754880" cy="525126"/>
          </a:xfrm>
          <a:prstGeom prst="rect">
            <a:avLst/>
          </a:prstGeom>
          <a:noFill/>
        </p:spPr>
        <p:txBody>
          <a:bodyPr wrap="square" lIns="0" rIns="0" tIns="0" bIns="0" anchor="ctr">
            <a:spAutoFit/>
          </a:bodyPr>
          <a:lstStyle/>
          <a:p>
            <a:pPr algn="l">
              <a:lnSpc>
                <a:spcPct val="135000"/>
              </a:lnSpc>
            </a:pPr>
            <a:r>
              <a:rPr sz="1600" b="0" i="1">
                <a:solidFill>
                  <a:srgbClr val="182534"/>
                </a:solidFill>
                <a:latin typeface="Fraunces"/>
              </a:rPr>
              <a:t>Tooling &amp; infrastructure</a:t>
            </a:r>
          </a:p>
        </p:txBody>
      </p:sp>
      <p:sp>
        <p:nvSpPr>
          <p:cNvPr id="45" name="TextBox 44"/>
          <p:cNvSpPr txBox="1"/>
          <p:nvPr/>
        </p:nvSpPr>
        <p:spPr>
          <a:xfrm>
            <a:off x="7772400" y="5048794"/>
            <a:ext cx="3596335" cy="525126"/>
          </a:xfrm>
          <a:prstGeom prst="rect">
            <a:avLst/>
          </a:prstGeom>
          <a:noFill/>
        </p:spPr>
        <p:txBody>
          <a:bodyPr wrap="square" lIns="0" rIns="0" tIns="0" bIns="0" anchor="ctr">
            <a:spAutoFit/>
          </a:bodyPr>
          <a:lstStyle/>
          <a:p>
            <a:pPr algn="l">
              <a:lnSpc>
                <a:spcPct val="140000"/>
              </a:lnSpc>
            </a:pPr>
            <a:r>
              <a:rPr sz="1100" b="0" i="0">
                <a:solidFill>
                  <a:srgbClr val="6D6E71"/>
                </a:solidFill>
                <a:latin typeface="Newsreader"/>
              </a:rPr>
              <a:t>Frameworks, vector stores, observability</a:t>
            </a:r>
          </a:p>
        </p:txBody>
      </p:sp>
      <p:cxnSp>
        <p:nvCxnSpPr>
          <p:cNvPr id="46" name="Connector 45"/>
          <p:cNvCxnSpPr/>
          <p:nvPr/>
        </p:nvCxnSpPr>
        <p:spPr>
          <a:xfrm>
            <a:off x="640080" y="5610497.142857143"/>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640080" y="5610497"/>
            <a:ext cx="45720" cy="525126"/>
          </a:xfrm>
          <a:prstGeom prst="rect">
            <a:avLst/>
          </a:prstGeom>
          <a:solidFill>
            <a:srgbClr val="A7A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8680" y="5735900"/>
            <a:ext cx="1554480" cy="256032"/>
          </a:xfrm>
          <a:prstGeom prst="rect">
            <a:avLst/>
          </a:prstGeom>
          <a:solidFill>
            <a:srgbClr val="F2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 y="5735900"/>
            <a:ext cx="1554480" cy="256032"/>
          </a:xfrm>
          <a:prstGeom prst="rect">
            <a:avLst/>
          </a:prstGeom>
          <a:noFill/>
        </p:spPr>
        <p:txBody>
          <a:bodyPr wrap="square" lIns="0" rIns="0" tIns="0" bIns="0" anchor="ctr">
            <a:spAutoFit/>
          </a:bodyPr>
          <a:lstStyle/>
          <a:p>
            <a:pPr algn="ctr">
              <a:lnSpc>
                <a:spcPct val="135000"/>
              </a:lnSpc>
            </a:pPr>
            <a:r>
              <a:rPr sz="700" b="1" i="0">
                <a:solidFill>
                  <a:srgbClr val="A7A9AC"/>
                </a:solidFill>
                <a:latin typeface="JetBrains Mono"/>
              </a:rPr>
              <a:t>ADVISORY ONLY</a:t>
            </a:r>
          </a:p>
        </p:txBody>
      </p:sp>
      <p:sp>
        <p:nvSpPr>
          <p:cNvPr id="50" name="TextBox 49"/>
          <p:cNvSpPr txBox="1"/>
          <p:nvPr/>
        </p:nvSpPr>
        <p:spPr>
          <a:xfrm>
            <a:off x="2743200" y="5610497"/>
            <a:ext cx="4754880" cy="525126"/>
          </a:xfrm>
          <a:prstGeom prst="rect">
            <a:avLst/>
          </a:prstGeom>
          <a:noFill/>
        </p:spPr>
        <p:txBody>
          <a:bodyPr wrap="square" lIns="0" rIns="0" tIns="0" bIns="0" anchor="ctr">
            <a:spAutoFit/>
          </a:bodyPr>
          <a:lstStyle/>
          <a:p>
            <a:pPr algn="l">
              <a:lnSpc>
                <a:spcPct val="135000"/>
              </a:lnSpc>
            </a:pPr>
            <a:r>
              <a:rPr sz="1600" b="0" i="1">
                <a:solidFill>
                  <a:srgbClr val="182534"/>
                </a:solidFill>
                <a:latin typeface="Fraunces"/>
              </a:rPr>
              <a:t>Foundation models</a:t>
            </a:r>
          </a:p>
        </p:txBody>
      </p:sp>
      <p:sp>
        <p:nvSpPr>
          <p:cNvPr id="51" name="TextBox 50"/>
          <p:cNvSpPr txBox="1"/>
          <p:nvPr/>
        </p:nvSpPr>
        <p:spPr>
          <a:xfrm>
            <a:off x="7772400" y="5610497"/>
            <a:ext cx="3596335" cy="525126"/>
          </a:xfrm>
          <a:prstGeom prst="rect">
            <a:avLst/>
          </a:prstGeom>
          <a:noFill/>
        </p:spPr>
        <p:txBody>
          <a:bodyPr wrap="square" lIns="0" rIns="0" tIns="0" bIns="0" anchor="ctr">
            <a:spAutoFit/>
          </a:bodyPr>
          <a:lstStyle/>
          <a:p>
            <a:pPr algn="l">
              <a:lnSpc>
                <a:spcPct val="140000"/>
              </a:lnSpc>
            </a:pPr>
            <a:r>
              <a:rPr sz="1100" b="0" i="0">
                <a:solidFill>
                  <a:srgbClr val="6D6E71"/>
                </a:solidFill>
                <a:latin typeface="Newsreader"/>
              </a:rPr>
              <a:t>Models from providers (selection advisory only)</a:t>
            </a:r>
          </a:p>
        </p:txBody>
      </p:sp>
      <p:cxnSp>
        <p:nvCxnSpPr>
          <p:cNvPr id="52" name="Connector 51"/>
          <p:cNvCxnSpPr/>
          <p:nvPr/>
        </p:nvCxnSpPr>
        <p:spPr>
          <a:xfrm>
            <a:off x="640080" y="6172200.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55" name="TextBox 54"/>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18 /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Qualifying questions for client conversations</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SALES TOOL  ·  IN THE ROOM</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V   ·   TOOL 01</a:t>
            </a:r>
          </a:p>
        </p:txBody>
      </p:sp>
      <p:sp>
        <p:nvSpPr>
          <p:cNvPr id="6" name="TextBox 5"/>
          <p:cNvSpPr txBox="1"/>
          <p:nvPr/>
        </p:nvSpPr>
        <p:spPr>
          <a:xfrm>
            <a:off x="640080" y="1005840"/>
            <a:ext cx="10911535" cy="365760"/>
          </a:xfrm>
          <a:prstGeom prst="rect">
            <a:avLst/>
          </a:prstGeom>
          <a:noFill/>
        </p:spPr>
        <p:txBody>
          <a:bodyPr wrap="square" lIns="0" rIns="0" tIns="0" bIns="0" anchor="t">
            <a:spAutoFit/>
          </a:bodyPr>
          <a:lstStyle/>
          <a:p>
            <a:pPr algn="l">
              <a:lnSpc>
                <a:spcPct val="120000"/>
              </a:lnSpc>
            </a:pPr>
            <a:r>
              <a:rPr sz="1700" b="0" i="1">
                <a:solidFill>
                  <a:srgbClr val="182534"/>
                </a:solidFill>
                <a:latin typeface="Fraunces"/>
              </a:rPr>
              <a:t>Ten questions, four dimensions. The answers reveal where the client sits.</a:t>
            </a:r>
          </a:p>
        </p:txBody>
      </p:sp>
      <p:sp>
        <p:nvSpPr>
          <p:cNvPr id="7" name="TextBox 6"/>
          <p:cNvSpPr txBox="1"/>
          <p:nvPr/>
        </p:nvSpPr>
        <p:spPr>
          <a:xfrm>
            <a:off x="640080" y="1645920"/>
            <a:ext cx="5181447"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AMBITION</a:t>
            </a:r>
          </a:p>
        </p:txBody>
      </p:sp>
      <p:sp>
        <p:nvSpPr>
          <p:cNvPr id="8" name="Rectangle 7"/>
          <p:cNvSpPr/>
          <p:nvPr/>
        </p:nvSpPr>
        <p:spPr>
          <a:xfrm>
            <a:off x="640080" y="1938528"/>
            <a:ext cx="36576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03120"/>
            <a:ext cx="320040" cy="36576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Q.</a:t>
            </a:r>
          </a:p>
        </p:txBody>
      </p:sp>
      <p:sp>
        <p:nvSpPr>
          <p:cNvPr id="10" name="TextBox 9"/>
          <p:cNvSpPr txBox="1"/>
          <p:nvPr/>
        </p:nvSpPr>
        <p:spPr>
          <a:xfrm>
            <a:off x="960120" y="2103120"/>
            <a:ext cx="4769967" cy="548640"/>
          </a:xfrm>
          <a:prstGeom prst="rect">
            <a:avLst/>
          </a:prstGeom>
          <a:noFill/>
        </p:spPr>
        <p:txBody>
          <a:bodyPr wrap="square" lIns="0" rIns="0" tIns="0" bIns="0" anchor="t">
            <a:spAutoFit/>
          </a:bodyPr>
          <a:lstStyle/>
          <a:p>
            <a:pPr algn="l">
              <a:lnSpc>
                <a:spcPct val="140000"/>
              </a:lnSpc>
            </a:pPr>
            <a:r>
              <a:rPr sz="1100" b="0" i="1">
                <a:solidFill>
                  <a:srgbClr val="404040"/>
                </a:solidFill>
                <a:latin typeface="Newsreader"/>
              </a:rPr>
              <a:t>What process would you redesign if you could start over today?</a:t>
            </a:r>
          </a:p>
        </p:txBody>
      </p:sp>
      <p:sp>
        <p:nvSpPr>
          <p:cNvPr id="11" name="TextBox 10"/>
          <p:cNvSpPr txBox="1"/>
          <p:nvPr/>
        </p:nvSpPr>
        <p:spPr>
          <a:xfrm>
            <a:off x="640080" y="2697480"/>
            <a:ext cx="320040" cy="36576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Q.</a:t>
            </a:r>
          </a:p>
        </p:txBody>
      </p:sp>
      <p:sp>
        <p:nvSpPr>
          <p:cNvPr id="12" name="TextBox 11"/>
          <p:cNvSpPr txBox="1"/>
          <p:nvPr/>
        </p:nvSpPr>
        <p:spPr>
          <a:xfrm>
            <a:off x="960120" y="2697480"/>
            <a:ext cx="4769967" cy="548640"/>
          </a:xfrm>
          <a:prstGeom prst="rect">
            <a:avLst/>
          </a:prstGeom>
          <a:noFill/>
        </p:spPr>
        <p:txBody>
          <a:bodyPr wrap="square" lIns="0" rIns="0" tIns="0" bIns="0" anchor="t">
            <a:spAutoFit/>
          </a:bodyPr>
          <a:lstStyle/>
          <a:p>
            <a:pPr algn="l">
              <a:lnSpc>
                <a:spcPct val="140000"/>
              </a:lnSpc>
            </a:pPr>
            <a:r>
              <a:rPr sz="1100" b="0" i="1">
                <a:solidFill>
                  <a:srgbClr val="404040"/>
                </a:solidFill>
                <a:latin typeface="Newsreader"/>
              </a:rPr>
              <a:t>If agents become 50% cheaper next year, what changes in your operating model?</a:t>
            </a:r>
          </a:p>
        </p:txBody>
      </p:sp>
      <p:sp>
        <p:nvSpPr>
          <p:cNvPr id="13" name="TextBox 12"/>
          <p:cNvSpPr txBox="1"/>
          <p:nvPr/>
        </p:nvSpPr>
        <p:spPr>
          <a:xfrm>
            <a:off x="6370167" y="1645920"/>
            <a:ext cx="5181447"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CURRENT STATE</a:t>
            </a:r>
          </a:p>
        </p:txBody>
      </p:sp>
      <p:sp>
        <p:nvSpPr>
          <p:cNvPr id="14" name="Rectangle 13"/>
          <p:cNvSpPr/>
          <p:nvPr/>
        </p:nvSpPr>
        <p:spPr>
          <a:xfrm>
            <a:off x="6370167" y="1938528"/>
            <a:ext cx="36576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2103120"/>
            <a:ext cx="320040" cy="36576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Q.</a:t>
            </a:r>
          </a:p>
        </p:txBody>
      </p:sp>
      <p:sp>
        <p:nvSpPr>
          <p:cNvPr id="16" name="TextBox 15"/>
          <p:cNvSpPr txBox="1"/>
          <p:nvPr/>
        </p:nvSpPr>
        <p:spPr>
          <a:xfrm>
            <a:off x="6690207" y="2103120"/>
            <a:ext cx="4769967" cy="548640"/>
          </a:xfrm>
          <a:prstGeom prst="rect">
            <a:avLst/>
          </a:prstGeom>
          <a:noFill/>
        </p:spPr>
        <p:txBody>
          <a:bodyPr wrap="square" lIns="0" rIns="0" tIns="0" bIns="0" anchor="t">
            <a:spAutoFit/>
          </a:bodyPr>
          <a:lstStyle/>
          <a:p>
            <a:pPr algn="l">
              <a:lnSpc>
                <a:spcPct val="140000"/>
              </a:lnSpc>
            </a:pPr>
            <a:r>
              <a:rPr sz="1100" b="0" i="1">
                <a:solidFill>
                  <a:srgbClr val="404040"/>
                </a:solidFill>
                <a:latin typeface="Newsreader"/>
              </a:rPr>
              <a:t>How many of your pilots have measurable value attribution today?</a:t>
            </a:r>
          </a:p>
        </p:txBody>
      </p:sp>
      <p:sp>
        <p:nvSpPr>
          <p:cNvPr id="17" name="TextBox 16"/>
          <p:cNvSpPr txBox="1"/>
          <p:nvPr/>
        </p:nvSpPr>
        <p:spPr>
          <a:xfrm>
            <a:off x="6370167" y="2697480"/>
            <a:ext cx="320040" cy="36576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Q.</a:t>
            </a:r>
          </a:p>
        </p:txBody>
      </p:sp>
      <p:sp>
        <p:nvSpPr>
          <p:cNvPr id="18" name="TextBox 17"/>
          <p:cNvSpPr txBox="1"/>
          <p:nvPr/>
        </p:nvSpPr>
        <p:spPr>
          <a:xfrm>
            <a:off x="6690207" y="2697480"/>
            <a:ext cx="4769967" cy="548640"/>
          </a:xfrm>
          <a:prstGeom prst="rect">
            <a:avLst/>
          </a:prstGeom>
          <a:noFill/>
        </p:spPr>
        <p:txBody>
          <a:bodyPr wrap="square" lIns="0" rIns="0" tIns="0" bIns="0" anchor="t">
            <a:spAutoFit/>
          </a:bodyPr>
          <a:lstStyle/>
          <a:p>
            <a:pPr algn="l">
              <a:lnSpc>
                <a:spcPct val="140000"/>
              </a:lnSpc>
            </a:pPr>
            <a:r>
              <a:rPr sz="1100" b="0" i="1">
                <a:solidFill>
                  <a:srgbClr val="404040"/>
                </a:solidFill>
                <a:latin typeface="Newsreader"/>
              </a:rPr>
              <a:t>Which use cases are in production with daily users?</a:t>
            </a:r>
          </a:p>
        </p:txBody>
      </p:sp>
      <p:sp>
        <p:nvSpPr>
          <p:cNvPr id="19" name="TextBox 18"/>
          <p:cNvSpPr txBox="1"/>
          <p:nvPr/>
        </p:nvSpPr>
        <p:spPr>
          <a:xfrm>
            <a:off x="6370167" y="3291840"/>
            <a:ext cx="320040" cy="36576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Q.</a:t>
            </a:r>
          </a:p>
        </p:txBody>
      </p:sp>
      <p:sp>
        <p:nvSpPr>
          <p:cNvPr id="20" name="TextBox 19"/>
          <p:cNvSpPr txBox="1"/>
          <p:nvPr/>
        </p:nvSpPr>
        <p:spPr>
          <a:xfrm>
            <a:off x="6690207" y="3291840"/>
            <a:ext cx="4769967" cy="548640"/>
          </a:xfrm>
          <a:prstGeom prst="rect">
            <a:avLst/>
          </a:prstGeom>
          <a:noFill/>
        </p:spPr>
        <p:txBody>
          <a:bodyPr wrap="square" lIns="0" rIns="0" tIns="0" bIns="0" anchor="t">
            <a:spAutoFit/>
          </a:bodyPr>
          <a:lstStyle/>
          <a:p>
            <a:pPr algn="l">
              <a:lnSpc>
                <a:spcPct val="140000"/>
              </a:lnSpc>
            </a:pPr>
            <a:r>
              <a:rPr sz="1100" b="0" i="1">
                <a:solidFill>
                  <a:srgbClr val="404040"/>
                </a:solidFill>
                <a:latin typeface="Newsreader"/>
              </a:rPr>
              <a:t>Which use cases were quietly retired in the last 12 months?</a:t>
            </a:r>
          </a:p>
        </p:txBody>
      </p:sp>
      <p:sp>
        <p:nvSpPr>
          <p:cNvPr id="21" name="TextBox 20"/>
          <p:cNvSpPr txBox="1"/>
          <p:nvPr/>
        </p:nvSpPr>
        <p:spPr>
          <a:xfrm>
            <a:off x="640080" y="4114800"/>
            <a:ext cx="5181447"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RISK APPETITE</a:t>
            </a:r>
          </a:p>
        </p:txBody>
      </p:sp>
      <p:sp>
        <p:nvSpPr>
          <p:cNvPr id="22" name="Rectangle 21"/>
          <p:cNvSpPr/>
          <p:nvPr/>
        </p:nvSpPr>
        <p:spPr>
          <a:xfrm>
            <a:off x="640080" y="4407408"/>
            <a:ext cx="36576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572000"/>
            <a:ext cx="320040" cy="36576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Q.</a:t>
            </a:r>
          </a:p>
        </p:txBody>
      </p:sp>
      <p:sp>
        <p:nvSpPr>
          <p:cNvPr id="24" name="TextBox 23"/>
          <p:cNvSpPr txBox="1"/>
          <p:nvPr/>
        </p:nvSpPr>
        <p:spPr>
          <a:xfrm>
            <a:off x="960120" y="4572000"/>
            <a:ext cx="4769967" cy="548640"/>
          </a:xfrm>
          <a:prstGeom prst="rect">
            <a:avLst/>
          </a:prstGeom>
          <a:noFill/>
        </p:spPr>
        <p:txBody>
          <a:bodyPr wrap="square" lIns="0" rIns="0" tIns="0" bIns="0" anchor="t">
            <a:spAutoFit/>
          </a:bodyPr>
          <a:lstStyle/>
          <a:p>
            <a:pPr algn="l">
              <a:lnSpc>
                <a:spcPct val="140000"/>
              </a:lnSpc>
            </a:pPr>
            <a:r>
              <a:rPr sz="1100" b="0" i="1">
                <a:solidFill>
                  <a:srgbClr val="404040"/>
                </a:solidFill>
                <a:latin typeface="Newsreader"/>
              </a:rPr>
              <a:t>What level of agent autonomy is your regulator comfortable with today?</a:t>
            </a:r>
          </a:p>
        </p:txBody>
      </p:sp>
      <p:sp>
        <p:nvSpPr>
          <p:cNvPr id="25" name="TextBox 24"/>
          <p:cNvSpPr txBox="1"/>
          <p:nvPr/>
        </p:nvSpPr>
        <p:spPr>
          <a:xfrm>
            <a:off x="640080" y="5166360"/>
            <a:ext cx="320040" cy="36576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Q.</a:t>
            </a:r>
          </a:p>
        </p:txBody>
      </p:sp>
      <p:sp>
        <p:nvSpPr>
          <p:cNvPr id="26" name="TextBox 25"/>
          <p:cNvSpPr txBox="1"/>
          <p:nvPr/>
        </p:nvSpPr>
        <p:spPr>
          <a:xfrm>
            <a:off x="960120" y="5166360"/>
            <a:ext cx="4769967" cy="548640"/>
          </a:xfrm>
          <a:prstGeom prst="rect">
            <a:avLst/>
          </a:prstGeom>
          <a:noFill/>
        </p:spPr>
        <p:txBody>
          <a:bodyPr wrap="square" lIns="0" rIns="0" tIns="0" bIns="0" anchor="t">
            <a:spAutoFit/>
          </a:bodyPr>
          <a:lstStyle/>
          <a:p>
            <a:pPr algn="l">
              <a:lnSpc>
                <a:spcPct val="140000"/>
              </a:lnSpc>
            </a:pPr>
            <a:r>
              <a:rPr sz="1100" b="0" i="1">
                <a:solidFill>
                  <a:srgbClr val="404040"/>
                </a:solidFill>
                <a:latin typeface="Newsreader"/>
              </a:rPr>
              <a:t>Which decisions must always have a human reviewer — and why?</a:t>
            </a:r>
          </a:p>
        </p:txBody>
      </p:sp>
      <p:sp>
        <p:nvSpPr>
          <p:cNvPr id="27" name="TextBox 26"/>
          <p:cNvSpPr txBox="1"/>
          <p:nvPr/>
        </p:nvSpPr>
        <p:spPr>
          <a:xfrm>
            <a:off x="6370167" y="4114800"/>
            <a:ext cx="5181447"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OPERATING-MODEL READINESS</a:t>
            </a:r>
          </a:p>
        </p:txBody>
      </p:sp>
      <p:sp>
        <p:nvSpPr>
          <p:cNvPr id="28" name="Rectangle 27"/>
          <p:cNvSpPr/>
          <p:nvPr/>
        </p:nvSpPr>
        <p:spPr>
          <a:xfrm>
            <a:off x="6370167" y="4407408"/>
            <a:ext cx="36576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70167" y="4572000"/>
            <a:ext cx="320040" cy="36576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Q.</a:t>
            </a:r>
          </a:p>
        </p:txBody>
      </p:sp>
      <p:sp>
        <p:nvSpPr>
          <p:cNvPr id="30" name="TextBox 29"/>
          <p:cNvSpPr txBox="1"/>
          <p:nvPr/>
        </p:nvSpPr>
        <p:spPr>
          <a:xfrm>
            <a:off x="6690207" y="4572000"/>
            <a:ext cx="4769967" cy="548640"/>
          </a:xfrm>
          <a:prstGeom prst="rect">
            <a:avLst/>
          </a:prstGeom>
          <a:noFill/>
        </p:spPr>
        <p:txBody>
          <a:bodyPr wrap="square" lIns="0" rIns="0" tIns="0" bIns="0" anchor="t">
            <a:spAutoFit/>
          </a:bodyPr>
          <a:lstStyle/>
          <a:p>
            <a:pPr algn="l">
              <a:lnSpc>
                <a:spcPct val="140000"/>
              </a:lnSpc>
            </a:pPr>
            <a:r>
              <a:rPr sz="1100" b="0" i="1">
                <a:solidFill>
                  <a:srgbClr val="404040"/>
                </a:solidFill>
                <a:latin typeface="Newsreader"/>
              </a:rPr>
              <a:t>Who owns 'agent ops' in your organization?</a:t>
            </a:r>
          </a:p>
        </p:txBody>
      </p:sp>
      <p:sp>
        <p:nvSpPr>
          <p:cNvPr id="31" name="TextBox 30"/>
          <p:cNvSpPr txBox="1"/>
          <p:nvPr/>
        </p:nvSpPr>
        <p:spPr>
          <a:xfrm>
            <a:off x="6370167" y="5166360"/>
            <a:ext cx="320040" cy="36576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Q.</a:t>
            </a:r>
          </a:p>
        </p:txBody>
      </p:sp>
      <p:sp>
        <p:nvSpPr>
          <p:cNvPr id="32" name="TextBox 31"/>
          <p:cNvSpPr txBox="1"/>
          <p:nvPr/>
        </p:nvSpPr>
        <p:spPr>
          <a:xfrm>
            <a:off x="6690207" y="5166360"/>
            <a:ext cx="4769967" cy="548640"/>
          </a:xfrm>
          <a:prstGeom prst="rect">
            <a:avLst/>
          </a:prstGeom>
          <a:noFill/>
        </p:spPr>
        <p:txBody>
          <a:bodyPr wrap="square" lIns="0" rIns="0" tIns="0" bIns="0" anchor="t">
            <a:spAutoFit/>
          </a:bodyPr>
          <a:lstStyle/>
          <a:p>
            <a:pPr algn="l">
              <a:lnSpc>
                <a:spcPct val="140000"/>
              </a:lnSpc>
            </a:pPr>
            <a:r>
              <a:rPr sz="1100" b="0" i="1">
                <a:solidFill>
                  <a:srgbClr val="404040"/>
                </a:solidFill>
                <a:latin typeface="Newsreader"/>
              </a:rPr>
              <a:t>How will you measure productivity in an agent-native team?</a:t>
            </a:r>
          </a:p>
        </p:txBody>
      </p:sp>
      <p:sp>
        <p:nvSpPr>
          <p:cNvPr id="33" name="TextBox 32"/>
          <p:cNvSpPr txBox="1"/>
          <p:nvPr/>
        </p:nvSpPr>
        <p:spPr>
          <a:xfrm>
            <a:off x="6370167" y="5760720"/>
            <a:ext cx="320040" cy="36576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Q.</a:t>
            </a:r>
          </a:p>
        </p:txBody>
      </p:sp>
      <p:sp>
        <p:nvSpPr>
          <p:cNvPr id="34" name="TextBox 33"/>
          <p:cNvSpPr txBox="1"/>
          <p:nvPr/>
        </p:nvSpPr>
        <p:spPr>
          <a:xfrm>
            <a:off x="6690207" y="5760720"/>
            <a:ext cx="4769967" cy="548640"/>
          </a:xfrm>
          <a:prstGeom prst="rect">
            <a:avLst/>
          </a:prstGeom>
          <a:noFill/>
        </p:spPr>
        <p:txBody>
          <a:bodyPr wrap="square" lIns="0" rIns="0" tIns="0" bIns="0" anchor="t">
            <a:spAutoFit/>
          </a:bodyPr>
          <a:lstStyle/>
          <a:p>
            <a:pPr algn="l">
              <a:lnSpc>
                <a:spcPct val="140000"/>
              </a:lnSpc>
            </a:pPr>
            <a:r>
              <a:rPr sz="1100" b="0" i="1">
                <a:solidFill>
                  <a:srgbClr val="404040"/>
                </a:solidFill>
                <a:latin typeface="Newsreader"/>
              </a:rPr>
              <a:t>Where will the savings show up — and who is accountable for them?</a:t>
            </a:r>
          </a:p>
        </p:txBody>
      </p:sp>
      <p:cxnSp>
        <p:nvCxnSpPr>
          <p:cNvPr id="35" name="Connector 34"/>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37" name="TextBox 36"/>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19 / 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Common objections — and how to answer them</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SALES TOOL  ·  OBJECTIONS</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V   ·   TOOL 02</a:t>
            </a:r>
          </a:p>
        </p:txBody>
      </p:sp>
      <p:sp>
        <p:nvSpPr>
          <p:cNvPr id="6" name="TextBox 5"/>
          <p:cNvSpPr txBox="1"/>
          <p:nvPr/>
        </p:nvSpPr>
        <p:spPr>
          <a:xfrm>
            <a:off x="640080" y="1005840"/>
            <a:ext cx="10911535" cy="457200"/>
          </a:xfrm>
          <a:prstGeom prst="rect">
            <a:avLst/>
          </a:prstGeom>
          <a:noFill/>
        </p:spPr>
        <p:txBody>
          <a:bodyPr wrap="square" lIns="0" rIns="0" tIns="0" bIns="0" anchor="t">
            <a:spAutoFit/>
          </a:bodyPr>
          <a:lstStyle/>
          <a:p>
            <a:pPr algn="l">
              <a:lnSpc>
                <a:spcPct val="120000"/>
              </a:lnSpc>
            </a:pPr>
            <a:r>
              <a:rPr sz="1800" b="0" i="1">
                <a:solidFill>
                  <a:srgbClr val="182534"/>
                </a:solidFill>
                <a:latin typeface="Fraunces"/>
              </a:rPr>
              <a:t>Five things you will hear in the first 30 minutes — and how to answer each.</a:t>
            </a:r>
          </a:p>
        </p:txBody>
      </p:sp>
      <p:cxnSp>
        <p:nvCxnSpPr>
          <p:cNvPr id="7" name="Connector 6"/>
          <p:cNvCxnSpPr/>
          <p:nvPr/>
        </p:nvCxnSpPr>
        <p:spPr>
          <a:xfrm>
            <a:off x="640080" y="1874520.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2011680"/>
            <a:ext cx="4582844" cy="585216"/>
          </a:xfrm>
          <a:prstGeom prst="rect">
            <a:avLst/>
          </a:prstGeom>
          <a:noFill/>
        </p:spPr>
        <p:txBody>
          <a:bodyPr wrap="square" lIns="0" rIns="0" tIns="0" bIns="0" anchor="ctr">
            <a:spAutoFit/>
          </a:bodyPr>
          <a:lstStyle/>
          <a:p>
            <a:pPr algn="l">
              <a:lnSpc>
                <a:spcPct val="130000"/>
              </a:lnSpc>
            </a:pPr>
            <a:r>
              <a:rPr sz="1600" b="0" i="0">
                <a:solidFill>
                  <a:srgbClr val="007CC3"/>
                </a:solidFill>
                <a:latin typeface="Fraunces"/>
              </a:rPr>
              <a:t>“</a:t>
            </a:r>
            <a:r>
              <a:rPr sz="1600" b="0" i="1">
                <a:solidFill>
                  <a:srgbClr val="182534"/>
                </a:solidFill>
                <a:latin typeface="Fraunces"/>
              </a:rPr>
              <a:t>Our regulator will never allow autonomous agents.</a:t>
            </a:r>
            <a:r>
              <a:rPr sz="1600" b="0" i="0">
                <a:solidFill>
                  <a:srgbClr val="007CC3"/>
                </a:solidFill>
                <a:latin typeface="Fraunces"/>
              </a:rPr>
              <a:t>”</a:t>
            </a:r>
          </a:p>
        </p:txBody>
      </p:sp>
      <p:sp>
        <p:nvSpPr>
          <p:cNvPr id="9" name="TextBox 8"/>
          <p:cNvSpPr txBox="1"/>
          <p:nvPr/>
        </p:nvSpPr>
        <p:spPr>
          <a:xfrm>
            <a:off x="5441155" y="2057400"/>
            <a:ext cx="274320" cy="457200"/>
          </a:xfrm>
          <a:prstGeom prst="rect">
            <a:avLst/>
          </a:prstGeom>
          <a:noFill/>
        </p:spPr>
        <p:txBody>
          <a:bodyPr wrap="square" lIns="0" rIns="0" tIns="0" bIns="0" anchor="ctr">
            <a:spAutoFit/>
          </a:bodyPr>
          <a:lstStyle/>
          <a:p>
            <a:pPr algn="l">
              <a:lnSpc>
                <a:spcPct val="135000"/>
              </a:lnSpc>
            </a:pPr>
            <a:r>
              <a:rPr sz="1400" b="1" i="0">
                <a:solidFill>
                  <a:srgbClr val="007CC3"/>
                </a:solidFill>
                <a:latin typeface="JetBrains Mono"/>
              </a:rPr>
              <a:t>↳</a:t>
            </a:r>
          </a:p>
        </p:txBody>
      </p:sp>
      <p:sp>
        <p:nvSpPr>
          <p:cNvPr id="10" name="TextBox 9"/>
          <p:cNvSpPr txBox="1"/>
          <p:nvPr/>
        </p:nvSpPr>
        <p:spPr>
          <a:xfrm>
            <a:off x="5877616" y="2011680"/>
            <a:ext cx="5673998" cy="585216"/>
          </a:xfrm>
          <a:prstGeom prst="rect">
            <a:avLst/>
          </a:prstGeom>
          <a:noFill/>
        </p:spPr>
        <p:txBody>
          <a:bodyPr wrap="square" lIns="0" rIns="0" tIns="0" bIns="0" anchor="ctr">
            <a:spAutoFit/>
          </a:bodyPr>
          <a:lstStyle/>
          <a:p>
            <a:pPr algn="l">
              <a:lnSpc>
                <a:spcPct val="155000"/>
              </a:lnSpc>
            </a:pPr>
            <a:r>
              <a:rPr sz="1200" b="0" i="0">
                <a:solidFill>
                  <a:srgbClr val="404040"/>
                </a:solidFill>
                <a:latin typeface="Newsreader"/>
              </a:rPr>
              <a:t>Start with agent-assisted, not autonomous. Design the audit trail before the agent. Regulators react to surprises, not to readable explanations.</a:t>
            </a:r>
          </a:p>
        </p:txBody>
      </p:sp>
      <p:cxnSp>
        <p:nvCxnSpPr>
          <p:cNvPr id="11" name="Connector 10"/>
          <p:cNvCxnSpPr/>
          <p:nvPr/>
        </p:nvCxnSpPr>
        <p:spPr>
          <a:xfrm>
            <a:off x="640080" y="2734056.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2871216"/>
            <a:ext cx="4582844" cy="585216"/>
          </a:xfrm>
          <a:prstGeom prst="rect">
            <a:avLst/>
          </a:prstGeom>
          <a:noFill/>
        </p:spPr>
        <p:txBody>
          <a:bodyPr wrap="square" lIns="0" rIns="0" tIns="0" bIns="0" anchor="ctr">
            <a:spAutoFit/>
          </a:bodyPr>
          <a:lstStyle/>
          <a:p>
            <a:pPr algn="l">
              <a:lnSpc>
                <a:spcPct val="130000"/>
              </a:lnSpc>
            </a:pPr>
            <a:r>
              <a:rPr sz="1600" b="0" i="0">
                <a:solidFill>
                  <a:srgbClr val="007CC3"/>
                </a:solidFill>
                <a:latin typeface="Fraunces"/>
              </a:rPr>
              <a:t>“</a:t>
            </a:r>
            <a:r>
              <a:rPr sz="1600" b="0" i="1">
                <a:solidFill>
                  <a:srgbClr val="182534"/>
                </a:solidFill>
                <a:latin typeface="Fraunces"/>
              </a:rPr>
              <a:t>We need to wait for the tech to stabilize.</a:t>
            </a:r>
            <a:r>
              <a:rPr sz="1600" b="0" i="0">
                <a:solidFill>
                  <a:srgbClr val="007CC3"/>
                </a:solidFill>
                <a:latin typeface="Fraunces"/>
              </a:rPr>
              <a:t>”</a:t>
            </a:r>
          </a:p>
        </p:txBody>
      </p:sp>
      <p:sp>
        <p:nvSpPr>
          <p:cNvPr id="13" name="TextBox 12"/>
          <p:cNvSpPr txBox="1"/>
          <p:nvPr/>
        </p:nvSpPr>
        <p:spPr>
          <a:xfrm>
            <a:off x="5441155" y="2916936"/>
            <a:ext cx="274320" cy="457200"/>
          </a:xfrm>
          <a:prstGeom prst="rect">
            <a:avLst/>
          </a:prstGeom>
          <a:noFill/>
        </p:spPr>
        <p:txBody>
          <a:bodyPr wrap="square" lIns="0" rIns="0" tIns="0" bIns="0" anchor="ctr">
            <a:spAutoFit/>
          </a:bodyPr>
          <a:lstStyle/>
          <a:p>
            <a:pPr algn="l">
              <a:lnSpc>
                <a:spcPct val="135000"/>
              </a:lnSpc>
            </a:pPr>
            <a:r>
              <a:rPr sz="1400" b="1" i="0">
                <a:solidFill>
                  <a:srgbClr val="007CC3"/>
                </a:solidFill>
                <a:latin typeface="JetBrains Mono"/>
              </a:rPr>
              <a:t>↳</a:t>
            </a:r>
          </a:p>
        </p:txBody>
      </p:sp>
      <p:sp>
        <p:nvSpPr>
          <p:cNvPr id="14" name="TextBox 13"/>
          <p:cNvSpPr txBox="1"/>
          <p:nvPr/>
        </p:nvSpPr>
        <p:spPr>
          <a:xfrm>
            <a:off x="5877616" y="2871216"/>
            <a:ext cx="5673998" cy="585216"/>
          </a:xfrm>
          <a:prstGeom prst="rect">
            <a:avLst/>
          </a:prstGeom>
          <a:noFill/>
        </p:spPr>
        <p:txBody>
          <a:bodyPr wrap="square" lIns="0" rIns="0" tIns="0" bIns="0" anchor="ctr">
            <a:spAutoFit/>
          </a:bodyPr>
          <a:lstStyle/>
          <a:p>
            <a:pPr algn="l">
              <a:lnSpc>
                <a:spcPct val="155000"/>
              </a:lnSpc>
            </a:pPr>
            <a:r>
              <a:rPr sz="1200" b="0" i="0">
                <a:solidFill>
                  <a:srgbClr val="404040"/>
                </a:solidFill>
                <a:latin typeface="Newsreader"/>
              </a:rPr>
              <a:t>The agent layer changes; the redesign value is durable. Build patterns, not POCs.</a:t>
            </a:r>
          </a:p>
        </p:txBody>
      </p:sp>
      <p:cxnSp>
        <p:nvCxnSpPr>
          <p:cNvPr id="15" name="Connector 14"/>
          <p:cNvCxnSpPr/>
          <p:nvPr/>
        </p:nvCxnSpPr>
        <p:spPr>
          <a:xfrm>
            <a:off x="640080" y="3593592.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3730752"/>
            <a:ext cx="4582844" cy="585216"/>
          </a:xfrm>
          <a:prstGeom prst="rect">
            <a:avLst/>
          </a:prstGeom>
          <a:noFill/>
        </p:spPr>
        <p:txBody>
          <a:bodyPr wrap="square" lIns="0" rIns="0" tIns="0" bIns="0" anchor="ctr">
            <a:spAutoFit/>
          </a:bodyPr>
          <a:lstStyle/>
          <a:p>
            <a:pPr algn="l">
              <a:lnSpc>
                <a:spcPct val="130000"/>
              </a:lnSpc>
            </a:pPr>
            <a:r>
              <a:rPr sz="1600" b="0" i="0">
                <a:solidFill>
                  <a:srgbClr val="007CC3"/>
                </a:solidFill>
                <a:latin typeface="Fraunces"/>
              </a:rPr>
              <a:t>“</a:t>
            </a:r>
            <a:r>
              <a:rPr sz="1600" b="0" i="1">
                <a:solidFill>
                  <a:srgbClr val="182534"/>
                </a:solidFill>
                <a:latin typeface="Fraunces"/>
              </a:rPr>
              <a:t>We've tried — pilots don't scale.</a:t>
            </a:r>
            <a:r>
              <a:rPr sz="1600" b="0" i="0">
                <a:solidFill>
                  <a:srgbClr val="007CC3"/>
                </a:solidFill>
                <a:latin typeface="Fraunces"/>
              </a:rPr>
              <a:t>”</a:t>
            </a:r>
          </a:p>
        </p:txBody>
      </p:sp>
      <p:sp>
        <p:nvSpPr>
          <p:cNvPr id="17" name="TextBox 16"/>
          <p:cNvSpPr txBox="1"/>
          <p:nvPr/>
        </p:nvSpPr>
        <p:spPr>
          <a:xfrm>
            <a:off x="5441155" y="3776472"/>
            <a:ext cx="274320" cy="457200"/>
          </a:xfrm>
          <a:prstGeom prst="rect">
            <a:avLst/>
          </a:prstGeom>
          <a:noFill/>
        </p:spPr>
        <p:txBody>
          <a:bodyPr wrap="square" lIns="0" rIns="0" tIns="0" bIns="0" anchor="ctr">
            <a:spAutoFit/>
          </a:bodyPr>
          <a:lstStyle/>
          <a:p>
            <a:pPr algn="l">
              <a:lnSpc>
                <a:spcPct val="135000"/>
              </a:lnSpc>
            </a:pPr>
            <a:r>
              <a:rPr sz="1400" b="1" i="0">
                <a:solidFill>
                  <a:srgbClr val="007CC3"/>
                </a:solidFill>
                <a:latin typeface="JetBrains Mono"/>
              </a:rPr>
              <a:t>↳</a:t>
            </a:r>
          </a:p>
        </p:txBody>
      </p:sp>
      <p:sp>
        <p:nvSpPr>
          <p:cNvPr id="18" name="TextBox 17"/>
          <p:cNvSpPr txBox="1"/>
          <p:nvPr/>
        </p:nvSpPr>
        <p:spPr>
          <a:xfrm>
            <a:off x="5877616" y="3730752"/>
            <a:ext cx="5673998" cy="585216"/>
          </a:xfrm>
          <a:prstGeom prst="rect">
            <a:avLst/>
          </a:prstGeom>
          <a:noFill/>
        </p:spPr>
        <p:txBody>
          <a:bodyPr wrap="square" lIns="0" rIns="0" tIns="0" bIns="0" anchor="ctr">
            <a:spAutoFit/>
          </a:bodyPr>
          <a:lstStyle/>
          <a:p>
            <a:pPr algn="l">
              <a:lnSpc>
                <a:spcPct val="155000"/>
              </a:lnSpc>
            </a:pPr>
            <a:r>
              <a:rPr sz="1200" b="0" i="0">
                <a:solidFill>
                  <a:srgbClr val="404040"/>
                </a:solidFill>
                <a:latin typeface="Newsreader"/>
              </a:rPr>
              <a:t>Pilots fail because the process is unchanged. Redesign the process, then scale. The plateau is a design problem, not a model problem.</a:t>
            </a:r>
          </a:p>
        </p:txBody>
      </p:sp>
      <p:cxnSp>
        <p:nvCxnSpPr>
          <p:cNvPr id="19" name="Connector 18"/>
          <p:cNvCxnSpPr/>
          <p:nvPr/>
        </p:nvCxnSpPr>
        <p:spPr>
          <a:xfrm>
            <a:off x="640080" y="4453128.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4590288"/>
            <a:ext cx="4582844" cy="585216"/>
          </a:xfrm>
          <a:prstGeom prst="rect">
            <a:avLst/>
          </a:prstGeom>
          <a:noFill/>
        </p:spPr>
        <p:txBody>
          <a:bodyPr wrap="square" lIns="0" rIns="0" tIns="0" bIns="0" anchor="ctr">
            <a:spAutoFit/>
          </a:bodyPr>
          <a:lstStyle/>
          <a:p>
            <a:pPr algn="l">
              <a:lnSpc>
                <a:spcPct val="130000"/>
              </a:lnSpc>
            </a:pPr>
            <a:r>
              <a:rPr sz="1600" b="0" i="0">
                <a:solidFill>
                  <a:srgbClr val="007CC3"/>
                </a:solidFill>
                <a:latin typeface="Fraunces"/>
              </a:rPr>
              <a:t>“</a:t>
            </a:r>
            <a:r>
              <a:rPr sz="1600" b="0" i="1">
                <a:solidFill>
                  <a:srgbClr val="182534"/>
                </a:solidFill>
                <a:latin typeface="Fraunces"/>
              </a:rPr>
              <a:t>Our data isn't ready.</a:t>
            </a:r>
            <a:r>
              <a:rPr sz="1600" b="0" i="0">
                <a:solidFill>
                  <a:srgbClr val="007CC3"/>
                </a:solidFill>
                <a:latin typeface="Fraunces"/>
              </a:rPr>
              <a:t>”</a:t>
            </a:r>
          </a:p>
        </p:txBody>
      </p:sp>
      <p:sp>
        <p:nvSpPr>
          <p:cNvPr id="21" name="TextBox 20"/>
          <p:cNvSpPr txBox="1"/>
          <p:nvPr/>
        </p:nvSpPr>
        <p:spPr>
          <a:xfrm>
            <a:off x="5441155" y="4636008"/>
            <a:ext cx="274320" cy="457200"/>
          </a:xfrm>
          <a:prstGeom prst="rect">
            <a:avLst/>
          </a:prstGeom>
          <a:noFill/>
        </p:spPr>
        <p:txBody>
          <a:bodyPr wrap="square" lIns="0" rIns="0" tIns="0" bIns="0" anchor="ctr">
            <a:spAutoFit/>
          </a:bodyPr>
          <a:lstStyle/>
          <a:p>
            <a:pPr algn="l">
              <a:lnSpc>
                <a:spcPct val="135000"/>
              </a:lnSpc>
            </a:pPr>
            <a:r>
              <a:rPr sz="1400" b="1" i="0">
                <a:solidFill>
                  <a:srgbClr val="007CC3"/>
                </a:solidFill>
                <a:latin typeface="JetBrains Mono"/>
              </a:rPr>
              <a:t>↳</a:t>
            </a:r>
          </a:p>
        </p:txBody>
      </p:sp>
      <p:sp>
        <p:nvSpPr>
          <p:cNvPr id="22" name="TextBox 21"/>
          <p:cNvSpPr txBox="1"/>
          <p:nvPr/>
        </p:nvSpPr>
        <p:spPr>
          <a:xfrm>
            <a:off x="5877616" y="4590288"/>
            <a:ext cx="5673998" cy="585216"/>
          </a:xfrm>
          <a:prstGeom prst="rect">
            <a:avLst/>
          </a:prstGeom>
          <a:noFill/>
        </p:spPr>
        <p:txBody>
          <a:bodyPr wrap="square" lIns="0" rIns="0" tIns="0" bIns="0" anchor="ctr">
            <a:spAutoFit/>
          </a:bodyPr>
          <a:lstStyle/>
          <a:p>
            <a:pPr algn="l">
              <a:lnSpc>
                <a:spcPct val="155000"/>
              </a:lnSpc>
            </a:pPr>
            <a:r>
              <a:rPr sz="1200" b="0" i="0">
                <a:solidFill>
                  <a:srgbClr val="404040"/>
                </a:solidFill>
                <a:latin typeface="Newsreader"/>
              </a:rPr>
              <a:t>Agents tolerate messier data than traditional ML. Start with read-mostly use cases. Data investment runs in parallel.</a:t>
            </a:r>
          </a:p>
        </p:txBody>
      </p:sp>
      <p:cxnSp>
        <p:nvCxnSpPr>
          <p:cNvPr id="23" name="Connector 22"/>
          <p:cNvCxnSpPr/>
          <p:nvPr/>
        </p:nvCxnSpPr>
        <p:spPr>
          <a:xfrm>
            <a:off x="640080" y="5312664.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0080" y="5449824"/>
            <a:ext cx="4582844" cy="585216"/>
          </a:xfrm>
          <a:prstGeom prst="rect">
            <a:avLst/>
          </a:prstGeom>
          <a:noFill/>
        </p:spPr>
        <p:txBody>
          <a:bodyPr wrap="square" lIns="0" rIns="0" tIns="0" bIns="0" anchor="ctr">
            <a:spAutoFit/>
          </a:bodyPr>
          <a:lstStyle/>
          <a:p>
            <a:pPr algn="l">
              <a:lnSpc>
                <a:spcPct val="130000"/>
              </a:lnSpc>
            </a:pPr>
            <a:r>
              <a:rPr sz="1600" b="0" i="0">
                <a:solidFill>
                  <a:srgbClr val="007CC3"/>
                </a:solidFill>
                <a:latin typeface="Fraunces"/>
              </a:rPr>
              <a:t>“</a:t>
            </a:r>
            <a:r>
              <a:rPr sz="1600" b="0" i="1">
                <a:solidFill>
                  <a:srgbClr val="182534"/>
                </a:solidFill>
                <a:latin typeface="Fraunces"/>
              </a:rPr>
              <a:t>We don't have the talent.</a:t>
            </a:r>
            <a:r>
              <a:rPr sz="1600" b="0" i="0">
                <a:solidFill>
                  <a:srgbClr val="007CC3"/>
                </a:solidFill>
                <a:latin typeface="Fraunces"/>
              </a:rPr>
              <a:t>”</a:t>
            </a:r>
          </a:p>
        </p:txBody>
      </p:sp>
      <p:sp>
        <p:nvSpPr>
          <p:cNvPr id="25" name="TextBox 24"/>
          <p:cNvSpPr txBox="1"/>
          <p:nvPr/>
        </p:nvSpPr>
        <p:spPr>
          <a:xfrm>
            <a:off x="5441155" y="5495544"/>
            <a:ext cx="274320" cy="457200"/>
          </a:xfrm>
          <a:prstGeom prst="rect">
            <a:avLst/>
          </a:prstGeom>
          <a:noFill/>
        </p:spPr>
        <p:txBody>
          <a:bodyPr wrap="square" lIns="0" rIns="0" tIns="0" bIns="0" anchor="ctr">
            <a:spAutoFit/>
          </a:bodyPr>
          <a:lstStyle/>
          <a:p>
            <a:pPr algn="l">
              <a:lnSpc>
                <a:spcPct val="135000"/>
              </a:lnSpc>
            </a:pPr>
            <a:r>
              <a:rPr sz="1400" b="1" i="0">
                <a:solidFill>
                  <a:srgbClr val="007CC3"/>
                </a:solidFill>
                <a:latin typeface="JetBrains Mono"/>
              </a:rPr>
              <a:t>↳</a:t>
            </a:r>
          </a:p>
        </p:txBody>
      </p:sp>
      <p:sp>
        <p:nvSpPr>
          <p:cNvPr id="26" name="TextBox 25"/>
          <p:cNvSpPr txBox="1"/>
          <p:nvPr/>
        </p:nvSpPr>
        <p:spPr>
          <a:xfrm>
            <a:off x="5877616" y="5449824"/>
            <a:ext cx="5673998" cy="585216"/>
          </a:xfrm>
          <a:prstGeom prst="rect">
            <a:avLst/>
          </a:prstGeom>
          <a:noFill/>
        </p:spPr>
        <p:txBody>
          <a:bodyPr wrap="square" lIns="0" rIns="0" tIns="0" bIns="0" anchor="ctr">
            <a:spAutoFit/>
          </a:bodyPr>
          <a:lstStyle/>
          <a:p>
            <a:pPr algn="l">
              <a:lnSpc>
                <a:spcPct val="155000"/>
              </a:lnSpc>
            </a:pPr>
            <a:r>
              <a:rPr sz="1200" b="0" i="0">
                <a:solidFill>
                  <a:srgbClr val="404040"/>
                </a:solidFill>
                <a:latin typeface="Newsreader"/>
              </a:rPr>
              <a:t>Talent reshapes faster than tech. The role gap is solvable in 6–12 months with a mix of hires and re-skilling.</a:t>
            </a:r>
          </a:p>
        </p:txBody>
      </p:sp>
      <p:cxnSp>
        <p:nvCxnSpPr>
          <p:cNvPr id="27" name="Connector 26"/>
          <p:cNvCxnSpPr/>
          <p:nvPr/>
        </p:nvCxnSpPr>
        <p:spPr>
          <a:xfrm>
            <a:off x="640080" y="6172200.0"/>
            <a:ext cx="10911535" cy="0.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30" name="TextBox 29"/>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20 / 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Illustrative case studies</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IC  ·  PROOF POINTS</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V   ·   CASES</a:t>
            </a:r>
          </a:p>
        </p:txBody>
      </p:sp>
      <p:sp>
        <p:nvSpPr>
          <p:cNvPr id="6" name="Rectangle 5"/>
          <p:cNvSpPr/>
          <p:nvPr/>
        </p:nvSpPr>
        <p:spPr>
          <a:xfrm>
            <a:off x="8442655" y="594360"/>
            <a:ext cx="3108960" cy="237744"/>
          </a:xfrm>
          <a:prstGeom prst="rect">
            <a:avLst/>
          </a:prstGeom>
          <a:solidFill>
            <a:srgbClr val="E6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42655" y="594360"/>
            <a:ext cx="36576" cy="237744"/>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52383" y="594360"/>
            <a:ext cx="2971800" cy="237744"/>
          </a:xfrm>
          <a:prstGeom prst="rect">
            <a:avLst/>
          </a:prstGeom>
          <a:noFill/>
        </p:spPr>
        <p:txBody>
          <a:bodyPr wrap="square" lIns="0" rIns="0" tIns="0" bIns="0" anchor="ctr">
            <a:spAutoFit/>
          </a:bodyPr>
          <a:lstStyle/>
          <a:p>
            <a:pPr algn="l">
              <a:lnSpc>
                <a:spcPct val="135000"/>
              </a:lnSpc>
            </a:pPr>
            <a:r>
              <a:rPr sz="700" b="1" i="0">
                <a:solidFill>
                  <a:srgbClr val="007CC3"/>
                </a:solidFill>
                <a:latin typeface="JetBrains Mono"/>
              </a:rPr>
              <a:t>PLACEHOLDER  ·  REPLACE WITH REAL ENGAGEMENTS</a:t>
            </a:r>
          </a:p>
        </p:txBody>
      </p:sp>
      <p:sp>
        <p:nvSpPr>
          <p:cNvPr id="9" name="Rectangle 8"/>
          <p:cNvSpPr/>
          <p:nvPr/>
        </p:nvSpPr>
        <p:spPr>
          <a:xfrm>
            <a:off x="640080" y="1600200"/>
            <a:ext cx="45720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37360"/>
            <a:ext cx="3454298"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TOP-10 US BANK</a:t>
            </a:r>
          </a:p>
        </p:txBody>
      </p:sp>
      <p:sp>
        <p:nvSpPr>
          <p:cNvPr id="11" name="TextBox 10"/>
          <p:cNvSpPr txBox="1"/>
          <p:nvPr/>
        </p:nvSpPr>
        <p:spPr>
          <a:xfrm>
            <a:off x="640080" y="2057400"/>
            <a:ext cx="3454298" cy="822960"/>
          </a:xfrm>
          <a:prstGeom prst="rect">
            <a:avLst/>
          </a:prstGeom>
          <a:noFill/>
        </p:spPr>
        <p:txBody>
          <a:bodyPr wrap="square" lIns="0" rIns="0" tIns="0" bIns="0" anchor="t">
            <a:spAutoFit/>
          </a:bodyPr>
          <a:lstStyle/>
          <a:p>
            <a:pPr algn="l">
              <a:lnSpc>
                <a:spcPct val="115000"/>
              </a:lnSpc>
            </a:pPr>
            <a:r>
              <a:rPr sz="2000" b="0" i="1">
                <a:solidFill>
                  <a:srgbClr val="182534"/>
                </a:solidFill>
                <a:latin typeface="Fraunces"/>
              </a:rPr>
              <a:t>Agent-native KYC</a:t>
            </a:r>
          </a:p>
        </p:txBody>
      </p:sp>
      <p:sp>
        <p:nvSpPr>
          <p:cNvPr id="12" name="TextBox 11"/>
          <p:cNvSpPr txBox="1"/>
          <p:nvPr/>
        </p:nvSpPr>
        <p:spPr>
          <a:xfrm>
            <a:off x="640080" y="3154680"/>
            <a:ext cx="3454298" cy="228600"/>
          </a:xfrm>
          <a:prstGeom prst="rect">
            <a:avLst/>
          </a:prstGeom>
          <a:noFill/>
        </p:spPr>
        <p:txBody>
          <a:bodyPr wrap="square" lIns="0" rIns="0" tIns="0" bIns="0" anchor="t">
            <a:spAutoFit/>
          </a:bodyPr>
          <a:lstStyle/>
          <a:p>
            <a:pPr algn="l">
              <a:lnSpc>
                <a:spcPct val="135000"/>
              </a:lnSpc>
            </a:pPr>
            <a:r>
              <a:rPr sz="800" b="1" i="0">
                <a:solidFill>
                  <a:srgbClr val="6D6E71"/>
                </a:solidFill>
                <a:latin typeface="JetBrains Mono"/>
              </a:rPr>
              <a:t>SITUATION</a:t>
            </a:r>
          </a:p>
        </p:txBody>
      </p:sp>
      <p:sp>
        <p:nvSpPr>
          <p:cNvPr id="13" name="TextBox 12"/>
          <p:cNvSpPr txBox="1"/>
          <p:nvPr/>
        </p:nvSpPr>
        <p:spPr>
          <a:xfrm>
            <a:off x="640080" y="3410712"/>
            <a:ext cx="3271418" cy="82296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14-system onboarding, 9-day TAT, 8% drop-off</a:t>
            </a:r>
          </a:p>
        </p:txBody>
      </p:sp>
      <p:sp>
        <p:nvSpPr>
          <p:cNvPr id="14" name="TextBox 13"/>
          <p:cNvSpPr txBox="1"/>
          <p:nvPr/>
        </p:nvSpPr>
        <p:spPr>
          <a:xfrm>
            <a:off x="640080" y="4160520"/>
            <a:ext cx="3454298" cy="228600"/>
          </a:xfrm>
          <a:prstGeom prst="rect">
            <a:avLst/>
          </a:prstGeom>
          <a:noFill/>
        </p:spPr>
        <p:txBody>
          <a:bodyPr wrap="square" lIns="0" rIns="0" tIns="0" bIns="0" anchor="t">
            <a:spAutoFit/>
          </a:bodyPr>
          <a:lstStyle/>
          <a:p>
            <a:pPr algn="l">
              <a:lnSpc>
                <a:spcPct val="135000"/>
              </a:lnSpc>
            </a:pPr>
            <a:r>
              <a:rPr sz="800" b="1" i="0">
                <a:solidFill>
                  <a:srgbClr val="6D6E71"/>
                </a:solidFill>
                <a:latin typeface="JetBrains Mono"/>
              </a:rPr>
              <a:t>REDESIGN</a:t>
            </a:r>
          </a:p>
        </p:txBody>
      </p:sp>
      <p:sp>
        <p:nvSpPr>
          <p:cNvPr id="15" name="TextBox 14"/>
          <p:cNvSpPr txBox="1"/>
          <p:nvPr/>
        </p:nvSpPr>
        <p:spPr>
          <a:xfrm>
            <a:off x="640080" y="4416552"/>
            <a:ext cx="3271418" cy="82296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Orchestrated agent flow with risk-tiered checkpoint</a:t>
            </a:r>
          </a:p>
        </p:txBody>
      </p:sp>
      <p:sp>
        <p:nvSpPr>
          <p:cNvPr id="16" name="TextBox 15"/>
          <p:cNvSpPr txBox="1"/>
          <p:nvPr/>
        </p:nvSpPr>
        <p:spPr>
          <a:xfrm>
            <a:off x="640080" y="5166360"/>
            <a:ext cx="3454298" cy="228600"/>
          </a:xfrm>
          <a:prstGeom prst="rect">
            <a:avLst/>
          </a:prstGeom>
          <a:noFill/>
        </p:spPr>
        <p:txBody>
          <a:bodyPr wrap="square" lIns="0" rIns="0" tIns="0" bIns="0" anchor="t">
            <a:spAutoFit/>
          </a:bodyPr>
          <a:lstStyle/>
          <a:p>
            <a:pPr algn="l">
              <a:lnSpc>
                <a:spcPct val="135000"/>
              </a:lnSpc>
            </a:pPr>
            <a:r>
              <a:rPr sz="800" b="1" i="0">
                <a:solidFill>
                  <a:srgbClr val="6D6E71"/>
                </a:solidFill>
                <a:latin typeface="JetBrains Mono"/>
              </a:rPr>
              <a:t>OUTCOME</a:t>
            </a:r>
          </a:p>
        </p:txBody>
      </p:sp>
      <p:sp>
        <p:nvSpPr>
          <p:cNvPr id="17" name="TextBox 16"/>
          <p:cNvSpPr txBox="1"/>
          <p:nvPr/>
        </p:nvSpPr>
        <p:spPr>
          <a:xfrm>
            <a:off x="640080" y="5422392"/>
            <a:ext cx="3271418" cy="82296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60%+ TAT reduction, 40% analyst capacity returned</a:t>
            </a:r>
          </a:p>
        </p:txBody>
      </p:sp>
      <p:sp>
        <p:nvSpPr>
          <p:cNvPr id="18" name="Rectangle 17"/>
          <p:cNvSpPr/>
          <p:nvPr/>
        </p:nvSpPr>
        <p:spPr>
          <a:xfrm>
            <a:off x="4368698" y="1600200"/>
            <a:ext cx="45720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68698" y="1737360"/>
            <a:ext cx="3454298"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EUROPEAN UNIVERSAL BANK</a:t>
            </a:r>
          </a:p>
        </p:txBody>
      </p:sp>
      <p:sp>
        <p:nvSpPr>
          <p:cNvPr id="20" name="TextBox 19"/>
          <p:cNvSpPr txBox="1"/>
          <p:nvPr/>
        </p:nvSpPr>
        <p:spPr>
          <a:xfrm>
            <a:off x="4368698" y="2057400"/>
            <a:ext cx="3454298" cy="822960"/>
          </a:xfrm>
          <a:prstGeom prst="rect">
            <a:avLst/>
          </a:prstGeom>
          <a:noFill/>
        </p:spPr>
        <p:txBody>
          <a:bodyPr wrap="square" lIns="0" rIns="0" tIns="0" bIns="0" anchor="t">
            <a:spAutoFit/>
          </a:bodyPr>
          <a:lstStyle/>
          <a:p>
            <a:pPr algn="l">
              <a:lnSpc>
                <a:spcPct val="115000"/>
              </a:lnSpc>
            </a:pPr>
            <a:r>
              <a:rPr sz="2000" b="0" i="1">
                <a:solidFill>
                  <a:srgbClr val="182534"/>
                </a:solidFill>
                <a:latin typeface="Fraunces"/>
              </a:rPr>
              <a:t>Credit underwriting copilot</a:t>
            </a:r>
          </a:p>
        </p:txBody>
      </p:sp>
      <p:sp>
        <p:nvSpPr>
          <p:cNvPr id="21" name="TextBox 20"/>
          <p:cNvSpPr txBox="1"/>
          <p:nvPr/>
        </p:nvSpPr>
        <p:spPr>
          <a:xfrm>
            <a:off x="4368698" y="3154680"/>
            <a:ext cx="3454298" cy="228600"/>
          </a:xfrm>
          <a:prstGeom prst="rect">
            <a:avLst/>
          </a:prstGeom>
          <a:noFill/>
        </p:spPr>
        <p:txBody>
          <a:bodyPr wrap="square" lIns="0" rIns="0" tIns="0" bIns="0" anchor="t">
            <a:spAutoFit/>
          </a:bodyPr>
          <a:lstStyle/>
          <a:p>
            <a:pPr algn="l">
              <a:lnSpc>
                <a:spcPct val="135000"/>
              </a:lnSpc>
            </a:pPr>
            <a:r>
              <a:rPr sz="800" b="1" i="0">
                <a:solidFill>
                  <a:srgbClr val="6D6E71"/>
                </a:solidFill>
                <a:latin typeface="JetBrains Mono"/>
              </a:rPr>
              <a:t>SITUATION</a:t>
            </a:r>
          </a:p>
        </p:txBody>
      </p:sp>
      <p:sp>
        <p:nvSpPr>
          <p:cNvPr id="22" name="TextBox 21"/>
          <p:cNvSpPr txBox="1"/>
          <p:nvPr/>
        </p:nvSpPr>
        <p:spPr>
          <a:xfrm>
            <a:off x="4368698" y="3410712"/>
            <a:ext cx="3271418" cy="82296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Multi-week memo cycle, 2–3 scenarios per deal</a:t>
            </a:r>
          </a:p>
        </p:txBody>
      </p:sp>
      <p:sp>
        <p:nvSpPr>
          <p:cNvPr id="23" name="TextBox 22"/>
          <p:cNvSpPr txBox="1"/>
          <p:nvPr/>
        </p:nvSpPr>
        <p:spPr>
          <a:xfrm>
            <a:off x="4368698" y="4160520"/>
            <a:ext cx="3454298" cy="228600"/>
          </a:xfrm>
          <a:prstGeom prst="rect">
            <a:avLst/>
          </a:prstGeom>
          <a:noFill/>
        </p:spPr>
        <p:txBody>
          <a:bodyPr wrap="square" lIns="0" rIns="0" tIns="0" bIns="0" anchor="t">
            <a:spAutoFit/>
          </a:bodyPr>
          <a:lstStyle/>
          <a:p>
            <a:pPr algn="l">
              <a:lnSpc>
                <a:spcPct val="135000"/>
              </a:lnSpc>
            </a:pPr>
            <a:r>
              <a:rPr sz="800" b="1" i="0">
                <a:solidFill>
                  <a:srgbClr val="6D6E71"/>
                </a:solidFill>
                <a:latin typeface="JetBrains Mono"/>
              </a:rPr>
              <a:t>REDESIGN</a:t>
            </a:r>
          </a:p>
        </p:txBody>
      </p:sp>
      <p:sp>
        <p:nvSpPr>
          <p:cNvPr id="24" name="TextBox 23"/>
          <p:cNvSpPr txBox="1"/>
          <p:nvPr/>
        </p:nvSpPr>
        <p:spPr>
          <a:xfrm>
            <a:off x="4368698" y="4416552"/>
            <a:ext cx="3271418" cy="82296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Research + decision-support agents, reviewer at the seam</a:t>
            </a:r>
          </a:p>
        </p:txBody>
      </p:sp>
      <p:sp>
        <p:nvSpPr>
          <p:cNvPr id="25" name="TextBox 24"/>
          <p:cNvSpPr txBox="1"/>
          <p:nvPr/>
        </p:nvSpPr>
        <p:spPr>
          <a:xfrm>
            <a:off x="4368698" y="5166360"/>
            <a:ext cx="3454298" cy="228600"/>
          </a:xfrm>
          <a:prstGeom prst="rect">
            <a:avLst/>
          </a:prstGeom>
          <a:noFill/>
        </p:spPr>
        <p:txBody>
          <a:bodyPr wrap="square" lIns="0" rIns="0" tIns="0" bIns="0" anchor="t">
            <a:spAutoFit/>
          </a:bodyPr>
          <a:lstStyle/>
          <a:p>
            <a:pPr algn="l">
              <a:lnSpc>
                <a:spcPct val="135000"/>
              </a:lnSpc>
            </a:pPr>
            <a:r>
              <a:rPr sz="800" b="1" i="0">
                <a:solidFill>
                  <a:srgbClr val="6D6E71"/>
                </a:solidFill>
                <a:latin typeface="JetBrains Mono"/>
              </a:rPr>
              <a:t>OUTCOME</a:t>
            </a:r>
          </a:p>
        </p:txBody>
      </p:sp>
      <p:sp>
        <p:nvSpPr>
          <p:cNvPr id="26" name="TextBox 25"/>
          <p:cNvSpPr txBox="1"/>
          <p:nvPr/>
        </p:nvSpPr>
        <p:spPr>
          <a:xfrm>
            <a:off x="4368698" y="5422392"/>
            <a:ext cx="3271418" cy="82296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35% memo turnaround reduction, 2× scenario coverage</a:t>
            </a:r>
          </a:p>
        </p:txBody>
      </p:sp>
      <p:sp>
        <p:nvSpPr>
          <p:cNvPr id="27" name="Rectangle 26"/>
          <p:cNvSpPr/>
          <p:nvPr/>
        </p:nvSpPr>
        <p:spPr>
          <a:xfrm>
            <a:off x="8097316" y="1600200"/>
            <a:ext cx="45720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97316" y="1737360"/>
            <a:ext cx="3454298"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REGIONAL COMMERCIAL BANK</a:t>
            </a:r>
          </a:p>
        </p:txBody>
      </p:sp>
      <p:sp>
        <p:nvSpPr>
          <p:cNvPr id="29" name="TextBox 28"/>
          <p:cNvSpPr txBox="1"/>
          <p:nvPr/>
        </p:nvSpPr>
        <p:spPr>
          <a:xfrm>
            <a:off x="8097316" y="2057400"/>
            <a:ext cx="3454298" cy="822960"/>
          </a:xfrm>
          <a:prstGeom prst="rect">
            <a:avLst/>
          </a:prstGeom>
          <a:noFill/>
        </p:spPr>
        <p:txBody>
          <a:bodyPr wrap="square" lIns="0" rIns="0" tIns="0" bIns="0" anchor="t">
            <a:spAutoFit/>
          </a:bodyPr>
          <a:lstStyle/>
          <a:p>
            <a:pPr algn="l">
              <a:lnSpc>
                <a:spcPct val="115000"/>
              </a:lnSpc>
            </a:pPr>
            <a:r>
              <a:rPr sz="2000" b="0" i="1">
                <a:solidFill>
                  <a:srgbClr val="182534"/>
                </a:solidFill>
                <a:latin typeface="Fraunces"/>
              </a:rPr>
              <a:t>Dispute handling redesign</a:t>
            </a:r>
          </a:p>
        </p:txBody>
      </p:sp>
      <p:sp>
        <p:nvSpPr>
          <p:cNvPr id="30" name="TextBox 29"/>
          <p:cNvSpPr txBox="1"/>
          <p:nvPr/>
        </p:nvSpPr>
        <p:spPr>
          <a:xfrm>
            <a:off x="8097316" y="3154680"/>
            <a:ext cx="3454298" cy="228600"/>
          </a:xfrm>
          <a:prstGeom prst="rect">
            <a:avLst/>
          </a:prstGeom>
          <a:noFill/>
        </p:spPr>
        <p:txBody>
          <a:bodyPr wrap="square" lIns="0" rIns="0" tIns="0" bIns="0" anchor="t">
            <a:spAutoFit/>
          </a:bodyPr>
          <a:lstStyle/>
          <a:p>
            <a:pPr algn="l">
              <a:lnSpc>
                <a:spcPct val="135000"/>
              </a:lnSpc>
            </a:pPr>
            <a:r>
              <a:rPr sz="800" b="1" i="0">
                <a:solidFill>
                  <a:srgbClr val="6D6E71"/>
                </a:solidFill>
                <a:latin typeface="JetBrains Mono"/>
              </a:rPr>
              <a:t>SITUATION</a:t>
            </a:r>
          </a:p>
        </p:txBody>
      </p:sp>
      <p:sp>
        <p:nvSpPr>
          <p:cNvPr id="31" name="TextBox 30"/>
          <p:cNvSpPr txBox="1"/>
          <p:nvPr/>
        </p:nvSpPr>
        <p:spPr>
          <a:xfrm>
            <a:off x="8097316" y="3410712"/>
            <a:ext cx="3271418" cy="82296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25-day cycle, customer re-tells story to multiple teams</a:t>
            </a:r>
          </a:p>
        </p:txBody>
      </p:sp>
      <p:sp>
        <p:nvSpPr>
          <p:cNvPr id="32" name="TextBox 31"/>
          <p:cNvSpPr txBox="1"/>
          <p:nvPr/>
        </p:nvSpPr>
        <p:spPr>
          <a:xfrm>
            <a:off x="8097316" y="4160520"/>
            <a:ext cx="3454298" cy="228600"/>
          </a:xfrm>
          <a:prstGeom prst="rect">
            <a:avLst/>
          </a:prstGeom>
          <a:noFill/>
        </p:spPr>
        <p:txBody>
          <a:bodyPr wrap="square" lIns="0" rIns="0" tIns="0" bIns="0" anchor="t">
            <a:spAutoFit/>
          </a:bodyPr>
          <a:lstStyle/>
          <a:p>
            <a:pPr algn="l">
              <a:lnSpc>
                <a:spcPct val="135000"/>
              </a:lnSpc>
            </a:pPr>
            <a:r>
              <a:rPr sz="800" b="1" i="0">
                <a:solidFill>
                  <a:srgbClr val="6D6E71"/>
                </a:solidFill>
                <a:latin typeface="JetBrains Mono"/>
              </a:rPr>
              <a:t>REDESIGN</a:t>
            </a:r>
          </a:p>
        </p:txBody>
      </p:sp>
      <p:sp>
        <p:nvSpPr>
          <p:cNvPr id="33" name="TextBox 32"/>
          <p:cNvSpPr txBox="1"/>
          <p:nvPr/>
        </p:nvSpPr>
        <p:spPr>
          <a:xfrm>
            <a:off x="8097316" y="4416552"/>
            <a:ext cx="3271418" cy="82296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Single agent owns case end-to-end, ledger-first</a:t>
            </a:r>
          </a:p>
        </p:txBody>
      </p:sp>
      <p:sp>
        <p:nvSpPr>
          <p:cNvPr id="34" name="TextBox 33"/>
          <p:cNvSpPr txBox="1"/>
          <p:nvPr/>
        </p:nvSpPr>
        <p:spPr>
          <a:xfrm>
            <a:off x="8097316" y="5166360"/>
            <a:ext cx="3454298" cy="228600"/>
          </a:xfrm>
          <a:prstGeom prst="rect">
            <a:avLst/>
          </a:prstGeom>
          <a:noFill/>
        </p:spPr>
        <p:txBody>
          <a:bodyPr wrap="square" lIns="0" rIns="0" tIns="0" bIns="0" anchor="t">
            <a:spAutoFit/>
          </a:bodyPr>
          <a:lstStyle/>
          <a:p>
            <a:pPr algn="l">
              <a:lnSpc>
                <a:spcPct val="135000"/>
              </a:lnSpc>
            </a:pPr>
            <a:r>
              <a:rPr sz="800" b="1" i="0">
                <a:solidFill>
                  <a:srgbClr val="6D6E71"/>
                </a:solidFill>
                <a:latin typeface="JetBrains Mono"/>
              </a:rPr>
              <a:t>OUTCOME</a:t>
            </a:r>
          </a:p>
        </p:txBody>
      </p:sp>
      <p:sp>
        <p:nvSpPr>
          <p:cNvPr id="35" name="TextBox 34"/>
          <p:cNvSpPr txBox="1"/>
          <p:nvPr/>
        </p:nvSpPr>
        <p:spPr>
          <a:xfrm>
            <a:off x="8097316" y="5422392"/>
            <a:ext cx="3271418" cy="822960"/>
          </a:xfrm>
          <a:prstGeom prst="rect">
            <a:avLst/>
          </a:prstGeom>
          <a:noFill/>
        </p:spPr>
        <p:txBody>
          <a:bodyPr wrap="square" lIns="0" rIns="0" tIns="0" bIns="0" anchor="t">
            <a:spAutoFit/>
          </a:bodyPr>
          <a:lstStyle/>
          <a:p>
            <a:pPr algn="l">
              <a:lnSpc>
                <a:spcPct val="150000"/>
              </a:lnSpc>
            </a:pPr>
            <a:r>
              <a:rPr sz="1200" b="0" i="0">
                <a:solidFill>
                  <a:srgbClr val="404040"/>
                </a:solidFill>
                <a:latin typeface="Newsreader"/>
              </a:rPr>
              <a:t>25-day → 7-day median resolution, +18 NPS lift</a:t>
            </a:r>
          </a:p>
        </p:txBody>
      </p:sp>
      <p:sp>
        <p:nvSpPr>
          <p:cNvPr id="36" name="TextBox 35"/>
          <p:cNvSpPr txBox="1"/>
          <p:nvPr/>
        </p:nvSpPr>
        <p:spPr>
          <a:xfrm>
            <a:off x="640080" y="6126480"/>
            <a:ext cx="10911535" cy="182880"/>
          </a:xfrm>
          <a:prstGeom prst="rect">
            <a:avLst/>
          </a:prstGeom>
          <a:noFill/>
        </p:spPr>
        <p:txBody>
          <a:bodyPr wrap="square" lIns="0" rIns="0" tIns="0" bIns="0" anchor="t">
            <a:spAutoFit/>
          </a:bodyPr>
          <a:lstStyle/>
          <a:p>
            <a:pPr algn="ctr">
              <a:lnSpc>
                <a:spcPct val="135000"/>
              </a:lnSpc>
            </a:pPr>
            <a:r>
              <a:rPr sz="700" b="0" i="0">
                <a:solidFill>
                  <a:srgbClr val="A7A9AC"/>
                </a:solidFill>
                <a:latin typeface="JetBrains Mono"/>
              </a:rPr>
              <a:t>ALL THREE CASES ILLUSTRATIVE  ·  REPLACE WITH REDACTED REAL IC ENGAGEMENTS BEFORE EXTERNAL USE</a:t>
            </a:r>
          </a:p>
        </p:txBody>
      </p:sp>
      <p:cxnSp>
        <p:nvCxnSpPr>
          <p:cNvPr id="37" name="Connector 36"/>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39" name="TextBox 38"/>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21 /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The bottom line</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CLOSE</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VI   ·   CLOSE · WHAT TO TAKE AWAY</a:t>
            </a:r>
          </a:p>
        </p:txBody>
      </p:sp>
      <p:sp>
        <p:nvSpPr>
          <p:cNvPr id="6" name="TextBox 5"/>
          <p:cNvSpPr txBox="1"/>
          <p:nvPr/>
        </p:nvSpPr>
        <p:spPr>
          <a:xfrm>
            <a:off x="640080" y="1508760"/>
            <a:ext cx="10911535" cy="2194560"/>
          </a:xfrm>
          <a:prstGeom prst="rect">
            <a:avLst/>
          </a:prstGeom>
          <a:noFill/>
        </p:spPr>
        <p:txBody>
          <a:bodyPr wrap="square" lIns="0" rIns="0" tIns="0" bIns="0" anchor="t">
            <a:spAutoFit/>
          </a:bodyPr>
          <a:lstStyle/>
          <a:p>
            <a:pPr algn="l">
              <a:lnSpc>
                <a:spcPct val="118000"/>
              </a:lnSpc>
            </a:pPr>
            <a:r>
              <a:rPr sz="4600" b="0" i="0">
                <a:solidFill>
                  <a:srgbClr val="182534"/>
                </a:solidFill>
                <a:latin typeface="Fraunces"/>
              </a:rPr>
              <a:t>Stop adding agents.</a:t>
            </a:r>
          </a:p>
          <a:p>
            <a:pPr algn="l">
              <a:lnSpc>
                <a:spcPct val="118000"/>
              </a:lnSpc>
            </a:pPr>
            <a:r>
              <a:rPr sz="4600" b="0" i="0">
                <a:solidFill>
                  <a:srgbClr val="182534"/>
                </a:solidFill>
                <a:latin typeface="Fraunces"/>
              </a:rPr>
              <a:t>Start </a:t>
            </a:r>
            <a:r>
              <a:rPr sz="4600" b="0" i="1">
                <a:solidFill>
                  <a:srgbClr val="007CC3"/>
                </a:solidFill>
                <a:latin typeface="Fraunces"/>
              </a:rPr>
              <a:t>redesigning</a:t>
            </a:r>
            <a:r>
              <a:rPr sz="4600" b="0" i="0">
                <a:solidFill>
                  <a:srgbClr val="182534"/>
                </a:solidFill>
                <a:latin typeface="Fraunces"/>
              </a:rPr>
              <a:t> around them.</a:t>
            </a:r>
          </a:p>
        </p:txBody>
      </p:sp>
      <p:sp>
        <p:nvSpPr>
          <p:cNvPr id="7" name="Rectangle 6"/>
          <p:cNvSpPr/>
          <p:nvPr/>
        </p:nvSpPr>
        <p:spPr>
          <a:xfrm>
            <a:off x="640080" y="3840480"/>
            <a:ext cx="1097280" cy="32004"/>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297680"/>
            <a:ext cx="640080" cy="36576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01</a:t>
            </a:r>
          </a:p>
        </p:txBody>
      </p:sp>
      <p:sp>
        <p:nvSpPr>
          <p:cNvPr id="9" name="TextBox 8"/>
          <p:cNvSpPr txBox="1"/>
          <p:nvPr/>
        </p:nvSpPr>
        <p:spPr>
          <a:xfrm>
            <a:off x="1280160" y="4251960"/>
            <a:ext cx="10271455" cy="502920"/>
          </a:xfrm>
          <a:prstGeom prst="rect">
            <a:avLst/>
          </a:prstGeom>
          <a:noFill/>
        </p:spPr>
        <p:txBody>
          <a:bodyPr wrap="square" lIns="0" rIns="0" tIns="0" bIns="0" anchor="t">
            <a:spAutoFit/>
          </a:bodyPr>
          <a:lstStyle/>
          <a:p>
            <a:pPr algn="l">
              <a:lnSpc>
                <a:spcPct val="150000"/>
              </a:lnSpc>
            </a:pPr>
            <a:r>
              <a:rPr sz="1400" b="0" i="0">
                <a:solidFill>
                  <a:srgbClr val="404040"/>
                </a:solidFill>
                <a:latin typeface="Newsreader"/>
              </a:rPr>
              <a:t>The pilot plateau is a design problem, not a model problem.</a:t>
            </a:r>
          </a:p>
        </p:txBody>
      </p:sp>
      <p:sp>
        <p:nvSpPr>
          <p:cNvPr id="10" name="TextBox 9"/>
          <p:cNvSpPr txBox="1"/>
          <p:nvPr/>
        </p:nvSpPr>
        <p:spPr>
          <a:xfrm>
            <a:off x="640080" y="4846320"/>
            <a:ext cx="640080" cy="36576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02</a:t>
            </a:r>
          </a:p>
        </p:txBody>
      </p:sp>
      <p:sp>
        <p:nvSpPr>
          <p:cNvPr id="11" name="TextBox 10"/>
          <p:cNvSpPr txBox="1"/>
          <p:nvPr/>
        </p:nvSpPr>
        <p:spPr>
          <a:xfrm>
            <a:off x="1280160" y="4800600"/>
            <a:ext cx="10271455" cy="502920"/>
          </a:xfrm>
          <a:prstGeom prst="rect">
            <a:avLst/>
          </a:prstGeom>
          <a:noFill/>
        </p:spPr>
        <p:txBody>
          <a:bodyPr wrap="square" lIns="0" rIns="0" tIns="0" bIns="0" anchor="t">
            <a:spAutoFit/>
          </a:bodyPr>
          <a:lstStyle/>
          <a:p>
            <a:pPr algn="l">
              <a:lnSpc>
                <a:spcPct val="150000"/>
              </a:lnSpc>
            </a:pPr>
            <a:r>
              <a:rPr sz="1400" b="0" i="0">
                <a:solidFill>
                  <a:srgbClr val="404040"/>
                </a:solidFill>
                <a:latin typeface="Newsreader"/>
              </a:rPr>
              <a:t>Value lives in process redesign and operating-model change — not in better assistants.</a:t>
            </a:r>
          </a:p>
        </p:txBody>
      </p:sp>
      <p:sp>
        <p:nvSpPr>
          <p:cNvPr id="12" name="TextBox 11"/>
          <p:cNvSpPr txBox="1"/>
          <p:nvPr/>
        </p:nvSpPr>
        <p:spPr>
          <a:xfrm>
            <a:off x="640080" y="5394960"/>
            <a:ext cx="640080" cy="365760"/>
          </a:xfrm>
          <a:prstGeom prst="rect">
            <a:avLst/>
          </a:prstGeom>
          <a:noFill/>
        </p:spPr>
        <p:txBody>
          <a:bodyPr wrap="square" lIns="0" rIns="0" tIns="0" bIns="0" anchor="t">
            <a:spAutoFit/>
          </a:bodyPr>
          <a:lstStyle/>
          <a:p>
            <a:pPr algn="l">
              <a:lnSpc>
                <a:spcPct val="135000"/>
              </a:lnSpc>
            </a:pPr>
            <a:r>
              <a:rPr sz="1000" b="1" i="0">
                <a:solidFill>
                  <a:srgbClr val="007CC3"/>
                </a:solidFill>
                <a:latin typeface="JetBrains Mono"/>
              </a:rPr>
              <a:t>03</a:t>
            </a:r>
          </a:p>
        </p:txBody>
      </p:sp>
      <p:sp>
        <p:nvSpPr>
          <p:cNvPr id="13" name="TextBox 12"/>
          <p:cNvSpPr txBox="1"/>
          <p:nvPr/>
        </p:nvSpPr>
        <p:spPr>
          <a:xfrm>
            <a:off x="1280160" y="5349240"/>
            <a:ext cx="10271455" cy="502920"/>
          </a:xfrm>
          <a:prstGeom prst="rect">
            <a:avLst/>
          </a:prstGeom>
          <a:noFill/>
        </p:spPr>
        <p:txBody>
          <a:bodyPr wrap="square" lIns="0" rIns="0" tIns="0" bIns="0" anchor="t">
            <a:spAutoFit/>
          </a:bodyPr>
          <a:lstStyle/>
          <a:p>
            <a:pPr algn="l">
              <a:lnSpc>
                <a:spcPct val="150000"/>
              </a:lnSpc>
            </a:pPr>
            <a:r>
              <a:rPr sz="1400" b="0" i="0">
                <a:solidFill>
                  <a:srgbClr val="404040"/>
                </a:solidFill>
                <a:latin typeface="Newsreader"/>
              </a:rPr>
              <a:t>The next 24 months will separate banks that 'use AI' from banks that are agent-native.</a:t>
            </a:r>
          </a:p>
        </p:txBody>
      </p:sp>
      <p:cxnSp>
        <p:nvCxnSpPr>
          <p:cNvPr id="14" name="Connector 13"/>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16" name="TextBox 15"/>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22 /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Where we can take this</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CLOSE  ·  NEXT CONVERSATION</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VI   ·   NEXT</a:t>
            </a:r>
          </a:p>
        </p:txBody>
      </p:sp>
      <p:sp>
        <p:nvSpPr>
          <p:cNvPr id="6" name="Rectangle 5"/>
          <p:cNvSpPr/>
          <p:nvPr/>
        </p:nvSpPr>
        <p:spPr>
          <a:xfrm>
            <a:off x="8442655" y="594360"/>
            <a:ext cx="3108960" cy="237744"/>
          </a:xfrm>
          <a:prstGeom prst="rect">
            <a:avLst/>
          </a:prstGeom>
          <a:solidFill>
            <a:srgbClr val="E6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42655" y="594360"/>
            <a:ext cx="36576" cy="237744"/>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52383" y="594360"/>
            <a:ext cx="2971800" cy="237744"/>
          </a:xfrm>
          <a:prstGeom prst="rect">
            <a:avLst/>
          </a:prstGeom>
          <a:noFill/>
        </p:spPr>
        <p:txBody>
          <a:bodyPr wrap="square" lIns="0" rIns="0" tIns="0" bIns="0" anchor="ctr">
            <a:spAutoFit/>
          </a:bodyPr>
          <a:lstStyle/>
          <a:p>
            <a:pPr algn="l">
              <a:lnSpc>
                <a:spcPct val="135000"/>
              </a:lnSpc>
            </a:pPr>
            <a:r>
              <a:rPr sz="700" b="1" i="0">
                <a:solidFill>
                  <a:srgbClr val="007CC3"/>
                </a:solidFill>
                <a:latin typeface="JetBrains Mono"/>
              </a:rPr>
              <a:t>PLACEHOLDER  ·  CONFIRM IC CONTACT DETAILS</a:t>
            </a:r>
          </a:p>
        </p:txBody>
      </p:sp>
      <p:sp>
        <p:nvSpPr>
          <p:cNvPr id="9" name="TextBox 8"/>
          <p:cNvSpPr txBox="1"/>
          <p:nvPr/>
        </p:nvSpPr>
        <p:spPr>
          <a:xfrm>
            <a:off x="640080" y="1600200"/>
            <a:ext cx="5181447"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SUGGESTED NEXT STEPS</a:t>
            </a:r>
          </a:p>
        </p:txBody>
      </p:sp>
      <p:sp>
        <p:nvSpPr>
          <p:cNvPr id="10" name="Rectangle 9"/>
          <p:cNvSpPr/>
          <p:nvPr/>
        </p:nvSpPr>
        <p:spPr>
          <a:xfrm>
            <a:off x="640080" y="1892808"/>
            <a:ext cx="36576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48840"/>
            <a:ext cx="5181447" cy="365760"/>
          </a:xfrm>
          <a:prstGeom prst="rect">
            <a:avLst/>
          </a:prstGeom>
          <a:noFill/>
        </p:spPr>
        <p:txBody>
          <a:bodyPr wrap="square" lIns="0" rIns="0" tIns="0" bIns="0" anchor="t">
            <a:spAutoFit/>
          </a:bodyPr>
          <a:lstStyle/>
          <a:p>
            <a:pPr algn="l">
              <a:lnSpc>
                <a:spcPct val="115000"/>
              </a:lnSpc>
            </a:pPr>
            <a:r>
              <a:rPr sz="1600" b="0" i="1">
                <a:solidFill>
                  <a:srgbClr val="182534"/>
                </a:solidFill>
                <a:latin typeface="Fraunces"/>
              </a:rPr>
              <a:t>Operating-model workshop</a:t>
            </a:r>
          </a:p>
        </p:txBody>
      </p:sp>
      <p:sp>
        <p:nvSpPr>
          <p:cNvPr id="12" name="TextBox 11"/>
          <p:cNvSpPr txBox="1"/>
          <p:nvPr/>
        </p:nvSpPr>
        <p:spPr>
          <a:xfrm>
            <a:off x="640080" y="2514600"/>
            <a:ext cx="5181447" cy="548640"/>
          </a:xfrm>
          <a:prstGeom prst="rect">
            <a:avLst/>
          </a:prstGeom>
          <a:noFill/>
        </p:spPr>
        <p:txBody>
          <a:bodyPr wrap="square" lIns="0" rIns="0" tIns="0" bIns="0" anchor="t">
            <a:spAutoFit/>
          </a:bodyPr>
          <a:lstStyle/>
          <a:p>
            <a:pPr algn="l">
              <a:lnSpc>
                <a:spcPct val="150000"/>
              </a:lnSpc>
            </a:pPr>
            <a:r>
              <a:rPr sz="1200" b="0" i="0">
                <a:solidFill>
                  <a:srgbClr val="6D6E71"/>
                </a:solidFill>
                <a:latin typeface="Newsreader"/>
              </a:rPr>
              <a:t>A 2-day session with the executive sponsor to identify the first redesign candidate.</a:t>
            </a:r>
          </a:p>
        </p:txBody>
      </p:sp>
      <p:sp>
        <p:nvSpPr>
          <p:cNvPr id="13" name="TextBox 12"/>
          <p:cNvSpPr txBox="1"/>
          <p:nvPr/>
        </p:nvSpPr>
        <p:spPr>
          <a:xfrm>
            <a:off x="640080" y="3200400"/>
            <a:ext cx="5181447" cy="365760"/>
          </a:xfrm>
          <a:prstGeom prst="rect">
            <a:avLst/>
          </a:prstGeom>
          <a:noFill/>
        </p:spPr>
        <p:txBody>
          <a:bodyPr wrap="square" lIns="0" rIns="0" tIns="0" bIns="0" anchor="t">
            <a:spAutoFit/>
          </a:bodyPr>
          <a:lstStyle/>
          <a:p>
            <a:pPr algn="l">
              <a:lnSpc>
                <a:spcPct val="115000"/>
              </a:lnSpc>
            </a:pPr>
            <a:r>
              <a:rPr sz="1600" b="0" i="1">
                <a:solidFill>
                  <a:srgbClr val="182534"/>
                </a:solidFill>
                <a:latin typeface="Fraunces"/>
              </a:rPr>
              <a:t>Maturity assessment</a:t>
            </a:r>
          </a:p>
        </p:txBody>
      </p:sp>
      <p:sp>
        <p:nvSpPr>
          <p:cNvPr id="14" name="TextBox 13"/>
          <p:cNvSpPr txBox="1"/>
          <p:nvPr/>
        </p:nvSpPr>
        <p:spPr>
          <a:xfrm>
            <a:off x="640080" y="3566160"/>
            <a:ext cx="5181447" cy="548640"/>
          </a:xfrm>
          <a:prstGeom prst="rect">
            <a:avLst/>
          </a:prstGeom>
          <a:noFill/>
        </p:spPr>
        <p:txBody>
          <a:bodyPr wrap="square" lIns="0" rIns="0" tIns="0" bIns="0" anchor="t">
            <a:spAutoFit/>
          </a:bodyPr>
          <a:lstStyle/>
          <a:p>
            <a:pPr algn="l">
              <a:lnSpc>
                <a:spcPct val="150000"/>
              </a:lnSpc>
            </a:pPr>
            <a:r>
              <a:rPr sz="1200" b="0" i="0">
                <a:solidFill>
                  <a:srgbClr val="6D6E71"/>
                </a:solidFill>
                <a:latin typeface="Newsreader"/>
              </a:rPr>
              <a:t>A 3-week diagnostic mapping current state against the four-stage maturity model.</a:t>
            </a:r>
          </a:p>
        </p:txBody>
      </p:sp>
      <p:sp>
        <p:nvSpPr>
          <p:cNvPr id="15" name="TextBox 14"/>
          <p:cNvSpPr txBox="1"/>
          <p:nvPr/>
        </p:nvSpPr>
        <p:spPr>
          <a:xfrm>
            <a:off x="640080" y="4251960"/>
            <a:ext cx="5181447" cy="365760"/>
          </a:xfrm>
          <a:prstGeom prst="rect">
            <a:avLst/>
          </a:prstGeom>
          <a:noFill/>
        </p:spPr>
        <p:txBody>
          <a:bodyPr wrap="square" lIns="0" rIns="0" tIns="0" bIns="0" anchor="t">
            <a:spAutoFit/>
          </a:bodyPr>
          <a:lstStyle/>
          <a:p>
            <a:pPr algn="l">
              <a:lnSpc>
                <a:spcPct val="115000"/>
              </a:lnSpc>
            </a:pPr>
            <a:r>
              <a:rPr sz="1600" b="0" i="1">
                <a:solidFill>
                  <a:srgbClr val="182534"/>
                </a:solidFill>
                <a:latin typeface="Fraunces"/>
              </a:rPr>
              <a:t>Value pool diagnostic</a:t>
            </a:r>
          </a:p>
        </p:txBody>
      </p:sp>
      <p:sp>
        <p:nvSpPr>
          <p:cNvPr id="16" name="TextBox 15"/>
          <p:cNvSpPr txBox="1"/>
          <p:nvPr/>
        </p:nvSpPr>
        <p:spPr>
          <a:xfrm>
            <a:off x="640080" y="4617720"/>
            <a:ext cx="5181447" cy="548640"/>
          </a:xfrm>
          <a:prstGeom prst="rect">
            <a:avLst/>
          </a:prstGeom>
          <a:noFill/>
        </p:spPr>
        <p:txBody>
          <a:bodyPr wrap="square" lIns="0" rIns="0" tIns="0" bIns="0" anchor="t">
            <a:spAutoFit/>
          </a:bodyPr>
          <a:lstStyle/>
          <a:p>
            <a:pPr algn="l">
              <a:lnSpc>
                <a:spcPct val="150000"/>
              </a:lnSpc>
            </a:pPr>
            <a:r>
              <a:rPr sz="1200" b="0" i="0">
                <a:solidFill>
                  <a:srgbClr val="6D6E71"/>
                </a:solidFill>
                <a:latin typeface="Newsreader"/>
              </a:rPr>
              <a:t>A 4–6 week analysis of where agent-native redesign moves the needle most.</a:t>
            </a:r>
          </a:p>
        </p:txBody>
      </p:sp>
      <p:sp>
        <p:nvSpPr>
          <p:cNvPr id="17" name="TextBox 16"/>
          <p:cNvSpPr txBox="1"/>
          <p:nvPr/>
        </p:nvSpPr>
        <p:spPr>
          <a:xfrm>
            <a:off x="6370167" y="1600200"/>
            <a:ext cx="5181447"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TALK TO US</a:t>
            </a:r>
          </a:p>
        </p:txBody>
      </p:sp>
      <p:sp>
        <p:nvSpPr>
          <p:cNvPr id="18" name="Rectangle 17"/>
          <p:cNvSpPr/>
          <p:nvPr/>
        </p:nvSpPr>
        <p:spPr>
          <a:xfrm>
            <a:off x="6370167" y="1892808"/>
            <a:ext cx="36576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70167" y="2148840"/>
            <a:ext cx="5181447" cy="3200400"/>
          </a:xfrm>
          <a:prstGeom prst="rect">
            <a:avLst/>
          </a:prstGeom>
          <a:solidFill>
            <a:srgbClr val="E6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44487" y="2514600"/>
            <a:ext cx="4632807" cy="457200"/>
          </a:xfrm>
          <a:prstGeom prst="rect">
            <a:avLst/>
          </a:prstGeom>
          <a:noFill/>
        </p:spPr>
        <p:txBody>
          <a:bodyPr wrap="square" lIns="0" rIns="0" tIns="0" bIns="0" anchor="t">
            <a:spAutoFit/>
          </a:bodyPr>
          <a:lstStyle/>
          <a:p>
            <a:pPr algn="l">
              <a:lnSpc>
                <a:spcPct val="135000"/>
              </a:lnSpc>
            </a:pPr>
            <a:r>
              <a:rPr sz="2200" b="0" i="0">
                <a:solidFill>
                  <a:srgbClr val="182534"/>
                </a:solidFill>
                <a:latin typeface="Fraunces"/>
              </a:rPr>
              <a:t>[Name]</a:t>
            </a:r>
          </a:p>
        </p:txBody>
      </p:sp>
      <p:sp>
        <p:nvSpPr>
          <p:cNvPr id="21" name="TextBox 20"/>
          <p:cNvSpPr txBox="1"/>
          <p:nvPr/>
        </p:nvSpPr>
        <p:spPr>
          <a:xfrm>
            <a:off x="6644487" y="3017520"/>
            <a:ext cx="4632807" cy="274320"/>
          </a:xfrm>
          <a:prstGeom prst="rect">
            <a:avLst/>
          </a:prstGeom>
          <a:noFill/>
        </p:spPr>
        <p:txBody>
          <a:bodyPr wrap="square" lIns="0" rIns="0" tIns="0" bIns="0" anchor="t">
            <a:spAutoFit/>
          </a:bodyPr>
          <a:lstStyle/>
          <a:p>
            <a:pPr algn="l">
              <a:lnSpc>
                <a:spcPct val="135000"/>
              </a:lnSpc>
            </a:pPr>
            <a:r>
              <a:rPr sz="1200" b="0" i="1">
                <a:solidFill>
                  <a:srgbClr val="6D6E71"/>
                </a:solidFill>
                <a:latin typeface="Newsreader"/>
              </a:rPr>
              <a:t>[Title — Banking practice, Infosys Consulting]</a:t>
            </a:r>
          </a:p>
        </p:txBody>
      </p:sp>
      <p:sp>
        <p:nvSpPr>
          <p:cNvPr id="22" name="Rectangle 21"/>
          <p:cNvSpPr/>
          <p:nvPr/>
        </p:nvSpPr>
        <p:spPr>
          <a:xfrm>
            <a:off x="6644487" y="3429000"/>
            <a:ext cx="64008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44487" y="3611880"/>
            <a:ext cx="4632807" cy="365760"/>
          </a:xfrm>
          <a:prstGeom prst="rect">
            <a:avLst/>
          </a:prstGeom>
          <a:noFill/>
        </p:spPr>
        <p:txBody>
          <a:bodyPr wrap="square" lIns="0" rIns="0" tIns="0" bIns="0" anchor="t">
            <a:spAutoFit/>
          </a:bodyPr>
          <a:lstStyle/>
          <a:p>
            <a:pPr algn="l">
              <a:lnSpc>
                <a:spcPct val="135000"/>
              </a:lnSpc>
            </a:pPr>
            <a:r>
              <a:rPr sz="1100" b="0" i="0">
                <a:solidFill>
                  <a:srgbClr val="007CC3"/>
                </a:solidFill>
                <a:latin typeface="JetBrains Mono"/>
              </a:rPr>
              <a:t>[email@infosysconsulting.com]</a:t>
            </a:r>
          </a:p>
        </p:txBody>
      </p:sp>
      <p:sp>
        <p:nvSpPr>
          <p:cNvPr id="24" name="TextBox 23"/>
          <p:cNvSpPr txBox="1"/>
          <p:nvPr/>
        </p:nvSpPr>
        <p:spPr>
          <a:xfrm>
            <a:off x="6644487" y="3977640"/>
            <a:ext cx="4632807" cy="365760"/>
          </a:xfrm>
          <a:prstGeom prst="rect">
            <a:avLst/>
          </a:prstGeom>
          <a:noFill/>
        </p:spPr>
        <p:txBody>
          <a:bodyPr wrap="square" lIns="0" rIns="0" tIns="0" bIns="0" anchor="t">
            <a:spAutoFit/>
          </a:bodyPr>
          <a:lstStyle/>
          <a:p>
            <a:pPr algn="l">
              <a:lnSpc>
                <a:spcPct val="135000"/>
              </a:lnSpc>
            </a:pPr>
            <a:r>
              <a:rPr sz="1100" b="0" i="0">
                <a:solidFill>
                  <a:srgbClr val="6D6E71"/>
                </a:solidFill>
                <a:latin typeface="JetBrains Mono"/>
              </a:rPr>
              <a:t>[+1 ___ ___ ____]</a:t>
            </a:r>
          </a:p>
        </p:txBody>
      </p:sp>
      <p:sp>
        <p:nvSpPr>
          <p:cNvPr id="25" name="TextBox 24"/>
          <p:cNvSpPr txBox="1"/>
          <p:nvPr/>
        </p:nvSpPr>
        <p:spPr>
          <a:xfrm>
            <a:off x="6644487" y="4617720"/>
            <a:ext cx="4632807" cy="548640"/>
          </a:xfrm>
          <a:prstGeom prst="rect">
            <a:avLst/>
          </a:prstGeom>
          <a:noFill/>
        </p:spPr>
        <p:txBody>
          <a:bodyPr wrap="square" lIns="0" rIns="0" tIns="0" bIns="0" anchor="t">
            <a:spAutoFit/>
          </a:bodyPr>
          <a:lstStyle/>
          <a:p>
            <a:pPr algn="l">
              <a:lnSpc>
                <a:spcPct val="150000"/>
              </a:lnSpc>
            </a:pPr>
            <a:r>
              <a:rPr sz="1100" b="0" i="1">
                <a:solidFill>
                  <a:srgbClr val="6D6E71"/>
                </a:solidFill>
                <a:latin typeface="Newsreader"/>
              </a:rPr>
              <a:t>Or ask your IC account team to set up a working session.</a:t>
            </a:r>
          </a:p>
        </p:txBody>
      </p:sp>
      <p:cxnSp>
        <p:nvCxnSpPr>
          <p:cNvPr id="26" name="Connector 25"/>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28" name="TextBox 27"/>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23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7315200" cy="274320"/>
          </a:xfrm>
          <a:prstGeom prst="rect">
            <a:avLst/>
          </a:prstGeom>
          <a:noFill/>
        </p:spPr>
        <p:txBody>
          <a:bodyPr wrap="square" lIns="0" rIns="0" tIns="0" bIns="0" anchor="t">
            <a:spAutoFit/>
          </a:bodyPr>
          <a:lstStyle/>
          <a:p>
            <a:pPr algn="l">
              <a:lnSpc>
                <a:spcPct val="135000"/>
              </a:lnSpc>
            </a:pPr>
            <a:r>
              <a:rPr sz="1000" b="1" i="0">
                <a:solidFill>
                  <a:srgbClr val="3699DA"/>
                </a:solidFill>
                <a:latin typeface="JetBrains Mono"/>
              </a:rPr>
              <a:t>INFOSYS  CONSULTING  ·  AGENTIC AI IN BANKING</a:t>
            </a:r>
          </a:p>
        </p:txBody>
      </p:sp>
      <p:sp>
        <p:nvSpPr>
          <p:cNvPr id="4" name="TextBox 3"/>
          <p:cNvSpPr txBox="1"/>
          <p:nvPr/>
        </p:nvSpPr>
        <p:spPr>
          <a:xfrm>
            <a:off x="6979615" y="502920"/>
            <a:ext cx="4572000" cy="274320"/>
          </a:xfrm>
          <a:prstGeom prst="rect">
            <a:avLst/>
          </a:prstGeom>
          <a:noFill/>
        </p:spPr>
        <p:txBody>
          <a:bodyPr wrap="square" lIns="0" rIns="0" tIns="0" bIns="0" anchor="t">
            <a:spAutoFit/>
          </a:bodyPr>
          <a:lstStyle/>
          <a:p>
            <a:pPr algn="r">
              <a:lnSpc>
                <a:spcPct val="135000"/>
              </a:lnSpc>
            </a:pPr>
            <a:r>
              <a:rPr sz="900" b="0" i="0">
                <a:solidFill>
                  <a:srgbClr val="A7A9AC"/>
                </a:solidFill>
                <a:latin typeface="JetBrains Mono"/>
              </a:rPr>
              <a:t>POINT OF VIEW  ·  APPENDIX</a:t>
            </a:r>
          </a:p>
        </p:txBody>
      </p:sp>
      <p:sp>
        <p:nvSpPr>
          <p:cNvPr id="5" name="TextBox 4"/>
          <p:cNvSpPr txBox="1"/>
          <p:nvPr/>
        </p:nvSpPr>
        <p:spPr>
          <a:xfrm>
            <a:off x="640080" y="2651760"/>
            <a:ext cx="10911535" cy="320040"/>
          </a:xfrm>
          <a:prstGeom prst="rect">
            <a:avLst/>
          </a:prstGeom>
          <a:noFill/>
        </p:spPr>
        <p:txBody>
          <a:bodyPr wrap="square" lIns="0" rIns="0" tIns="0" bIns="0" anchor="t">
            <a:spAutoFit/>
          </a:bodyPr>
          <a:lstStyle/>
          <a:p>
            <a:pPr algn="l">
              <a:lnSpc>
                <a:spcPct val="135000"/>
              </a:lnSpc>
            </a:pPr>
            <a:r>
              <a:rPr sz="1100" b="1" i="0">
                <a:solidFill>
                  <a:srgbClr val="3699DA"/>
                </a:solidFill>
                <a:latin typeface="JetBrains Mono"/>
              </a:rPr>
              <a:t>—  CHAPTER  END</a:t>
            </a:r>
          </a:p>
        </p:txBody>
      </p:sp>
      <p:sp>
        <p:nvSpPr>
          <p:cNvPr id="6" name="TextBox 5"/>
          <p:cNvSpPr txBox="1"/>
          <p:nvPr/>
        </p:nvSpPr>
        <p:spPr>
          <a:xfrm>
            <a:off x="640080" y="3108960"/>
            <a:ext cx="10911535" cy="2377440"/>
          </a:xfrm>
          <a:prstGeom prst="rect">
            <a:avLst/>
          </a:prstGeom>
          <a:noFill/>
        </p:spPr>
        <p:txBody>
          <a:bodyPr wrap="square" lIns="0" rIns="0" tIns="0" bIns="0" anchor="t">
            <a:spAutoFit/>
          </a:bodyPr>
          <a:lstStyle/>
          <a:p>
            <a:pPr algn="l">
              <a:lnSpc>
                <a:spcPct val="106000"/>
              </a:lnSpc>
            </a:pPr>
            <a:r>
              <a:rPr sz="7600" b="0" i="0">
                <a:solidFill>
                  <a:srgbClr val="FFFFFF"/>
                </a:solidFill>
                <a:latin typeface="Fraunces"/>
              </a:rPr>
              <a:t>Appendix.</a:t>
            </a:r>
          </a:p>
          <a:p>
            <a:pPr algn="l">
              <a:lnSpc>
                <a:spcPct val="106000"/>
              </a:lnSpc>
            </a:pPr>
            <a:r>
              <a:rPr sz="7600" b="0" i="0">
                <a:solidFill>
                  <a:srgbClr val="FFFFFF"/>
                </a:solidFill>
                <a:latin typeface="Fraunces"/>
              </a:rPr>
              <a:t>Sources </a:t>
            </a:r>
            <a:r>
              <a:rPr sz="7600" b="0" i="1">
                <a:solidFill>
                  <a:srgbClr val="3699DA"/>
                </a:solidFill>
                <a:latin typeface="Fraunces"/>
              </a:rPr>
              <a:t>&amp;</a:t>
            </a:r>
            <a:r>
              <a:rPr sz="7600" b="0" i="1">
                <a:solidFill>
                  <a:srgbClr val="FFFFFF"/>
                </a:solidFill>
                <a:latin typeface="Fraunces"/>
              </a:rPr>
              <a:t> references.</a:t>
            </a:r>
          </a:p>
        </p:txBody>
      </p:sp>
      <p:sp>
        <p:nvSpPr>
          <p:cNvPr id="7" name="Rectangle 6"/>
          <p:cNvSpPr/>
          <p:nvPr/>
        </p:nvSpPr>
        <p:spPr>
          <a:xfrm>
            <a:off x="0" y="6812280"/>
            <a:ext cx="12191695" cy="4572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2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10911535" cy="457200"/>
          </a:xfrm>
          <a:prstGeom prst="rect">
            <a:avLst/>
          </a:prstGeom>
          <a:noFill/>
        </p:spPr>
        <p:txBody>
          <a:bodyPr wrap="square" lIns="0" rIns="0" tIns="0" bIns="0" anchor="ctr">
            <a:spAutoFit/>
          </a:bodyPr>
          <a:lstStyle/>
          <a:p>
            <a:pPr algn="l">
              <a:lnSpc>
                <a:spcPct val="105000"/>
              </a:lnSpc>
            </a:pPr>
            <a:r>
              <a:rPr sz="1800" b="0" i="0">
                <a:solidFill>
                  <a:srgbClr val="FFFFFF"/>
                </a:solidFill>
                <a:latin typeface="Fraunces"/>
              </a:rPr>
              <a:t>Sources &amp; references</a:t>
            </a:r>
          </a:p>
        </p:txBody>
      </p:sp>
      <p:sp>
        <p:nvSpPr>
          <p:cNvPr id="4" name="TextBox 3"/>
          <p:cNvSpPr txBox="1"/>
          <p:nvPr/>
        </p:nvSpPr>
        <p:spPr>
          <a:xfrm>
            <a:off x="7894015" y="0"/>
            <a:ext cx="3657600" cy="457200"/>
          </a:xfrm>
          <a:prstGeom prst="rect">
            <a:avLst/>
          </a:prstGeom>
          <a:noFill/>
        </p:spPr>
        <p:txBody>
          <a:bodyPr wrap="square" lIns="0" rIns="0" tIns="0" bIns="0" anchor="ctr">
            <a:spAutoFit/>
          </a:bodyPr>
          <a:lstStyle/>
          <a:p>
            <a:pPr algn="r">
              <a:lnSpc>
                <a:spcPct val="135000"/>
              </a:lnSpc>
            </a:pPr>
            <a:r>
              <a:rPr sz="800" b="1" i="0">
                <a:solidFill>
                  <a:srgbClr val="A7A9AC"/>
                </a:solidFill>
                <a:latin typeface="JetBrains Mono"/>
              </a:rPr>
              <a:t>APPENDIX</a:t>
            </a:r>
          </a:p>
        </p:txBody>
      </p:sp>
      <p:sp>
        <p:nvSpPr>
          <p:cNvPr id="5" name="TextBox 4"/>
          <p:cNvSpPr txBox="1"/>
          <p:nvPr/>
        </p:nvSpPr>
        <p:spPr>
          <a:xfrm>
            <a:off x="640080" y="621792"/>
            <a:ext cx="7315200" cy="182880"/>
          </a:xfrm>
          <a:prstGeom prst="rect">
            <a:avLst/>
          </a:prstGeom>
          <a:noFill/>
        </p:spPr>
        <p:txBody>
          <a:bodyPr wrap="square" lIns="0" rIns="0" tIns="0" bIns="0" anchor="t">
            <a:spAutoFit/>
          </a:bodyPr>
          <a:lstStyle/>
          <a:p>
            <a:pPr algn="l">
              <a:lnSpc>
                <a:spcPct val="135000"/>
              </a:lnSpc>
            </a:pPr>
            <a:r>
              <a:rPr sz="800" b="1" i="0">
                <a:solidFill>
                  <a:srgbClr val="007CC3"/>
                </a:solidFill>
                <a:latin typeface="JetBrains Mono"/>
              </a:rPr>
              <a:t>CHAPTER  —   ·   APPENDIX</a:t>
            </a:r>
          </a:p>
        </p:txBody>
      </p:sp>
      <p:sp>
        <p:nvSpPr>
          <p:cNvPr id="6" name="TextBox 5"/>
          <p:cNvSpPr txBox="1"/>
          <p:nvPr/>
        </p:nvSpPr>
        <p:spPr>
          <a:xfrm>
            <a:off x="640080" y="1005840"/>
            <a:ext cx="10911535" cy="457200"/>
          </a:xfrm>
          <a:prstGeom prst="rect">
            <a:avLst/>
          </a:prstGeom>
          <a:noFill/>
        </p:spPr>
        <p:txBody>
          <a:bodyPr wrap="square" lIns="0" rIns="0" tIns="0" bIns="0" anchor="t">
            <a:spAutoFit/>
          </a:bodyPr>
          <a:lstStyle/>
          <a:p>
            <a:pPr algn="l">
              <a:lnSpc>
                <a:spcPct val="135000"/>
              </a:lnSpc>
            </a:pPr>
            <a:r>
              <a:rPr sz="1800" b="0" i="1">
                <a:solidFill>
                  <a:srgbClr val="182534"/>
                </a:solidFill>
                <a:latin typeface="Fraunces"/>
              </a:rPr>
              <a:t>Supporting research and citations across the deck.</a:t>
            </a:r>
          </a:p>
        </p:txBody>
      </p:sp>
      <p:sp>
        <p:nvSpPr>
          <p:cNvPr id="7" name="TextBox 6"/>
          <p:cNvSpPr txBox="1"/>
          <p:nvPr/>
        </p:nvSpPr>
        <p:spPr>
          <a:xfrm>
            <a:off x="640080" y="1783080"/>
            <a:ext cx="5181447"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MARKET SIZING &amp; MATURITY</a:t>
            </a:r>
          </a:p>
        </p:txBody>
      </p:sp>
      <p:sp>
        <p:nvSpPr>
          <p:cNvPr id="8" name="Rectangle 7"/>
          <p:cNvSpPr/>
          <p:nvPr/>
        </p:nvSpPr>
        <p:spPr>
          <a:xfrm>
            <a:off x="640080" y="2075688"/>
            <a:ext cx="36576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4028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McKinsey &amp; Co. The economic potential of generative AI, June 2023.</a:t>
            </a:r>
          </a:p>
        </p:txBody>
      </p:sp>
      <p:sp>
        <p:nvSpPr>
          <p:cNvPr id="10" name="TextBox 9"/>
          <p:cNvSpPr txBox="1"/>
          <p:nvPr/>
        </p:nvSpPr>
        <p:spPr>
          <a:xfrm>
            <a:off x="640080" y="260604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McKinsey &amp; Co. The state of AI in early 2024 — global survey.</a:t>
            </a:r>
          </a:p>
        </p:txBody>
      </p:sp>
      <p:sp>
        <p:nvSpPr>
          <p:cNvPr id="11" name="TextBox 10"/>
          <p:cNvSpPr txBox="1"/>
          <p:nvPr/>
        </p:nvSpPr>
        <p:spPr>
          <a:xfrm>
            <a:off x="640080" y="297180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Boston Consulting Group. Build for the Future 2024.</a:t>
            </a:r>
          </a:p>
        </p:txBody>
      </p:sp>
      <p:sp>
        <p:nvSpPr>
          <p:cNvPr id="12" name="TextBox 11"/>
          <p:cNvSpPr txBox="1"/>
          <p:nvPr/>
        </p:nvSpPr>
        <p:spPr>
          <a:xfrm>
            <a:off x="640080" y="333756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Gartner. GenAI implementation survey 2024 — pilot abandonment.</a:t>
            </a:r>
          </a:p>
        </p:txBody>
      </p:sp>
      <p:sp>
        <p:nvSpPr>
          <p:cNvPr id="13" name="TextBox 12"/>
          <p:cNvSpPr txBox="1"/>
          <p:nvPr/>
        </p:nvSpPr>
        <p:spPr>
          <a:xfrm>
            <a:off x="6370167" y="1783080"/>
            <a:ext cx="5181447"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BANKING-SPECIFIC EVIDENCE</a:t>
            </a:r>
          </a:p>
        </p:txBody>
      </p:sp>
      <p:sp>
        <p:nvSpPr>
          <p:cNvPr id="14" name="Rectangle 13"/>
          <p:cNvSpPr/>
          <p:nvPr/>
        </p:nvSpPr>
        <p:spPr>
          <a:xfrm>
            <a:off x="6370167" y="2075688"/>
            <a:ext cx="36576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224028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JPMorgan Chase. 2024 Annual Report and 10-K filings.</a:t>
            </a:r>
          </a:p>
        </p:txBody>
      </p:sp>
      <p:sp>
        <p:nvSpPr>
          <p:cNvPr id="16" name="TextBox 15"/>
          <p:cNvSpPr txBox="1"/>
          <p:nvPr/>
        </p:nvSpPr>
        <p:spPr>
          <a:xfrm>
            <a:off x="6370167" y="260604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Bank of America. Investor day disclosures (Erica interactions).</a:t>
            </a:r>
          </a:p>
        </p:txBody>
      </p:sp>
      <p:sp>
        <p:nvSpPr>
          <p:cNvPr id="17" name="TextBox 16"/>
          <p:cNvSpPr txBox="1"/>
          <p:nvPr/>
        </p:nvSpPr>
        <p:spPr>
          <a:xfrm>
            <a:off x="6370167" y="297180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Citigroup. Public statements on agentic AI initiatives, 2024-2025.</a:t>
            </a:r>
          </a:p>
        </p:txBody>
      </p:sp>
      <p:sp>
        <p:nvSpPr>
          <p:cNvPr id="18" name="TextBox 17"/>
          <p:cNvSpPr txBox="1"/>
          <p:nvPr/>
        </p:nvSpPr>
        <p:spPr>
          <a:xfrm>
            <a:off x="6370167" y="333756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Goldman Sachs. Public disclosures on internal AI deployments.</a:t>
            </a:r>
          </a:p>
        </p:txBody>
      </p:sp>
      <p:sp>
        <p:nvSpPr>
          <p:cNvPr id="19" name="TextBox 18"/>
          <p:cNvSpPr txBox="1"/>
          <p:nvPr/>
        </p:nvSpPr>
        <p:spPr>
          <a:xfrm>
            <a:off x="640080" y="4206240"/>
            <a:ext cx="5181447"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PROCESS BENCHMARKS</a:t>
            </a:r>
          </a:p>
        </p:txBody>
      </p:sp>
      <p:sp>
        <p:nvSpPr>
          <p:cNvPr id="20" name="Rectangle 19"/>
          <p:cNvSpPr/>
          <p:nvPr/>
        </p:nvSpPr>
        <p:spPr>
          <a:xfrm>
            <a:off x="640080" y="4498848"/>
            <a:ext cx="36576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66344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Celent. KYC and onboarding benchmark research.</a:t>
            </a:r>
          </a:p>
        </p:txBody>
      </p:sp>
      <p:sp>
        <p:nvSpPr>
          <p:cNvPr id="22" name="TextBox 21"/>
          <p:cNvSpPr txBox="1"/>
          <p:nvPr/>
        </p:nvSpPr>
        <p:spPr>
          <a:xfrm>
            <a:off x="640080" y="502920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Forrester. Onboarding and dispute-handling benchmarks.</a:t>
            </a:r>
          </a:p>
        </p:txBody>
      </p:sp>
      <p:sp>
        <p:nvSpPr>
          <p:cNvPr id="23" name="TextBox 22"/>
          <p:cNvSpPr txBox="1"/>
          <p:nvPr/>
        </p:nvSpPr>
        <p:spPr>
          <a:xfrm>
            <a:off x="640080" y="539496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Aite-Novarica. Commercial onboarding TAT industry data.</a:t>
            </a:r>
          </a:p>
        </p:txBody>
      </p:sp>
      <p:sp>
        <p:nvSpPr>
          <p:cNvPr id="24" name="TextBox 23"/>
          <p:cNvSpPr txBox="1"/>
          <p:nvPr/>
        </p:nvSpPr>
        <p:spPr>
          <a:xfrm>
            <a:off x="6370167" y="4206240"/>
            <a:ext cx="5181447" cy="274320"/>
          </a:xfrm>
          <a:prstGeom prst="rect">
            <a:avLst/>
          </a:prstGeom>
          <a:noFill/>
        </p:spPr>
        <p:txBody>
          <a:bodyPr wrap="square" lIns="0" rIns="0" tIns="0" bIns="0" anchor="t">
            <a:spAutoFit/>
          </a:bodyPr>
          <a:lstStyle/>
          <a:p>
            <a:pPr algn="l">
              <a:lnSpc>
                <a:spcPct val="135000"/>
              </a:lnSpc>
            </a:pPr>
            <a:r>
              <a:rPr sz="900" b="1" i="0">
                <a:solidFill>
                  <a:srgbClr val="007CC3"/>
                </a:solidFill>
                <a:latin typeface="JetBrains Mono"/>
              </a:rPr>
              <a:t>GOVERNANCE &amp; REGULATION</a:t>
            </a:r>
          </a:p>
        </p:txBody>
      </p:sp>
      <p:sp>
        <p:nvSpPr>
          <p:cNvPr id="25" name="Rectangle 24"/>
          <p:cNvSpPr/>
          <p:nvPr/>
        </p:nvSpPr>
        <p:spPr>
          <a:xfrm>
            <a:off x="6370167" y="4498848"/>
            <a:ext cx="365760" cy="22860"/>
          </a:xfrm>
          <a:prstGeom prst="rect">
            <a:avLst/>
          </a:prstGeom>
          <a:solidFill>
            <a:srgbClr val="007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70167" y="466344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Federal Reserve. SR 11-7: Guidance on Model Risk Management.</a:t>
            </a:r>
          </a:p>
        </p:txBody>
      </p:sp>
      <p:sp>
        <p:nvSpPr>
          <p:cNvPr id="27" name="TextBox 26"/>
          <p:cNvSpPr txBox="1"/>
          <p:nvPr/>
        </p:nvSpPr>
        <p:spPr>
          <a:xfrm>
            <a:off x="6370167" y="502920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OCC. Heightened Standards for Large Banks.</a:t>
            </a:r>
          </a:p>
        </p:txBody>
      </p:sp>
      <p:sp>
        <p:nvSpPr>
          <p:cNvPr id="28" name="TextBox 27"/>
          <p:cNvSpPr txBox="1"/>
          <p:nvPr/>
        </p:nvSpPr>
        <p:spPr>
          <a:xfrm>
            <a:off x="6370167" y="539496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European Union. Artificial Intelligence Act, in force 2024.</a:t>
            </a:r>
          </a:p>
        </p:txBody>
      </p:sp>
      <p:sp>
        <p:nvSpPr>
          <p:cNvPr id="29" name="TextBox 28"/>
          <p:cNvSpPr txBox="1"/>
          <p:nvPr/>
        </p:nvSpPr>
        <p:spPr>
          <a:xfrm>
            <a:off x="6370167" y="5760720"/>
            <a:ext cx="5181447" cy="457200"/>
          </a:xfrm>
          <a:prstGeom prst="rect">
            <a:avLst/>
          </a:prstGeom>
          <a:noFill/>
        </p:spPr>
        <p:txBody>
          <a:bodyPr wrap="square" lIns="0" rIns="0" tIns="0" bIns="0" anchor="t">
            <a:spAutoFit/>
          </a:bodyPr>
          <a:lstStyle/>
          <a:p>
            <a:pPr algn="l">
              <a:lnSpc>
                <a:spcPct val="145000"/>
              </a:lnSpc>
            </a:pPr>
            <a:r>
              <a:rPr sz="1100" b="0" i="0">
                <a:solidFill>
                  <a:srgbClr val="6D6E71"/>
                </a:solidFill>
                <a:latin typeface="Newsreader"/>
              </a:rPr>
              <a:t>·  UK FCA. AI principles and discussion papers.</a:t>
            </a:r>
          </a:p>
        </p:txBody>
      </p:sp>
      <p:cxnSp>
        <p:nvCxnSpPr>
          <p:cNvPr id="30" name="Connector 29"/>
          <p:cNvCxnSpPr/>
          <p:nvPr/>
        </p:nvCxnSpPr>
        <p:spPr>
          <a:xfrm>
            <a:off x="640080" y="6464808"/>
            <a:ext cx="10911535" cy="0"/>
          </a:xfrm>
          <a:prstGeom prst="line">
            <a:avLst/>
          </a:prstGeom>
          <a:ln w="6350">
            <a:solidFill>
              <a:srgbClr val="E2E4E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10528"/>
            <a:ext cx="7315200" cy="274320"/>
          </a:xfrm>
          <a:prstGeom prst="rect">
            <a:avLst/>
          </a:prstGeom>
          <a:noFill/>
        </p:spPr>
        <p:txBody>
          <a:bodyPr wrap="square" lIns="0" rIns="0" tIns="0" bIns="0" anchor="t">
            <a:spAutoFit/>
          </a:bodyPr>
          <a:lstStyle/>
          <a:p>
            <a:pPr algn="l">
              <a:lnSpc>
                <a:spcPct val="135000"/>
              </a:lnSpc>
            </a:pPr>
            <a:r>
              <a:rPr sz="700" b="0" i="0">
                <a:solidFill>
                  <a:srgbClr val="A7A9AC"/>
                </a:solidFill>
                <a:latin typeface="JetBrains Mono"/>
              </a:rPr>
              <a:t>INFOSYS CONSULTING  ·  AGENTIC AI IN BANKING  ·  POINT OF VIEW</a:t>
            </a:r>
          </a:p>
        </p:txBody>
      </p:sp>
      <p:sp>
        <p:nvSpPr>
          <p:cNvPr id="32" name="TextBox 31"/>
          <p:cNvSpPr txBox="1"/>
          <p:nvPr/>
        </p:nvSpPr>
        <p:spPr>
          <a:xfrm>
            <a:off x="9722815" y="6510528"/>
            <a:ext cx="1828800" cy="274320"/>
          </a:xfrm>
          <a:prstGeom prst="rect">
            <a:avLst/>
          </a:prstGeom>
          <a:noFill/>
        </p:spPr>
        <p:txBody>
          <a:bodyPr wrap="square" lIns="0" rIns="0" tIns="0" bIns="0" anchor="t">
            <a:spAutoFit/>
          </a:bodyPr>
          <a:lstStyle/>
          <a:p>
            <a:pPr algn="r">
              <a:lnSpc>
                <a:spcPct val="135000"/>
              </a:lnSpc>
            </a:pPr>
            <a:r>
              <a:rPr sz="700" b="1" i="0">
                <a:solidFill>
                  <a:srgbClr val="007CC3"/>
                </a:solidFill>
                <a:latin typeface="JetBrains Mono"/>
              </a:rPr>
              <a:t>§ 25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